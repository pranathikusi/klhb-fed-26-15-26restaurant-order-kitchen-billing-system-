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80" r:id="rId3"/>
    <p:sldId id="281" r:id="rId4"/>
    <p:sldId id="291" r:id="rId5"/>
    <p:sldId id="284" r:id="rId6"/>
    <p:sldId id="270" r:id="rId7"/>
    <p:sldId id="286" r:id="rId8"/>
    <p:sldId id="287" r:id="rId9"/>
    <p:sldId id="288" r:id="rId10"/>
    <p:sldId id="289" r:id="rId11"/>
    <p:sldId id="259" r:id="rId12"/>
    <p:sldId id="260" r:id="rId13"/>
    <p:sldId id="261" r:id="rId14"/>
    <p:sldId id="262" r:id="rId15"/>
    <p:sldId id="263" r:id="rId16"/>
    <p:sldId id="275" r:id="rId17"/>
    <p:sldId id="276" r:id="rId18"/>
    <p:sldId id="278" r:id="rId19"/>
    <p:sldId id="268"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159" autoAdjust="0"/>
    <p:restoredTop sz="94610"/>
  </p:normalViewPr>
  <p:slideViewPr>
    <p:cSldViewPr snapToGrid="0" snapToObjects="1">
      <p:cViewPr varScale="1">
        <p:scale>
          <a:sx n="67" d="100"/>
          <a:sy n="67" d="100"/>
        </p:scale>
        <p:origin x="676"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97413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presenting DineSync, a smart restaurant management system built in Core Java. It connects the waiter, kitchen, cashier and manager in one order flow, and also simulates kitchen safety monitoring.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DineSync solves a simple everyday problem: restaurants that work on paper make mistakes in orders and bills, and they notice kitchen hazards late. Our Core Java program connects every role in one flow. Every input is validated, every error is caught and shown, and the program never crashes on a wrong input.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real problem maps to one module. Communication delays are solved by the kitchen queue. Billing errors are solved by automatic GST calculation. Fake bill numbers are caught by a check digit. Kitchen safety is handled by simulated sensors, and management gets daily reports.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creates the four cluster objects once and passes them to each other through constructors. OrderKitchen gets RestaurantSetup, and BillingFeedbackReports gets all three, so every module works on the same menu, tables and orders. There is no database or hardware: data lives in arrays in memory, and paid bills are also written to a text file.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13 modules from the requirements, grouped into 4 clusters. One note: the presentation brief put Reports, M08, under cluster D, but in our code it is inside BillingFeedbackReports, cluster C, as the development plan said. It reads the alert count and the energy cost from cluster 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Cluster A sets up the restaurant. Staff log in by role. The ID letter must match the role, and three wrong PINs lock the account. The admin manages the menu at run time. Customers are found by mobile number; Priya is on her 14th visit, so she gets 10 percent off. The table register stores 8 tables in one integer, one bit each. Allocating table 6 sets bit 2, so 0x4A becomes 0x4E.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order follows five stages. Only the right role can move it, and only one step at a time; trying to jump from PLACED to SERVED throws InvalidStatusChangeException. Urgent orders go first. The ETA for order 2001 is 24 minutes: 20 minutes of biryani plus 2 minutes for each of the two orders ahead. When the chef marks it READY, token 107 appears on the simulated seven-segment display with the real segment codes.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Billing only works for a SERVED order, so no order can be billed twice. The bill uses the exact rules from the requirements: 10 percent loyalty, then CGST and SGST at 2.5 percent each. 920 becomes 869.40. Each bill ID carries a check digit: the digits are weighted 1, 2, 3, 4 from the right, and we calculate this sum with recursion. Feedback must use a verified bill ID, and only once per bill.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Cluster D is the smart part, and it is honest about being simulated. Four sensors are stored in one Sensor array, which is polymorphism. A reading above its limit throws SensorAlertException, which is caught immediately so the kitchen keeps working. The energy meter uses real electrical formulas: power is V times I times power factor, and the slab tariff gives 173 rupees 60 paise for 26.7 units.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concept on this slide is in the real code, and we can open the file and show it. All nine mandatory concepts are here: data types and operators, Scanner, control structures, methods, arrays, inheritance, strings, exceptions, and both overloading and overriding. For example, pay is overloaded three times: with a double for cash, a String for UPI, and no extra argument for card.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staff member logs in with a role-specific ID and PIN. The admin manages the menu. The waiter finds the customer by mobile number: Priya is on her 14th visit, so she gets 10 percent off, and as a veg-only customer she only sees vegetarian dishes, with her favourites first. Her order is 6 items worth 920 rupees.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party of 5, the system suggests Table 6, the smallest free table that fits. All 8 tables are tracked in one 8-bit register. In the kitchen, urgent orders come first and each order gets an estimated ready time. When food is ready, the token is shown on a seven-segment style display and the table buzzer is triggered.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bill is calculated automatically: 920 rupees minus the 10 percent loyalty discount, plus 2.5 percent CGST and SGST, gives 869.40. Payment by cash, UPI or card, with split bills. Every bill ID carries a check digit, so 2001-9 is accepted but a mistyped 2010-9 is rejected. Customers can rate their meal once per bill.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kitchen sensors for temperature, gas, smoke and humidity are simulated in software. When a reading crosses its limit, an alert is raised with an automatic action, and orders keep flowing. The energy meter calculates each appliance's daily use and cost with a slab tariff. The admin gets a daily report of revenue, top dishes, rating, alerts and energy cost.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one complete visit. Priya's order moves from placed to billed. She gets Table 6, the kitchen estimates 24 minutes, a simulated overheat alert switches the fan on without stopping service, her bill comes to 869.40 rupees, and the bill ID 2001-9 is verified by its check digit. These are the example values from our project document.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Every concept on this slide is in the real code, and we can open the file and show it. All nine mandatory concepts are here: data types and operators, Scanner, control structures, methods, arrays, inheritance, strings, exceptions, and both overloading and overriding. For example, pay is overloaded three times: with a double for cash, a String for UPI, and no extra argument for card.</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This table maps each course outcome from the handout to real code and to the tests that prove it. For example, CO3 asks for recursion and two-dimensional arrays: the check digit uses recursion, and the seven-segment digits are a two-dimensional array. We also list what we did not use, such as JUnit, because the project rules do not allow third-party libraries.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Phase 1 is what we built today: a Core Java prototype with 13 connected modules and simulated kitchen sensors. Phase 2 brings real IoT hardware: real sensors on an ESP32 or Arduino with Wi-Fi, a live dashboard and a physical token display. Phase 3 adds a database, inventory and analytics such as demand forecasting. Phase 4 is a customer mobile app with QR ordering, loyalty and secure payments. Phase 5 grows into a complete food-delivery platform, inspired by Swiggy and Zomato, but with deeper links between ordering, the kitchen, IoT and energy data. Phase 6 scales to many restaurants with a cloud dashboard. Only Phase 1 is built; phases 2 to 6 are proposals.</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DineSync brings the whole restaurant into one connected flow: one order, one flow, zero paper slips.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chemeClr val="tx2"/>
                </a:solidFill>
              </a:rPr>
              <a:t>DineSync  |  PSP Java Expo</a:t>
            </a:r>
            <a:endParaRPr lang="en-US" sz="1000" dirty="0"/>
          </a:p>
        </p:txBody>
      </p:sp>
      <p:sp>
        <p:nvSpPr>
          <p:cNvPr id="3" name="Text 1"/>
          <p:cNvSpPr>
            <a:spLocks noGrp="1"/>
          </p:cNvSpPr>
          <p:nvPr>
            <p:ph type="body" idx="101" hasCustomPrompt="1"/>
          </p:nvPr>
        </p:nvSpPr>
        <p:spPr>
          <a:xfrm>
            <a:off x="548640" y="292608"/>
            <a:ext cx="8229600" cy="274320"/>
          </a:xfrm>
          <a:prstGeom prst="rect">
            <a:avLst/>
          </a:prstGeom>
          <a:noFill/>
          <a:ln/>
        </p:spPr>
        <p:txBody>
          <a:bodyPr wrap="square" rtlCol="0"/>
          <a:lstStyle>
            <a:lvl1pPr marL="0" indent="0">
              <a:buNone/>
              <a:defRPr lang="en-US" sz="1200" b="1" kern="0" spc="200" dirty="0">
                <a:solidFill>
                  <a:schemeClr val="accent1"/>
                </a:solidFill>
              </a:defRPr>
            </a:lvl1pPr>
          </a:lstStyle>
          <a:p>
            <a:pPr marL="0" indent="0">
              <a:buNone/>
            </a:pPr>
            <a:endParaRPr lang="en-US" sz="1200" dirty="0"/>
          </a:p>
        </p:txBody>
      </p:sp>
      <p:sp>
        <p:nvSpPr>
          <p:cNvPr id="4" name="Text 1"/>
          <p:cNvSpPr>
            <a:spLocks noGrp="1"/>
          </p:cNvSpPr>
          <p:nvPr>
            <p:ph type="title" idx="102" hasCustomPrompt="1"/>
          </p:nvPr>
        </p:nvSpPr>
        <p:spPr>
          <a:xfrm>
            <a:off x="548640" y="548640"/>
            <a:ext cx="11064240" cy="685800"/>
          </a:xfrm>
          <a:prstGeom prst="rect">
            <a:avLst/>
          </a:prstGeom>
          <a:noFill/>
          <a:ln/>
        </p:spPr>
        <p:txBody>
          <a:bodyPr wrap="square" rtlCol="0"/>
          <a:lstStyle>
            <a:lvl1pPr marL="0" indent="0" algn="l">
              <a:buNone/>
              <a:defRPr lang="en-US" sz="3200" b="1" dirty="0">
                <a:solidFill>
                  <a:schemeClr val="tx1"/>
                </a:solidFill>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1129284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1_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lstStyle>
            <a:lvl1pPr marL="0" indent="0">
              <a:buNone/>
              <a:defRPr lang="en-US" sz="3400" b="1" dirty="0">
                <a:solidFill>
                  <a:schemeClr val="tx1"/>
                </a:solidFill>
                <a:latin typeface="Arial" pitchFamily="34" charset="0"/>
                <a:ea typeface="Arial" pitchFamily="34" charset="-122"/>
                <a:cs typeface="Arial" pitchFamily="34" charset="-120"/>
              </a:defRPr>
            </a:lvl1pPr>
          </a:lstStyle>
          <a:p>
            <a:pPr marL="0" indent="0">
              <a:buNone/>
            </a:pPr>
            <a:endParaRPr lang="en-US" sz="3400" dirty="0"/>
          </a:p>
        </p:txBody>
      </p:sp>
      <p:sp>
        <p:nvSpPr>
          <p:cNvPr id="3" name="Text 0"/>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DineSync  |  PSP Java 26SC1101E</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221961179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18.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image" Target="../media/image21.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xt-1"/>
          <p:cNvSpPr txBox="1"/>
          <p:nvPr/>
        </p:nvSpPr>
        <p:spPr>
          <a:xfrm>
            <a:off x="640080" y="731520"/>
            <a:ext cx="4572000" cy="320040"/>
          </a:xfrm>
          <a:prstGeom prst="rect">
            <a:avLst/>
          </a:prstGeom>
          <a:noFill/>
          <a:ln/>
        </p:spPr>
        <p:txBody>
          <a:bodyPr wrap="square" lIns="0" tIns="0" rIns="0" bIns="0" rtlCol="0" anchor="ctr"/>
          <a:lstStyle/>
          <a:p>
            <a:pPr marL="0" indent="0">
              <a:buNone/>
            </a:pPr>
            <a:r>
              <a:rPr lang="en-US" sz="1400" b="1" kern="0" spc="400" dirty="0">
                <a:solidFill>
                  <a:schemeClr val="accent5"/>
                </a:solidFill>
              </a:rPr>
              <a:t>KLH  ·  BACHUPALLY</a:t>
            </a:r>
            <a:endParaRPr lang="en-US" sz="1400" dirty="0"/>
          </a:p>
        </p:txBody>
      </p:sp>
      <p:sp>
        <p:nvSpPr>
          <p:cNvPr id="3" name="txt-2"/>
          <p:cNvSpPr txBox="1"/>
          <p:nvPr/>
        </p:nvSpPr>
        <p:spPr>
          <a:xfrm>
            <a:off x="640080" y="1143000"/>
            <a:ext cx="5486400" cy="1143000"/>
          </a:xfrm>
          <a:prstGeom prst="rect">
            <a:avLst/>
          </a:prstGeom>
          <a:noFill/>
          <a:ln/>
        </p:spPr>
        <p:txBody>
          <a:bodyPr wrap="square" lIns="0" tIns="0" rIns="0" bIns="0" rtlCol="0" anchor="ctr"/>
          <a:lstStyle/>
          <a:p>
            <a:pPr marL="0" indent="0">
              <a:buNone/>
            </a:pPr>
            <a:r>
              <a:rPr lang="en-US" sz="7200" b="1" dirty="0">
                <a:solidFill>
                  <a:schemeClr val="bg1"/>
                </a:solidFill>
              </a:rPr>
              <a:t>Dine</a:t>
            </a:r>
            <a:r>
              <a:rPr lang="en-US" sz="7200" b="1" dirty="0">
                <a:solidFill>
                  <a:schemeClr val="accent5"/>
                </a:solidFill>
              </a:rPr>
              <a:t>Sync</a:t>
            </a:r>
            <a:endParaRPr lang="en-US" sz="7200" dirty="0"/>
          </a:p>
        </p:txBody>
      </p:sp>
      <p:sp>
        <p:nvSpPr>
          <p:cNvPr id="4" name="txt-3"/>
          <p:cNvSpPr txBox="1"/>
          <p:nvPr/>
        </p:nvSpPr>
        <p:spPr>
          <a:xfrm>
            <a:off x="640080" y="2331720"/>
            <a:ext cx="5120640" cy="868680"/>
          </a:xfrm>
          <a:prstGeom prst="rect">
            <a:avLst/>
          </a:prstGeom>
          <a:noFill/>
          <a:ln/>
        </p:spPr>
        <p:txBody>
          <a:bodyPr wrap="square" lIns="0" tIns="0" rIns="0" bIns="0" rtlCol="0" anchor="ctr"/>
          <a:lstStyle/>
          <a:p>
            <a:pPr marL="0" indent="0">
              <a:buNone/>
            </a:pPr>
            <a:r>
              <a:rPr lang="en-US" sz="2100" dirty="0">
                <a:solidFill>
                  <a:schemeClr val="accent6"/>
                </a:solidFill>
              </a:rPr>
              <a:t>Smart Restaurant Management System with IoT-Based Kitchen Monitoring</a:t>
            </a:r>
            <a:endParaRPr lang="en-US" sz="2100" dirty="0"/>
          </a:p>
        </p:txBody>
      </p:sp>
      <p:sp>
        <p:nvSpPr>
          <p:cNvPr id="5" name="chip-4"/>
          <p:cNvSpPr/>
          <p:nvPr/>
        </p:nvSpPr>
        <p:spPr>
          <a:xfrm>
            <a:off x="640080" y="3337560"/>
            <a:ext cx="3840480" cy="384048"/>
          </a:xfrm>
          <a:prstGeom prst="roundRect">
            <a:avLst>
              <a:gd name="adj" fmla="val 50000"/>
            </a:avLst>
          </a:prstGeom>
          <a:solidFill>
            <a:schemeClr val="accent1"/>
          </a:solidFill>
          <a:ln/>
        </p:spPr>
      </p:sp>
      <p:sp>
        <p:nvSpPr>
          <p:cNvPr id="6" name="txt-5"/>
          <p:cNvSpPr txBox="1"/>
          <p:nvPr/>
        </p:nvSpPr>
        <p:spPr>
          <a:xfrm>
            <a:off x="640080" y="3337560"/>
            <a:ext cx="3840480" cy="384048"/>
          </a:xfrm>
          <a:prstGeom prst="rect">
            <a:avLst/>
          </a:prstGeom>
          <a:noFill/>
          <a:ln/>
        </p:spPr>
        <p:txBody>
          <a:bodyPr wrap="square" lIns="0" tIns="0" rIns="0" bIns="0" rtlCol="0" anchor="ctr"/>
          <a:lstStyle/>
          <a:p>
            <a:pPr marL="0" indent="0" algn="ctr">
              <a:buNone/>
            </a:pPr>
            <a:r>
              <a:rPr lang="en-US" sz="1200" b="1" dirty="0">
                <a:solidFill>
                  <a:schemeClr val="bg1"/>
                </a:solidFill>
              </a:rPr>
              <a:t>JAVA EXPO  ·  PROJECT BASED LEARNING</a:t>
            </a:r>
            <a:endParaRPr lang="en-US" sz="1200" dirty="0"/>
          </a:p>
        </p:txBody>
      </p:sp>
      <p:sp>
        <p:nvSpPr>
          <p:cNvPr id="7" name="txt-6"/>
          <p:cNvSpPr txBox="1"/>
          <p:nvPr/>
        </p:nvSpPr>
        <p:spPr>
          <a:xfrm>
            <a:off x="640080" y="3886200"/>
            <a:ext cx="5303520" cy="320040"/>
          </a:xfrm>
          <a:prstGeom prst="rect">
            <a:avLst/>
          </a:prstGeom>
          <a:noFill/>
          <a:ln/>
        </p:spPr>
        <p:txBody>
          <a:bodyPr wrap="square" lIns="0" tIns="0" rIns="0" bIns="0" rtlCol="0" anchor="ctr"/>
          <a:lstStyle/>
          <a:p>
            <a:pPr marL="0" indent="0">
              <a:buNone/>
            </a:pPr>
            <a:r>
              <a:rPr lang="en-US" sz="1300" dirty="0">
                <a:solidFill>
                  <a:schemeClr val="accent6"/>
                </a:solidFill>
              </a:rPr>
              <a:t>26SC1101E  ·  Problem Solving Using Programming (Java)  ·  A.Y. 2026-27</a:t>
            </a:r>
            <a:endParaRPr lang="en-US" sz="1300" dirty="0"/>
          </a:p>
        </p:txBody>
      </p:sp>
      <p:sp>
        <p:nvSpPr>
          <p:cNvPr id="8" name="card-7"/>
          <p:cNvSpPr/>
          <p:nvPr/>
        </p:nvSpPr>
        <p:spPr>
          <a:xfrm>
            <a:off x="640080" y="4572000"/>
            <a:ext cx="5120640" cy="1463040"/>
          </a:xfrm>
          <a:prstGeom prst="roundRect">
            <a:avLst>
              <a:gd name="adj" fmla="val 7500"/>
            </a:avLst>
          </a:prstGeom>
          <a:solidFill>
            <a:schemeClr val="bg1">
              <a:alpha val="8000"/>
            </a:schemeClr>
          </a:solidFill>
          <a:ln/>
        </p:spPr>
      </p:sp>
      <p:sp>
        <p:nvSpPr>
          <p:cNvPr id="9" name="txt-8"/>
          <p:cNvSpPr txBox="1"/>
          <p:nvPr/>
        </p:nvSpPr>
        <p:spPr>
          <a:xfrm>
            <a:off x="868680" y="4736592"/>
            <a:ext cx="2926080" cy="1143000"/>
          </a:xfrm>
          <a:prstGeom prst="rect">
            <a:avLst/>
          </a:prstGeom>
          <a:noFill/>
          <a:ln/>
        </p:spPr>
        <p:txBody>
          <a:bodyPr wrap="square" lIns="0" tIns="0" rIns="0" bIns="0" rtlCol="0" anchor="ctr"/>
          <a:lstStyle/>
          <a:p>
            <a:pPr marL="0" indent="0">
              <a:spcAft>
                <a:spcPts val="300"/>
              </a:spcAft>
              <a:buNone/>
            </a:pPr>
            <a:r>
              <a:rPr lang="en-US" sz="1500" dirty="0">
                <a:solidFill>
                  <a:schemeClr val="bg1"/>
                </a:solidFill>
              </a:rPr>
              <a:t>Pranathi Kusi</a:t>
            </a:r>
            <a:endParaRPr lang="en-US" sz="1500" dirty="0"/>
          </a:p>
          <a:p>
            <a:pPr marL="0" indent="0">
              <a:spcAft>
                <a:spcPts val="300"/>
              </a:spcAft>
              <a:buNone/>
            </a:pPr>
            <a:r>
              <a:rPr lang="en-US" sz="1500" dirty="0">
                <a:solidFill>
                  <a:schemeClr val="bg1"/>
                </a:solidFill>
              </a:rPr>
              <a:t>M. Sri Akhil Chowdary</a:t>
            </a:r>
            <a:endParaRPr lang="en-US" sz="1500" dirty="0"/>
          </a:p>
          <a:p>
            <a:pPr marL="0" indent="0">
              <a:spcAft>
                <a:spcPts val="300"/>
              </a:spcAft>
              <a:buNone/>
            </a:pPr>
            <a:endParaRPr lang="en-US" sz="1500" dirty="0"/>
          </a:p>
        </p:txBody>
      </p:sp>
      <p:sp>
        <p:nvSpPr>
          <p:cNvPr id="10" name="txt-9"/>
          <p:cNvSpPr txBox="1"/>
          <p:nvPr/>
        </p:nvSpPr>
        <p:spPr>
          <a:xfrm>
            <a:off x="3657600" y="4736592"/>
            <a:ext cx="1920240" cy="1143000"/>
          </a:xfrm>
          <a:prstGeom prst="rect">
            <a:avLst/>
          </a:prstGeom>
          <a:noFill/>
          <a:ln/>
        </p:spPr>
        <p:txBody>
          <a:bodyPr wrap="square" lIns="0" tIns="0" rIns="0" bIns="0" rtlCol="0" anchor="ctr"/>
          <a:lstStyle/>
          <a:p>
            <a:pPr marL="0" indent="0" algn="r">
              <a:spcAft>
                <a:spcPts val="300"/>
              </a:spcAft>
              <a:buNone/>
            </a:pPr>
            <a:r>
              <a:rPr lang="en-US" sz="1500" dirty="0">
                <a:solidFill>
                  <a:schemeClr val="accent6"/>
                </a:solidFill>
              </a:rPr>
              <a:t>2620040061</a:t>
            </a:r>
            <a:endParaRPr lang="en-US" sz="1500" dirty="0"/>
          </a:p>
          <a:p>
            <a:pPr marL="0" indent="0" algn="r">
              <a:spcAft>
                <a:spcPts val="300"/>
              </a:spcAft>
              <a:buNone/>
            </a:pPr>
            <a:r>
              <a:rPr lang="en-US" sz="1500" dirty="0">
                <a:solidFill>
                  <a:schemeClr val="accent6"/>
                </a:solidFill>
              </a:rPr>
              <a:t>2620040112</a:t>
            </a:r>
            <a:endParaRPr lang="en-US" sz="1500" dirty="0"/>
          </a:p>
          <a:p>
            <a:pPr marL="0" indent="0" algn="r">
              <a:spcAft>
                <a:spcPts val="300"/>
              </a:spcAft>
              <a:buNone/>
            </a:pPr>
            <a:endParaRPr lang="en-US" sz="1500" dirty="0"/>
          </a:p>
        </p:txBody>
      </p:sp>
      <p:pic>
        <p:nvPicPr>
          <p:cNvPr id="11" name="cover-screens" descr="preencoded.png"/>
          <p:cNvPicPr>
            <a:picLocks noChangeAspect="1"/>
          </p:cNvPicPr>
          <p:nvPr/>
        </p:nvPicPr>
        <p:blipFill>
          <a:blip r:embed="rId3"/>
          <a:stretch>
            <a:fillRect/>
          </a:stretch>
        </p:blipFill>
        <p:spPr>
          <a:xfrm>
            <a:off x="6080760" y="1476933"/>
            <a:ext cx="5760720" cy="390413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buNone/>
            </a:pPr>
            <a:r>
              <a:rPr lang="en-US" sz="3400" b="1" dirty="0">
                <a:solidFill>
                  <a:schemeClr val="tx1"/>
                </a:solidFill>
                <a:latin typeface="Arial" pitchFamily="34" charset="0"/>
                <a:ea typeface="Arial" pitchFamily="34" charset="-122"/>
                <a:cs typeface="Arial" pitchFamily="34" charset="-120"/>
              </a:rPr>
              <a:t>Abstract and project overview</a:t>
            </a:r>
            <a:endParaRPr lang="en-US" sz="3400" dirty="0"/>
          </a:p>
        </p:txBody>
      </p:sp>
      <p:sp>
        <p:nvSpPr>
          <p:cNvPr id="3" name="card-8"/>
          <p:cNvSpPr/>
          <p:nvPr/>
        </p:nvSpPr>
        <p:spPr>
          <a:xfrm>
            <a:off x="548640" y="1371600"/>
            <a:ext cx="5440680" cy="2194560"/>
          </a:xfrm>
          <a:prstGeom prst="roundRect">
            <a:avLst>
              <a:gd name="adj" fmla="val 5000"/>
            </a:avLst>
          </a:prstGeom>
          <a:solidFill>
            <a:srgbClr val="EAF1FF"/>
          </a:solidFill>
          <a:ln w="12700">
            <a:solidFill>
              <a:srgbClr val="EAF1FF"/>
            </a:solidFill>
            <a:prstDash val="solid"/>
          </a:ln>
          <a:effectLst>
            <a:outerShdw blurRad="76200" dist="25400" dir="5400000" algn="bl" rotWithShape="0">
              <a:srgbClr val="1B2A6B">
                <a:alpha val="15000"/>
              </a:srgbClr>
            </a:outerShdw>
          </a:effectLst>
        </p:spPr>
      </p:sp>
      <p:sp>
        <p:nvSpPr>
          <p:cNvPr id="4" name="iconbg-9"/>
          <p:cNvSpPr/>
          <p:nvPr/>
        </p:nvSpPr>
        <p:spPr>
          <a:xfrm>
            <a:off x="822960" y="1691640"/>
            <a:ext cx="731520" cy="731520"/>
          </a:xfrm>
          <a:prstGeom prst="ellipse">
            <a:avLst/>
          </a:prstGeom>
          <a:solidFill>
            <a:srgbClr val="2952E3"/>
          </a:solidFill>
          <a:ln w="12700">
            <a:solidFill>
              <a:srgbClr val="2952E3"/>
            </a:solidFill>
            <a:prstDash val="solid"/>
          </a:ln>
        </p:spPr>
      </p:sp>
      <p:pic>
        <p:nvPicPr>
          <p:cNvPr id="5" name="icon-10" descr="preencoded.png"/>
          <p:cNvPicPr>
            <a:picLocks noChangeAspect="1"/>
          </p:cNvPicPr>
          <p:nvPr/>
        </p:nvPicPr>
        <p:blipFill>
          <a:blip r:embed="rId3"/>
          <a:stretch>
            <a:fillRect/>
          </a:stretch>
        </p:blipFill>
        <p:spPr>
          <a:xfrm>
            <a:off x="983894" y="1852574"/>
            <a:ext cx="409651" cy="409651"/>
          </a:xfrm>
          <a:prstGeom prst="rect">
            <a:avLst/>
          </a:prstGeom>
        </p:spPr>
      </p:pic>
      <p:sp>
        <p:nvSpPr>
          <p:cNvPr id="6" name="text-11"/>
          <p:cNvSpPr txBox="1"/>
          <p:nvPr/>
        </p:nvSpPr>
        <p:spPr>
          <a:xfrm>
            <a:off x="1737360" y="1691640"/>
            <a:ext cx="4023360" cy="457200"/>
          </a:xfrm>
          <a:prstGeom prst="rect">
            <a:avLst/>
          </a:prstGeom>
          <a:noFill/>
          <a:ln/>
        </p:spPr>
        <p:txBody>
          <a:bodyPr wrap="square" lIns="1016" tIns="1016" rIns="1016" bIns="1016" rtlCol="0" anchor="ctr"/>
          <a:lstStyle/>
          <a:p>
            <a:pPr marL="0" indent="0">
              <a:buNone/>
            </a:pPr>
            <a:r>
              <a:rPr lang="en-US" sz="2000" b="1" dirty="0">
                <a:solidFill>
                  <a:schemeClr val="tx1"/>
                </a:solidFill>
                <a:latin typeface="Arial" pitchFamily="34" charset="0"/>
                <a:ea typeface="Arial" pitchFamily="34" charset="-122"/>
                <a:cs typeface="Arial" pitchFamily="34" charset="-120"/>
              </a:rPr>
              <a:t>Purpose</a:t>
            </a:r>
            <a:endParaRPr lang="en-US" sz="2000" dirty="0"/>
          </a:p>
        </p:txBody>
      </p:sp>
      <p:sp>
        <p:nvSpPr>
          <p:cNvPr id="7" name="text-12"/>
          <p:cNvSpPr txBox="1"/>
          <p:nvPr/>
        </p:nvSpPr>
        <p:spPr>
          <a:xfrm>
            <a:off x="1737360" y="2194560"/>
            <a:ext cx="4023360" cy="1234440"/>
          </a:xfrm>
          <a:prstGeom prst="rect">
            <a:avLst/>
          </a:prstGeom>
          <a:noFill/>
          <a:ln/>
        </p:spPr>
        <p:txBody>
          <a:bodyPr wrap="square" lIns="1016" tIns="1016" rIns="1016" bIns="1016" rtlCol="0" anchor="t"/>
          <a:lstStyle/>
          <a:p>
            <a:pPr marL="0" indent="0">
              <a:buNone/>
            </a:pPr>
            <a:r>
              <a:rPr lang="en-US" sz="1500" dirty="0">
                <a:solidFill>
                  <a:schemeClr val="tx1"/>
                </a:solidFill>
                <a:latin typeface="Calibri" pitchFamily="34" charset="0"/>
                <a:ea typeface="Calibri" pitchFamily="34" charset="-122"/>
                <a:cs typeface="Calibri" pitchFamily="34" charset="-120"/>
              </a:rPr>
              <a:t>Connect waiter, kitchen, cashier and admin in one order flow: an order is entered once and moves to preparation, billing and feedback.</a:t>
            </a:r>
            <a:endParaRPr lang="en-US" sz="1500" dirty="0"/>
          </a:p>
        </p:txBody>
      </p:sp>
      <p:sp>
        <p:nvSpPr>
          <p:cNvPr id="8" name="card-13"/>
          <p:cNvSpPr/>
          <p:nvPr/>
        </p:nvSpPr>
        <p:spPr>
          <a:xfrm>
            <a:off x="6172200" y="1371600"/>
            <a:ext cx="5440680" cy="2194560"/>
          </a:xfrm>
          <a:prstGeom prst="roundRect">
            <a:avLst>
              <a:gd name="adj" fmla="val 5000"/>
            </a:avLst>
          </a:prstGeom>
          <a:solidFill>
            <a:srgbClr val="EAF1FF"/>
          </a:solidFill>
          <a:ln w="12700">
            <a:solidFill>
              <a:srgbClr val="EAF1FF"/>
            </a:solidFill>
            <a:prstDash val="solid"/>
          </a:ln>
          <a:effectLst>
            <a:outerShdw blurRad="76200" dist="25400" dir="5400000" algn="bl" rotWithShape="0">
              <a:srgbClr val="1B2A6B">
                <a:alpha val="15000"/>
              </a:srgbClr>
            </a:outerShdw>
          </a:effectLst>
        </p:spPr>
      </p:sp>
      <p:sp>
        <p:nvSpPr>
          <p:cNvPr id="9" name="iconbg-14"/>
          <p:cNvSpPr/>
          <p:nvPr/>
        </p:nvSpPr>
        <p:spPr>
          <a:xfrm>
            <a:off x="6446520" y="1691640"/>
            <a:ext cx="731520" cy="731520"/>
          </a:xfrm>
          <a:prstGeom prst="ellipse">
            <a:avLst/>
          </a:prstGeom>
          <a:solidFill>
            <a:srgbClr val="6E45CF"/>
          </a:solidFill>
          <a:ln w="12700">
            <a:solidFill>
              <a:srgbClr val="6E45CF"/>
            </a:solidFill>
            <a:prstDash val="solid"/>
          </a:ln>
        </p:spPr>
      </p:sp>
      <p:pic>
        <p:nvPicPr>
          <p:cNvPr id="10" name="icon-15" descr="preencoded.png"/>
          <p:cNvPicPr>
            <a:picLocks noChangeAspect="1"/>
          </p:cNvPicPr>
          <p:nvPr/>
        </p:nvPicPr>
        <p:blipFill>
          <a:blip r:embed="rId4"/>
          <a:stretch>
            <a:fillRect/>
          </a:stretch>
        </p:blipFill>
        <p:spPr>
          <a:xfrm>
            <a:off x="6607454" y="1852574"/>
            <a:ext cx="409651" cy="409651"/>
          </a:xfrm>
          <a:prstGeom prst="rect">
            <a:avLst/>
          </a:prstGeom>
        </p:spPr>
      </p:pic>
      <p:sp>
        <p:nvSpPr>
          <p:cNvPr id="11" name="text-16"/>
          <p:cNvSpPr txBox="1"/>
          <p:nvPr/>
        </p:nvSpPr>
        <p:spPr>
          <a:xfrm>
            <a:off x="7360920" y="1691640"/>
            <a:ext cx="4023360" cy="457200"/>
          </a:xfrm>
          <a:prstGeom prst="rect">
            <a:avLst/>
          </a:prstGeom>
          <a:noFill/>
          <a:ln/>
        </p:spPr>
        <p:txBody>
          <a:bodyPr wrap="square" lIns="1016" tIns="1016" rIns="1016" bIns="1016" rtlCol="0" anchor="ctr"/>
          <a:lstStyle/>
          <a:p>
            <a:pPr marL="0" indent="0">
              <a:buNone/>
            </a:pPr>
            <a:r>
              <a:rPr lang="en-US" sz="2000" b="1" dirty="0">
                <a:solidFill>
                  <a:schemeClr val="tx1"/>
                </a:solidFill>
                <a:latin typeface="Arial" pitchFamily="34" charset="0"/>
                <a:ea typeface="Arial" pitchFamily="34" charset="-122"/>
                <a:cs typeface="Arial" pitchFamily="34" charset="-120"/>
              </a:rPr>
              <a:t>Problem</a:t>
            </a:r>
            <a:endParaRPr lang="en-US" sz="2000" dirty="0"/>
          </a:p>
        </p:txBody>
      </p:sp>
      <p:sp>
        <p:nvSpPr>
          <p:cNvPr id="12" name="text-17"/>
          <p:cNvSpPr txBox="1"/>
          <p:nvPr/>
        </p:nvSpPr>
        <p:spPr>
          <a:xfrm>
            <a:off x="7360920" y="2194560"/>
            <a:ext cx="4023360" cy="1234440"/>
          </a:xfrm>
          <a:prstGeom prst="rect">
            <a:avLst/>
          </a:prstGeom>
          <a:noFill/>
          <a:ln/>
        </p:spPr>
        <p:txBody>
          <a:bodyPr wrap="square" lIns="1016" tIns="1016" rIns="1016" bIns="1016" rtlCol="0" anchor="t"/>
          <a:lstStyle/>
          <a:p>
            <a:pPr marL="0" indent="0">
              <a:buNone/>
            </a:pPr>
            <a:r>
              <a:rPr lang="en-US" sz="1500" dirty="0">
                <a:solidFill>
                  <a:schemeClr val="tx1"/>
                </a:solidFill>
                <a:latin typeface="Calibri" pitchFamily="34" charset="0"/>
                <a:ea typeface="Calibri" pitchFamily="34" charset="-122"/>
                <a:cs typeface="Calibri" pitchFamily="34" charset="-120"/>
              </a:rPr>
              <a:t>Paper slips and manual calculation cause delays, lost orders, billing mistakes and late detection of kitchen hazards.</a:t>
            </a:r>
            <a:endParaRPr lang="en-US" sz="1500" dirty="0"/>
          </a:p>
        </p:txBody>
      </p:sp>
      <p:sp>
        <p:nvSpPr>
          <p:cNvPr id="13" name="card-18"/>
          <p:cNvSpPr/>
          <p:nvPr/>
        </p:nvSpPr>
        <p:spPr>
          <a:xfrm>
            <a:off x="548640" y="3794760"/>
            <a:ext cx="5440680" cy="2194560"/>
          </a:xfrm>
          <a:prstGeom prst="roundRect">
            <a:avLst>
              <a:gd name="adj" fmla="val 5000"/>
            </a:avLst>
          </a:prstGeom>
          <a:solidFill>
            <a:srgbClr val="EAF1FF"/>
          </a:solidFill>
          <a:ln w="12700">
            <a:solidFill>
              <a:srgbClr val="EAF1FF"/>
            </a:solidFill>
            <a:prstDash val="solid"/>
          </a:ln>
          <a:effectLst>
            <a:outerShdw blurRad="76200" dist="25400" dir="5400000" algn="bl" rotWithShape="0">
              <a:srgbClr val="1B2A6B">
                <a:alpha val="15000"/>
              </a:srgbClr>
            </a:outerShdw>
          </a:effectLst>
        </p:spPr>
      </p:sp>
      <p:sp>
        <p:nvSpPr>
          <p:cNvPr id="14" name="iconbg-19"/>
          <p:cNvSpPr/>
          <p:nvPr/>
        </p:nvSpPr>
        <p:spPr>
          <a:xfrm>
            <a:off x="822960" y="4114800"/>
            <a:ext cx="731520" cy="731520"/>
          </a:xfrm>
          <a:prstGeom prst="ellipse">
            <a:avLst/>
          </a:prstGeom>
          <a:solidFill>
            <a:srgbClr val="0597B8"/>
          </a:solidFill>
          <a:ln w="12700">
            <a:solidFill>
              <a:srgbClr val="0597B8"/>
            </a:solidFill>
            <a:prstDash val="solid"/>
          </a:ln>
        </p:spPr>
      </p:sp>
      <p:pic>
        <p:nvPicPr>
          <p:cNvPr id="15" name="icon-20" descr="preencoded.png"/>
          <p:cNvPicPr>
            <a:picLocks noChangeAspect="1"/>
          </p:cNvPicPr>
          <p:nvPr/>
        </p:nvPicPr>
        <p:blipFill>
          <a:blip r:embed="rId5"/>
          <a:stretch>
            <a:fillRect/>
          </a:stretch>
        </p:blipFill>
        <p:spPr>
          <a:xfrm>
            <a:off x="983894" y="4275734"/>
            <a:ext cx="409651" cy="409651"/>
          </a:xfrm>
          <a:prstGeom prst="rect">
            <a:avLst/>
          </a:prstGeom>
        </p:spPr>
      </p:pic>
      <p:sp>
        <p:nvSpPr>
          <p:cNvPr id="16" name="text-21"/>
          <p:cNvSpPr txBox="1"/>
          <p:nvPr/>
        </p:nvSpPr>
        <p:spPr>
          <a:xfrm>
            <a:off x="1737360" y="4114800"/>
            <a:ext cx="4023360" cy="457200"/>
          </a:xfrm>
          <a:prstGeom prst="rect">
            <a:avLst/>
          </a:prstGeom>
          <a:noFill/>
          <a:ln/>
        </p:spPr>
        <p:txBody>
          <a:bodyPr wrap="square" lIns="1016" tIns="1016" rIns="1016" bIns="1016" rtlCol="0" anchor="ctr"/>
          <a:lstStyle/>
          <a:p>
            <a:pPr marL="0" indent="0">
              <a:buNone/>
            </a:pPr>
            <a:r>
              <a:rPr lang="en-US" sz="2000" b="1" dirty="0">
                <a:solidFill>
                  <a:schemeClr val="tx1"/>
                </a:solidFill>
                <a:latin typeface="Arial" pitchFamily="34" charset="0"/>
                <a:ea typeface="Arial" pitchFamily="34" charset="-122"/>
                <a:cs typeface="Arial" pitchFamily="34" charset="-120"/>
              </a:rPr>
              <a:t>Core Java solution</a:t>
            </a:r>
            <a:endParaRPr lang="en-US" sz="2000" dirty="0"/>
          </a:p>
        </p:txBody>
      </p:sp>
      <p:sp>
        <p:nvSpPr>
          <p:cNvPr id="17" name="text-22"/>
          <p:cNvSpPr txBox="1"/>
          <p:nvPr/>
        </p:nvSpPr>
        <p:spPr>
          <a:xfrm>
            <a:off x="1737360" y="4617720"/>
            <a:ext cx="4023360" cy="1234440"/>
          </a:xfrm>
          <a:prstGeom prst="rect">
            <a:avLst/>
          </a:prstGeom>
          <a:noFill/>
          <a:ln/>
        </p:spPr>
        <p:txBody>
          <a:bodyPr wrap="square" lIns="1016" tIns="1016" rIns="1016" bIns="1016" rtlCol="0" anchor="t"/>
          <a:lstStyle/>
          <a:p>
            <a:pPr marL="0" indent="0">
              <a:buNone/>
            </a:pPr>
            <a:r>
              <a:rPr lang="en-US" sz="1500" dirty="0">
                <a:solidFill>
                  <a:schemeClr val="tx1"/>
                </a:solidFill>
                <a:latin typeface="Calibri" pitchFamily="34" charset="0"/>
                <a:ea typeface="Calibri" pitchFamily="34" charset="-122"/>
                <a:cs typeface="Calibri" pitchFamily="34" charset="-120"/>
              </a:rPr>
              <a:t>13 connected modules, role-based login, automatic GST billing, check-digit bill IDs, simulated sensors, energy meter and daily reports.</a:t>
            </a:r>
            <a:endParaRPr lang="en-US" sz="1500" dirty="0"/>
          </a:p>
        </p:txBody>
      </p:sp>
      <p:sp>
        <p:nvSpPr>
          <p:cNvPr id="18" name="card-23"/>
          <p:cNvSpPr/>
          <p:nvPr/>
        </p:nvSpPr>
        <p:spPr>
          <a:xfrm>
            <a:off x="6172200" y="3794760"/>
            <a:ext cx="5440680" cy="2194560"/>
          </a:xfrm>
          <a:prstGeom prst="roundRect">
            <a:avLst>
              <a:gd name="adj" fmla="val 5000"/>
            </a:avLst>
          </a:prstGeom>
          <a:solidFill>
            <a:srgbClr val="EAF1FF"/>
          </a:solidFill>
          <a:ln w="12700">
            <a:solidFill>
              <a:srgbClr val="EAF1FF"/>
            </a:solidFill>
            <a:prstDash val="solid"/>
          </a:ln>
          <a:effectLst>
            <a:outerShdw blurRad="76200" dist="25400" dir="5400000" algn="bl" rotWithShape="0">
              <a:srgbClr val="1B2A6B">
                <a:alpha val="15000"/>
              </a:srgbClr>
            </a:outerShdw>
          </a:effectLst>
        </p:spPr>
      </p:sp>
      <p:sp>
        <p:nvSpPr>
          <p:cNvPr id="19" name="iconbg-24"/>
          <p:cNvSpPr/>
          <p:nvPr/>
        </p:nvSpPr>
        <p:spPr>
          <a:xfrm>
            <a:off x="6446520" y="4114800"/>
            <a:ext cx="731520" cy="731520"/>
          </a:xfrm>
          <a:prstGeom prst="ellipse">
            <a:avLst/>
          </a:prstGeom>
          <a:solidFill>
            <a:srgbClr val="1B2A6B"/>
          </a:solidFill>
          <a:ln w="12700">
            <a:solidFill>
              <a:srgbClr val="1B2A6B"/>
            </a:solidFill>
            <a:prstDash val="solid"/>
          </a:ln>
        </p:spPr>
      </p:sp>
      <p:pic>
        <p:nvPicPr>
          <p:cNvPr id="20" name="icon-25" descr="preencoded.png"/>
          <p:cNvPicPr>
            <a:picLocks noChangeAspect="1"/>
          </p:cNvPicPr>
          <p:nvPr/>
        </p:nvPicPr>
        <p:blipFill>
          <a:blip r:embed="rId6"/>
          <a:stretch>
            <a:fillRect/>
          </a:stretch>
        </p:blipFill>
        <p:spPr>
          <a:xfrm>
            <a:off x="6607454" y="4275734"/>
            <a:ext cx="409651" cy="409651"/>
          </a:xfrm>
          <a:prstGeom prst="rect">
            <a:avLst/>
          </a:prstGeom>
        </p:spPr>
      </p:pic>
      <p:sp>
        <p:nvSpPr>
          <p:cNvPr id="21" name="text-26"/>
          <p:cNvSpPr txBox="1"/>
          <p:nvPr/>
        </p:nvSpPr>
        <p:spPr>
          <a:xfrm>
            <a:off x="7360920" y="4114800"/>
            <a:ext cx="4023360" cy="457200"/>
          </a:xfrm>
          <a:prstGeom prst="rect">
            <a:avLst/>
          </a:prstGeom>
          <a:noFill/>
          <a:ln/>
        </p:spPr>
        <p:txBody>
          <a:bodyPr wrap="square" lIns="1016" tIns="1016" rIns="1016" bIns="1016" rtlCol="0" anchor="ctr"/>
          <a:lstStyle/>
          <a:p>
            <a:pPr marL="0" indent="0">
              <a:buNone/>
            </a:pPr>
            <a:r>
              <a:rPr lang="en-US" sz="2000" b="1" dirty="0">
                <a:solidFill>
                  <a:schemeClr val="tx1"/>
                </a:solidFill>
                <a:latin typeface="Arial" pitchFamily="34" charset="0"/>
                <a:ea typeface="Arial" pitchFamily="34" charset="-122"/>
                <a:cs typeface="Arial" pitchFamily="34" charset="-120"/>
              </a:rPr>
              <a:t>Benefits</a:t>
            </a:r>
            <a:endParaRPr lang="en-US" sz="2000" dirty="0"/>
          </a:p>
        </p:txBody>
      </p:sp>
      <p:sp>
        <p:nvSpPr>
          <p:cNvPr id="22" name="text-27"/>
          <p:cNvSpPr txBox="1"/>
          <p:nvPr/>
        </p:nvSpPr>
        <p:spPr>
          <a:xfrm>
            <a:off x="7360920" y="4617720"/>
            <a:ext cx="4023360" cy="1234440"/>
          </a:xfrm>
          <a:prstGeom prst="rect">
            <a:avLst/>
          </a:prstGeom>
          <a:noFill/>
          <a:ln/>
        </p:spPr>
        <p:txBody>
          <a:bodyPr wrap="square" lIns="1016" tIns="1016" rIns="1016" bIns="1016" rtlCol="0" anchor="t"/>
          <a:lstStyle/>
          <a:p>
            <a:pPr marL="0" indent="0">
              <a:buNone/>
            </a:pPr>
            <a:r>
              <a:rPr lang="en-US" sz="1500" dirty="0">
                <a:solidFill>
                  <a:schemeClr val="tx1"/>
                </a:solidFill>
                <a:latin typeface="Calibri" pitchFamily="34" charset="0"/>
                <a:ea typeface="Calibri" pitchFamily="34" charset="-122"/>
                <a:cs typeface="Calibri" pitchFamily="34" charset="-120"/>
              </a:rPr>
              <a:t>Every input is validated, every error is handled without stopping, and reports always match the real bills.</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buNone/>
            </a:pPr>
            <a:r>
              <a:rPr lang="en-US" sz="3400" b="1" dirty="0">
                <a:solidFill>
                  <a:schemeClr val="tx1"/>
                </a:solidFill>
                <a:latin typeface="Arial" pitchFamily="34" charset="0"/>
                <a:ea typeface="Arial" pitchFamily="34" charset="-122"/>
                <a:cs typeface="Arial" pitchFamily="34" charset="-120"/>
              </a:rPr>
              <a:t>Problem statement and motivation</a:t>
            </a:r>
            <a:endParaRPr lang="en-US" sz="3400" dirty="0"/>
          </a:p>
        </p:txBody>
      </p:sp>
      <p:sp>
        <p:nvSpPr>
          <p:cNvPr id="3" name="text-28"/>
          <p:cNvSpPr txBox="1"/>
          <p:nvPr/>
        </p:nvSpPr>
        <p:spPr>
          <a:xfrm>
            <a:off x="548640" y="1234440"/>
            <a:ext cx="4937760" cy="365760"/>
          </a:xfrm>
          <a:prstGeom prst="rect">
            <a:avLst/>
          </a:prstGeom>
          <a:noFill/>
          <a:ln/>
        </p:spPr>
        <p:txBody>
          <a:bodyPr wrap="square" lIns="1016" tIns="1016" rIns="1016" bIns="1016" rtlCol="0" anchor="ctr"/>
          <a:lstStyle/>
          <a:p>
            <a:pPr marL="0" indent="0">
              <a:buNone/>
            </a:pPr>
            <a:r>
              <a:rPr lang="en-US" sz="1500" b="1" dirty="0">
                <a:solidFill>
                  <a:schemeClr val="accent3"/>
                </a:solidFill>
                <a:latin typeface="Calibri" pitchFamily="34" charset="0"/>
                <a:ea typeface="Calibri" pitchFamily="34" charset="-122"/>
                <a:cs typeface="Calibri" pitchFamily="34" charset="-120"/>
              </a:rPr>
              <a:t>Restaurant challenge</a:t>
            </a:r>
            <a:endParaRPr lang="en-US" sz="1500" dirty="0"/>
          </a:p>
        </p:txBody>
      </p:sp>
      <p:sp>
        <p:nvSpPr>
          <p:cNvPr id="4" name="text-29"/>
          <p:cNvSpPr txBox="1"/>
          <p:nvPr/>
        </p:nvSpPr>
        <p:spPr>
          <a:xfrm>
            <a:off x="6217920" y="1234440"/>
            <a:ext cx="5394960" cy="365760"/>
          </a:xfrm>
          <a:prstGeom prst="rect">
            <a:avLst/>
          </a:prstGeom>
          <a:noFill/>
          <a:ln/>
        </p:spPr>
        <p:txBody>
          <a:bodyPr wrap="square" lIns="1016" tIns="1016" rIns="1016" bIns="1016" rtlCol="0" anchor="ctr"/>
          <a:lstStyle/>
          <a:p>
            <a:pPr marL="0" indent="0">
              <a:buNone/>
            </a:pPr>
            <a:r>
              <a:rPr lang="en-US" sz="1500" b="1" dirty="0">
                <a:solidFill>
                  <a:schemeClr val="accent1"/>
                </a:solidFill>
                <a:latin typeface="Calibri" pitchFamily="34" charset="0"/>
                <a:ea typeface="Calibri" pitchFamily="34" charset="-122"/>
                <a:cs typeface="Calibri" pitchFamily="34" charset="-120"/>
              </a:rPr>
              <a:t>DineSync feature</a:t>
            </a:r>
            <a:endParaRPr lang="en-US" sz="1500" dirty="0"/>
          </a:p>
        </p:txBody>
      </p:sp>
      <p:sp>
        <p:nvSpPr>
          <p:cNvPr id="5" name="card-30"/>
          <p:cNvSpPr/>
          <p:nvPr/>
        </p:nvSpPr>
        <p:spPr>
          <a:xfrm>
            <a:off x="548640" y="1691640"/>
            <a:ext cx="5120640" cy="548640"/>
          </a:xfrm>
          <a:prstGeom prst="roundRect">
            <a:avLst>
              <a:gd name="adj" fmla="val 20000"/>
            </a:avLst>
          </a:prstGeom>
          <a:solidFill>
            <a:srgbClr val="F3EEFF"/>
          </a:solidFill>
          <a:ln w="12700">
            <a:solidFill>
              <a:srgbClr val="F3EEFF"/>
            </a:solidFill>
            <a:prstDash val="solid"/>
          </a:ln>
        </p:spPr>
      </p:sp>
      <p:sp>
        <p:nvSpPr>
          <p:cNvPr id="6" name="text-31"/>
          <p:cNvSpPr txBox="1"/>
          <p:nvPr/>
        </p:nvSpPr>
        <p:spPr>
          <a:xfrm>
            <a:off x="685800" y="1691640"/>
            <a:ext cx="4937760" cy="548640"/>
          </a:xfrm>
          <a:prstGeom prst="rect">
            <a:avLst/>
          </a:prstGeom>
          <a:noFill/>
          <a:ln/>
        </p:spPr>
        <p:txBody>
          <a:bodyPr wrap="square" lIns="1016" tIns="1016" rIns="1016" bIns="1016" rtlCol="0" anchor="ctr"/>
          <a:lstStyle/>
          <a:p>
            <a:pPr marL="0" indent="0">
              <a:buNone/>
            </a:pPr>
            <a:r>
              <a:rPr lang="en-US" sz="1500" dirty="0">
                <a:solidFill>
                  <a:schemeClr val="tx1"/>
                </a:solidFill>
                <a:latin typeface="Calibri" pitchFamily="34" charset="0"/>
                <a:ea typeface="Calibri" pitchFamily="34" charset="-122"/>
                <a:cs typeface="Calibri" pitchFamily="34" charset="-120"/>
              </a:rPr>
              <a:t>Slow floor-to-kitchen communication</a:t>
            </a:r>
            <a:endParaRPr lang="en-US" sz="1500" dirty="0"/>
          </a:p>
        </p:txBody>
      </p:sp>
      <p:sp>
        <p:nvSpPr>
          <p:cNvPr id="7" name="arrow-32"/>
          <p:cNvSpPr/>
          <p:nvPr/>
        </p:nvSpPr>
        <p:spPr>
          <a:xfrm>
            <a:off x="5760720" y="1847088"/>
            <a:ext cx="365760" cy="237744"/>
          </a:xfrm>
          <a:prstGeom prst="rightArrow">
            <a:avLst/>
          </a:prstGeom>
          <a:solidFill>
            <a:srgbClr val="8FB4FF"/>
          </a:solidFill>
          <a:ln w="12700">
            <a:solidFill>
              <a:srgbClr val="8FB4FF"/>
            </a:solidFill>
            <a:prstDash val="solid"/>
          </a:ln>
        </p:spPr>
      </p:sp>
      <p:sp>
        <p:nvSpPr>
          <p:cNvPr id="8" name="card-33"/>
          <p:cNvSpPr/>
          <p:nvPr/>
        </p:nvSpPr>
        <p:spPr>
          <a:xfrm>
            <a:off x="6217920" y="1691640"/>
            <a:ext cx="5394960" cy="548640"/>
          </a:xfrm>
          <a:prstGeom prst="roundRect">
            <a:avLst>
              <a:gd name="adj" fmla="val 20000"/>
            </a:avLst>
          </a:prstGeom>
          <a:solidFill>
            <a:srgbClr val="EAF1FF"/>
          </a:solidFill>
          <a:ln w="12700">
            <a:solidFill>
              <a:srgbClr val="EAF1FF"/>
            </a:solidFill>
            <a:prstDash val="solid"/>
          </a:ln>
        </p:spPr>
      </p:sp>
      <p:sp>
        <p:nvSpPr>
          <p:cNvPr id="9" name="text-34"/>
          <p:cNvSpPr txBox="1"/>
          <p:nvPr/>
        </p:nvSpPr>
        <p:spPr>
          <a:xfrm>
            <a:off x="6355080" y="1691640"/>
            <a:ext cx="5212080" cy="548640"/>
          </a:xfrm>
          <a:prstGeom prst="rect">
            <a:avLst/>
          </a:prstGeom>
          <a:noFill/>
          <a:ln/>
        </p:spPr>
        <p:txBody>
          <a:bodyPr wrap="square" lIns="1016" tIns="1016" rIns="1016" bIns="1016" rtlCol="0" anchor="ctr"/>
          <a:lstStyle/>
          <a:p>
            <a:pPr marL="0" indent="0">
              <a:buNone/>
            </a:pPr>
            <a:r>
              <a:rPr lang="en-US" sz="1500" dirty="0">
                <a:solidFill>
                  <a:schemeClr val="tx1"/>
                </a:solidFill>
                <a:latin typeface="Calibri" pitchFamily="34" charset="0"/>
                <a:ea typeface="Calibri" pitchFamily="34" charset="-122"/>
                <a:cs typeface="Calibri" pitchFamily="34" charset="-120"/>
              </a:rPr>
              <a:t>M05 Kitchen queue: urgent first, ETA, chef assignment</a:t>
            </a:r>
            <a:endParaRPr lang="en-US" sz="1500" dirty="0"/>
          </a:p>
        </p:txBody>
      </p:sp>
      <p:sp>
        <p:nvSpPr>
          <p:cNvPr id="10" name="card-35"/>
          <p:cNvSpPr/>
          <p:nvPr/>
        </p:nvSpPr>
        <p:spPr>
          <a:xfrm>
            <a:off x="548640" y="2350008"/>
            <a:ext cx="5120640" cy="548640"/>
          </a:xfrm>
          <a:prstGeom prst="roundRect">
            <a:avLst>
              <a:gd name="adj" fmla="val 20000"/>
            </a:avLst>
          </a:prstGeom>
          <a:solidFill>
            <a:srgbClr val="F3EEFF"/>
          </a:solidFill>
          <a:ln w="12700">
            <a:solidFill>
              <a:srgbClr val="F3EEFF"/>
            </a:solidFill>
            <a:prstDash val="solid"/>
          </a:ln>
        </p:spPr>
      </p:sp>
      <p:sp>
        <p:nvSpPr>
          <p:cNvPr id="11" name="text-36"/>
          <p:cNvSpPr txBox="1"/>
          <p:nvPr/>
        </p:nvSpPr>
        <p:spPr>
          <a:xfrm>
            <a:off x="685800" y="2350008"/>
            <a:ext cx="4937760" cy="548640"/>
          </a:xfrm>
          <a:prstGeom prst="rect">
            <a:avLst/>
          </a:prstGeom>
          <a:noFill/>
          <a:ln/>
        </p:spPr>
        <p:txBody>
          <a:bodyPr wrap="square" lIns="1016" tIns="1016" rIns="1016" bIns="1016" rtlCol="0" anchor="ctr"/>
          <a:lstStyle/>
          <a:p>
            <a:pPr marL="0" indent="0">
              <a:buNone/>
            </a:pPr>
            <a:r>
              <a:rPr lang="en-US" sz="1500" dirty="0">
                <a:solidFill>
                  <a:schemeClr val="tx1"/>
                </a:solidFill>
                <a:latin typeface="Calibri" pitchFamily="34" charset="0"/>
                <a:ea typeface="Calibri" pitchFamily="34" charset="-122"/>
                <a:cs typeface="Calibri" pitchFamily="34" charset="-120"/>
              </a:rPr>
              <a:t>Lost, misread or duplicated orders</a:t>
            </a:r>
            <a:endParaRPr lang="en-US" sz="1500" dirty="0"/>
          </a:p>
        </p:txBody>
      </p:sp>
      <p:sp>
        <p:nvSpPr>
          <p:cNvPr id="12" name="arrow-37"/>
          <p:cNvSpPr/>
          <p:nvPr/>
        </p:nvSpPr>
        <p:spPr>
          <a:xfrm>
            <a:off x="5760720" y="2505456"/>
            <a:ext cx="365760" cy="237744"/>
          </a:xfrm>
          <a:prstGeom prst="rightArrow">
            <a:avLst/>
          </a:prstGeom>
          <a:solidFill>
            <a:srgbClr val="8FB4FF"/>
          </a:solidFill>
          <a:ln w="12700">
            <a:solidFill>
              <a:srgbClr val="8FB4FF"/>
            </a:solidFill>
            <a:prstDash val="solid"/>
          </a:ln>
        </p:spPr>
      </p:sp>
      <p:sp>
        <p:nvSpPr>
          <p:cNvPr id="13" name="card-38"/>
          <p:cNvSpPr/>
          <p:nvPr/>
        </p:nvSpPr>
        <p:spPr>
          <a:xfrm>
            <a:off x="6217920" y="2350008"/>
            <a:ext cx="5394960" cy="548640"/>
          </a:xfrm>
          <a:prstGeom prst="roundRect">
            <a:avLst>
              <a:gd name="adj" fmla="val 20000"/>
            </a:avLst>
          </a:prstGeom>
          <a:solidFill>
            <a:srgbClr val="EAF1FF"/>
          </a:solidFill>
          <a:ln w="12700">
            <a:solidFill>
              <a:srgbClr val="EAF1FF"/>
            </a:solidFill>
            <a:prstDash val="solid"/>
          </a:ln>
        </p:spPr>
      </p:sp>
      <p:sp>
        <p:nvSpPr>
          <p:cNvPr id="14" name="text-39"/>
          <p:cNvSpPr txBox="1"/>
          <p:nvPr/>
        </p:nvSpPr>
        <p:spPr>
          <a:xfrm>
            <a:off x="6355080" y="2350008"/>
            <a:ext cx="5212080" cy="548640"/>
          </a:xfrm>
          <a:prstGeom prst="rect">
            <a:avLst/>
          </a:prstGeom>
          <a:noFill/>
          <a:ln/>
        </p:spPr>
        <p:txBody>
          <a:bodyPr wrap="square" lIns="1016" tIns="1016" rIns="1016" bIns="1016" rtlCol="0" anchor="ctr"/>
          <a:lstStyle/>
          <a:p>
            <a:pPr marL="0" indent="0">
              <a:buNone/>
            </a:pPr>
            <a:r>
              <a:rPr lang="en-US" sz="1500" dirty="0">
                <a:solidFill>
                  <a:schemeClr val="tx1"/>
                </a:solidFill>
                <a:latin typeface="Calibri" pitchFamily="34" charset="0"/>
                <a:ea typeface="Calibri" pitchFamily="34" charset="-122"/>
                <a:cs typeface="Calibri" pitchFamily="34" charset="-120"/>
              </a:rPr>
              <a:t>M04 Order taking: validated dishes, quantities, unique order IDs</a:t>
            </a:r>
            <a:endParaRPr lang="en-US" sz="1500" dirty="0"/>
          </a:p>
        </p:txBody>
      </p:sp>
      <p:sp>
        <p:nvSpPr>
          <p:cNvPr id="15" name="card-40"/>
          <p:cNvSpPr/>
          <p:nvPr/>
        </p:nvSpPr>
        <p:spPr>
          <a:xfrm>
            <a:off x="548640" y="3008376"/>
            <a:ext cx="5120640" cy="548640"/>
          </a:xfrm>
          <a:prstGeom prst="roundRect">
            <a:avLst>
              <a:gd name="adj" fmla="val 20000"/>
            </a:avLst>
          </a:prstGeom>
          <a:solidFill>
            <a:srgbClr val="F3EEFF"/>
          </a:solidFill>
          <a:ln w="12700">
            <a:solidFill>
              <a:srgbClr val="F3EEFF"/>
            </a:solidFill>
            <a:prstDash val="solid"/>
          </a:ln>
        </p:spPr>
      </p:sp>
      <p:sp>
        <p:nvSpPr>
          <p:cNvPr id="16" name="text-41"/>
          <p:cNvSpPr txBox="1"/>
          <p:nvPr/>
        </p:nvSpPr>
        <p:spPr>
          <a:xfrm>
            <a:off x="685800" y="3008376"/>
            <a:ext cx="4937760" cy="548640"/>
          </a:xfrm>
          <a:prstGeom prst="rect">
            <a:avLst/>
          </a:prstGeom>
          <a:noFill/>
          <a:ln/>
        </p:spPr>
        <p:txBody>
          <a:bodyPr wrap="square" lIns="1016" tIns="1016" rIns="1016" bIns="1016" rtlCol="0" anchor="ctr"/>
          <a:lstStyle/>
          <a:p>
            <a:pPr marL="0" indent="0">
              <a:buNone/>
            </a:pPr>
            <a:r>
              <a:rPr lang="en-US" sz="1500" dirty="0">
                <a:solidFill>
                  <a:schemeClr val="tx1"/>
                </a:solidFill>
                <a:latin typeface="Calibri" pitchFamily="34" charset="0"/>
                <a:ea typeface="Calibri" pitchFamily="34" charset="-122"/>
                <a:cs typeface="Calibri" pitchFamily="34" charset="-120"/>
              </a:rPr>
              <a:t>Errors in discount, tax and totals</a:t>
            </a:r>
            <a:endParaRPr lang="en-US" sz="1500" dirty="0"/>
          </a:p>
        </p:txBody>
      </p:sp>
      <p:sp>
        <p:nvSpPr>
          <p:cNvPr id="17" name="arrow-42"/>
          <p:cNvSpPr/>
          <p:nvPr/>
        </p:nvSpPr>
        <p:spPr>
          <a:xfrm>
            <a:off x="5760720" y="3163824"/>
            <a:ext cx="365760" cy="237744"/>
          </a:xfrm>
          <a:prstGeom prst="rightArrow">
            <a:avLst/>
          </a:prstGeom>
          <a:solidFill>
            <a:srgbClr val="8FB4FF"/>
          </a:solidFill>
          <a:ln w="12700">
            <a:solidFill>
              <a:srgbClr val="8FB4FF"/>
            </a:solidFill>
            <a:prstDash val="solid"/>
          </a:ln>
        </p:spPr>
      </p:sp>
      <p:sp>
        <p:nvSpPr>
          <p:cNvPr id="18" name="card-43"/>
          <p:cNvSpPr/>
          <p:nvPr/>
        </p:nvSpPr>
        <p:spPr>
          <a:xfrm>
            <a:off x="6217920" y="3008376"/>
            <a:ext cx="5394960" cy="548640"/>
          </a:xfrm>
          <a:prstGeom prst="roundRect">
            <a:avLst>
              <a:gd name="adj" fmla="val 20000"/>
            </a:avLst>
          </a:prstGeom>
          <a:solidFill>
            <a:srgbClr val="EAF1FF"/>
          </a:solidFill>
          <a:ln w="12700">
            <a:solidFill>
              <a:srgbClr val="EAF1FF"/>
            </a:solidFill>
            <a:prstDash val="solid"/>
          </a:ln>
        </p:spPr>
      </p:sp>
      <p:sp>
        <p:nvSpPr>
          <p:cNvPr id="19" name="text-44"/>
          <p:cNvSpPr txBox="1"/>
          <p:nvPr/>
        </p:nvSpPr>
        <p:spPr>
          <a:xfrm>
            <a:off x="6355080" y="3008376"/>
            <a:ext cx="5212080" cy="548640"/>
          </a:xfrm>
          <a:prstGeom prst="rect">
            <a:avLst/>
          </a:prstGeom>
          <a:noFill/>
          <a:ln/>
        </p:spPr>
        <p:txBody>
          <a:bodyPr wrap="square" lIns="1016" tIns="1016" rIns="1016" bIns="1016" rtlCol="0" anchor="ctr"/>
          <a:lstStyle/>
          <a:p>
            <a:pPr marL="0" indent="0">
              <a:buNone/>
            </a:pPr>
            <a:r>
              <a:rPr lang="en-US" sz="1500" dirty="0">
                <a:solidFill>
                  <a:schemeClr val="tx1"/>
                </a:solidFill>
                <a:latin typeface="Calibri" pitchFamily="34" charset="0"/>
                <a:ea typeface="Calibri" pitchFamily="34" charset="-122"/>
                <a:cs typeface="Calibri" pitchFamily="34" charset="-120"/>
              </a:rPr>
              <a:t>M06 Billing: 10% loyalty, CGST 2.5%, SGST 2.5% calculated automatically</a:t>
            </a:r>
            <a:endParaRPr lang="en-US" sz="1500" dirty="0"/>
          </a:p>
        </p:txBody>
      </p:sp>
      <p:sp>
        <p:nvSpPr>
          <p:cNvPr id="20" name="card-45"/>
          <p:cNvSpPr/>
          <p:nvPr/>
        </p:nvSpPr>
        <p:spPr>
          <a:xfrm>
            <a:off x="548640" y="3666744"/>
            <a:ext cx="5120640" cy="548640"/>
          </a:xfrm>
          <a:prstGeom prst="roundRect">
            <a:avLst>
              <a:gd name="adj" fmla="val 20000"/>
            </a:avLst>
          </a:prstGeom>
          <a:solidFill>
            <a:srgbClr val="F3EEFF"/>
          </a:solidFill>
          <a:ln w="12700">
            <a:solidFill>
              <a:srgbClr val="F3EEFF"/>
            </a:solidFill>
            <a:prstDash val="solid"/>
          </a:ln>
        </p:spPr>
      </p:sp>
      <p:sp>
        <p:nvSpPr>
          <p:cNvPr id="21" name="text-46"/>
          <p:cNvSpPr txBox="1"/>
          <p:nvPr/>
        </p:nvSpPr>
        <p:spPr>
          <a:xfrm>
            <a:off x="685800" y="3666744"/>
            <a:ext cx="4937760" cy="548640"/>
          </a:xfrm>
          <a:prstGeom prst="rect">
            <a:avLst/>
          </a:prstGeom>
          <a:noFill/>
          <a:ln/>
        </p:spPr>
        <p:txBody>
          <a:bodyPr wrap="square" lIns="1016" tIns="1016" rIns="1016" bIns="1016" rtlCol="0" anchor="ctr"/>
          <a:lstStyle/>
          <a:p>
            <a:pPr marL="0" indent="0">
              <a:buNone/>
            </a:pPr>
            <a:r>
              <a:rPr lang="en-US" sz="1500" dirty="0">
                <a:solidFill>
                  <a:schemeClr val="tx1"/>
                </a:solidFill>
                <a:latin typeface="Calibri" pitchFamily="34" charset="0"/>
                <a:ea typeface="Calibri" pitchFamily="34" charset="-122"/>
                <a:cs typeface="Calibri" pitchFamily="34" charset="-120"/>
              </a:rPr>
              <a:t>Fake or mistyped bill numbers</a:t>
            </a:r>
            <a:endParaRPr lang="en-US" sz="1500" dirty="0"/>
          </a:p>
        </p:txBody>
      </p:sp>
      <p:sp>
        <p:nvSpPr>
          <p:cNvPr id="22" name="arrow-47"/>
          <p:cNvSpPr/>
          <p:nvPr/>
        </p:nvSpPr>
        <p:spPr>
          <a:xfrm>
            <a:off x="5760720" y="3822192"/>
            <a:ext cx="365760" cy="237744"/>
          </a:xfrm>
          <a:prstGeom prst="rightArrow">
            <a:avLst/>
          </a:prstGeom>
          <a:solidFill>
            <a:srgbClr val="8FB4FF"/>
          </a:solidFill>
          <a:ln w="12700">
            <a:solidFill>
              <a:srgbClr val="8FB4FF"/>
            </a:solidFill>
            <a:prstDash val="solid"/>
          </a:ln>
        </p:spPr>
      </p:sp>
      <p:sp>
        <p:nvSpPr>
          <p:cNvPr id="23" name="card-48"/>
          <p:cNvSpPr/>
          <p:nvPr/>
        </p:nvSpPr>
        <p:spPr>
          <a:xfrm>
            <a:off x="6217920" y="3666744"/>
            <a:ext cx="5394960" cy="548640"/>
          </a:xfrm>
          <a:prstGeom prst="roundRect">
            <a:avLst>
              <a:gd name="adj" fmla="val 20000"/>
            </a:avLst>
          </a:prstGeom>
          <a:solidFill>
            <a:srgbClr val="EAF1FF"/>
          </a:solidFill>
          <a:ln w="12700">
            <a:solidFill>
              <a:srgbClr val="EAF1FF"/>
            </a:solidFill>
            <a:prstDash val="solid"/>
          </a:ln>
        </p:spPr>
      </p:sp>
      <p:sp>
        <p:nvSpPr>
          <p:cNvPr id="24" name="text-49"/>
          <p:cNvSpPr txBox="1"/>
          <p:nvPr/>
        </p:nvSpPr>
        <p:spPr>
          <a:xfrm>
            <a:off x="6355080" y="3666744"/>
            <a:ext cx="5212080" cy="548640"/>
          </a:xfrm>
          <a:prstGeom prst="rect">
            <a:avLst/>
          </a:prstGeom>
          <a:noFill/>
          <a:ln/>
        </p:spPr>
        <p:txBody>
          <a:bodyPr wrap="square" lIns="1016" tIns="1016" rIns="1016" bIns="1016" rtlCol="0" anchor="ctr"/>
          <a:lstStyle/>
          <a:p>
            <a:pPr marL="0" indent="0">
              <a:buNone/>
            </a:pPr>
            <a:r>
              <a:rPr lang="en-US" sz="1500" dirty="0">
                <a:solidFill>
                  <a:schemeClr val="tx1"/>
                </a:solidFill>
                <a:latin typeface="Calibri" pitchFamily="34" charset="0"/>
                <a:ea typeface="Calibri" pitchFamily="34" charset="-122"/>
                <a:cs typeface="Calibri" pitchFamily="34" charset="-120"/>
              </a:rPr>
              <a:t>M12 Check digit: 2001-9 detects typing and swapped digits</a:t>
            </a:r>
            <a:endParaRPr lang="en-US" sz="1500" dirty="0"/>
          </a:p>
        </p:txBody>
      </p:sp>
      <p:sp>
        <p:nvSpPr>
          <p:cNvPr id="25" name="card-50"/>
          <p:cNvSpPr/>
          <p:nvPr/>
        </p:nvSpPr>
        <p:spPr>
          <a:xfrm>
            <a:off x="548640" y="4325112"/>
            <a:ext cx="5120640" cy="548640"/>
          </a:xfrm>
          <a:prstGeom prst="roundRect">
            <a:avLst>
              <a:gd name="adj" fmla="val 20000"/>
            </a:avLst>
          </a:prstGeom>
          <a:solidFill>
            <a:srgbClr val="F3EEFF"/>
          </a:solidFill>
          <a:ln w="12700">
            <a:solidFill>
              <a:srgbClr val="F3EEFF"/>
            </a:solidFill>
            <a:prstDash val="solid"/>
          </a:ln>
        </p:spPr>
      </p:sp>
      <p:sp>
        <p:nvSpPr>
          <p:cNvPr id="26" name="text-51"/>
          <p:cNvSpPr txBox="1"/>
          <p:nvPr/>
        </p:nvSpPr>
        <p:spPr>
          <a:xfrm>
            <a:off x="685800" y="4325112"/>
            <a:ext cx="4937760" cy="548640"/>
          </a:xfrm>
          <a:prstGeom prst="rect">
            <a:avLst/>
          </a:prstGeom>
          <a:noFill/>
          <a:ln/>
        </p:spPr>
        <p:txBody>
          <a:bodyPr wrap="square" lIns="1016" tIns="1016" rIns="1016" bIns="1016" rtlCol="0" anchor="ctr"/>
          <a:lstStyle/>
          <a:p>
            <a:pPr marL="0" indent="0">
              <a:buNone/>
            </a:pPr>
            <a:r>
              <a:rPr lang="en-US" sz="1500" dirty="0">
                <a:solidFill>
                  <a:schemeClr val="tx1"/>
                </a:solidFill>
                <a:latin typeface="Calibri" pitchFamily="34" charset="0"/>
                <a:ea typeface="Calibri" pitchFamily="34" charset="-122"/>
                <a:cs typeface="Calibri" pitchFamily="34" charset="-120"/>
              </a:rPr>
              <a:t>No record of regular customers</a:t>
            </a:r>
            <a:endParaRPr lang="en-US" sz="1500" dirty="0"/>
          </a:p>
        </p:txBody>
      </p:sp>
      <p:sp>
        <p:nvSpPr>
          <p:cNvPr id="27" name="arrow-52"/>
          <p:cNvSpPr/>
          <p:nvPr/>
        </p:nvSpPr>
        <p:spPr>
          <a:xfrm>
            <a:off x="5760720" y="4480560"/>
            <a:ext cx="365760" cy="237744"/>
          </a:xfrm>
          <a:prstGeom prst="rightArrow">
            <a:avLst/>
          </a:prstGeom>
          <a:solidFill>
            <a:srgbClr val="8FB4FF"/>
          </a:solidFill>
          <a:ln w="12700">
            <a:solidFill>
              <a:srgbClr val="8FB4FF"/>
            </a:solidFill>
            <a:prstDash val="solid"/>
          </a:ln>
        </p:spPr>
      </p:sp>
      <p:sp>
        <p:nvSpPr>
          <p:cNvPr id="28" name="card-53"/>
          <p:cNvSpPr/>
          <p:nvPr/>
        </p:nvSpPr>
        <p:spPr>
          <a:xfrm>
            <a:off x="6217920" y="4325112"/>
            <a:ext cx="5394960" cy="548640"/>
          </a:xfrm>
          <a:prstGeom prst="roundRect">
            <a:avLst>
              <a:gd name="adj" fmla="val 20000"/>
            </a:avLst>
          </a:prstGeom>
          <a:solidFill>
            <a:srgbClr val="EAF1FF"/>
          </a:solidFill>
          <a:ln w="12700">
            <a:solidFill>
              <a:srgbClr val="EAF1FF"/>
            </a:solidFill>
            <a:prstDash val="solid"/>
          </a:ln>
        </p:spPr>
      </p:sp>
      <p:sp>
        <p:nvSpPr>
          <p:cNvPr id="29" name="text-54"/>
          <p:cNvSpPr txBox="1"/>
          <p:nvPr/>
        </p:nvSpPr>
        <p:spPr>
          <a:xfrm>
            <a:off x="6355080" y="4325112"/>
            <a:ext cx="5212080" cy="548640"/>
          </a:xfrm>
          <a:prstGeom prst="rect">
            <a:avLst/>
          </a:prstGeom>
          <a:noFill/>
          <a:ln/>
        </p:spPr>
        <p:txBody>
          <a:bodyPr wrap="square" lIns="1016" tIns="1016" rIns="1016" bIns="1016" rtlCol="0" anchor="ctr"/>
          <a:lstStyle/>
          <a:p>
            <a:pPr marL="0" indent="0">
              <a:buNone/>
            </a:pPr>
            <a:r>
              <a:rPr lang="en-US" sz="1500" dirty="0">
                <a:solidFill>
                  <a:schemeClr val="tx1"/>
                </a:solidFill>
                <a:latin typeface="Calibri" pitchFamily="34" charset="0"/>
                <a:ea typeface="Calibri" pitchFamily="34" charset="-122"/>
                <a:cs typeface="Calibri" pitchFamily="34" charset="-120"/>
              </a:rPr>
              <a:t>M03 Profiles: visits, veg-only preference, top 3 favourites</a:t>
            </a:r>
            <a:endParaRPr lang="en-US" sz="1500" dirty="0"/>
          </a:p>
        </p:txBody>
      </p:sp>
      <p:sp>
        <p:nvSpPr>
          <p:cNvPr id="30" name="card-55"/>
          <p:cNvSpPr/>
          <p:nvPr/>
        </p:nvSpPr>
        <p:spPr>
          <a:xfrm>
            <a:off x="548640" y="4983480"/>
            <a:ext cx="5120640" cy="548640"/>
          </a:xfrm>
          <a:prstGeom prst="roundRect">
            <a:avLst>
              <a:gd name="adj" fmla="val 20000"/>
            </a:avLst>
          </a:prstGeom>
          <a:solidFill>
            <a:srgbClr val="F3EEFF"/>
          </a:solidFill>
          <a:ln w="12700">
            <a:solidFill>
              <a:srgbClr val="F3EEFF"/>
            </a:solidFill>
            <a:prstDash val="solid"/>
          </a:ln>
        </p:spPr>
      </p:sp>
      <p:sp>
        <p:nvSpPr>
          <p:cNvPr id="31" name="text-56"/>
          <p:cNvSpPr txBox="1"/>
          <p:nvPr/>
        </p:nvSpPr>
        <p:spPr>
          <a:xfrm>
            <a:off x="685800" y="4983480"/>
            <a:ext cx="4937760" cy="548640"/>
          </a:xfrm>
          <a:prstGeom prst="rect">
            <a:avLst/>
          </a:prstGeom>
          <a:noFill/>
          <a:ln/>
        </p:spPr>
        <p:txBody>
          <a:bodyPr wrap="square" lIns="1016" tIns="1016" rIns="1016" bIns="1016" rtlCol="0" anchor="ctr"/>
          <a:lstStyle/>
          <a:p>
            <a:pPr marL="0" indent="0">
              <a:buNone/>
            </a:pPr>
            <a:r>
              <a:rPr lang="en-US" sz="1500" dirty="0">
                <a:solidFill>
                  <a:schemeClr val="tx1"/>
                </a:solidFill>
                <a:latin typeface="Calibri" pitchFamily="34" charset="0"/>
                <a:ea typeface="Calibri" pitchFamily="34" charset="-122"/>
                <a:cs typeface="Calibri" pitchFamily="34" charset="-120"/>
              </a:rPr>
              <a:t>Kitchen hazards noticed late</a:t>
            </a:r>
            <a:endParaRPr lang="en-US" sz="1500" dirty="0"/>
          </a:p>
        </p:txBody>
      </p:sp>
      <p:sp>
        <p:nvSpPr>
          <p:cNvPr id="32" name="arrow-57"/>
          <p:cNvSpPr/>
          <p:nvPr/>
        </p:nvSpPr>
        <p:spPr>
          <a:xfrm>
            <a:off x="5760720" y="5138928"/>
            <a:ext cx="365760" cy="237744"/>
          </a:xfrm>
          <a:prstGeom prst="rightArrow">
            <a:avLst/>
          </a:prstGeom>
          <a:solidFill>
            <a:srgbClr val="8FB4FF"/>
          </a:solidFill>
          <a:ln w="12700">
            <a:solidFill>
              <a:srgbClr val="8FB4FF"/>
            </a:solidFill>
            <a:prstDash val="solid"/>
          </a:ln>
        </p:spPr>
      </p:sp>
      <p:sp>
        <p:nvSpPr>
          <p:cNvPr id="33" name="card-58"/>
          <p:cNvSpPr/>
          <p:nvPr/>
        </p:nvSpPr>
        <p:spPr>
          <a:xfrm>
            <a:off x="6217920" y="4983480"/>
            <a:ext cx="5394960" cy="548640"/>
          </a:xfrm>
          <a:prstGeom prst="roundRect">
            <a:avLst>
              <a:gd name="adj" fmla="val 20000"/>
            </a:avLst>
          </a:prstGeom>
          <a:solidFill>
            <a:srgbClr val="EAF1FF"/>
          </a:solidFill>
          <a:ln w="12700">
            <a:solidFill>
              <a:srgbClr val="EAF1FF"/>
            </a:solidFill>
            <a:prstDash val="solid"/>
          </a:ln>
        </p:spPr>
      </p:sp>
      <p:sp>
        <p:nvSpPr>
          <p:cNvPr id="34" name="text-59"/>
          <p:cNvSpPr txBox="1"/>
          <p:nvPr/>
        </p:nvSpPr>
        <p:spPr>
          <a:xfrm>
            <a:off x="6355080" y="4983480"/>
            <a:ext cx="5212080" cy="548640"/>
          </a:xfrm>
          <a:prstGeom prst="rect">
            <a:avLst/>
          </a:prstGeom>
          <a:noFill/>
          <a:ln/>
        </p:spPr>
        <p:txBody>
          <a:bodyPr wrap="square" lIns="1016" tIns="1016" rIns="1016" bIns="1016" rtlCol="0" anchor="ctr"/>
          <a:lstStyle/>
          <a:p>
            <a:pPr marL="0" indent="0">
              <a:buNone/>
            </a:pPr>
            <a:r>
              <a:rPr lang="en-US" sz="1500" dirty="0">
                <a:solidFill>
                  <a:schemeClr val="tx1"/>
                </a:solidFill>
                <a:latin typeface="Calibri" pitchFamily="34" charset="0"/>
                <a:ea typeface="Calibri" pitchFamily="34" charset="-122"/>
                <a:cs typeface="Calibri" pitchFamily="34" charset="-120"/>
              </a:rPr>
              <a:t>M10 Sensors (simulated): temperature, gas, smoke, humidity alerts</a:t>
            </a:r>
            <a:endParaRPr lang="en-US" sz="1500" dirty="0"/>
          </a:p>
        </p:txBody>
      </p:sp>
      <p:sp>
        <p:nvSpPr>
          <p:cNvPr id="35" name="card-60"/>
          <p:cNvSpPr/>
          <p:nvPr/>
        </p:nvSpPr>
        <p:spPr>
          <a:xfrm>
            <a:off x="548640" y="5641848"/>
            <a:ext cx="5120640" cy="548640"/>
          </a:xfrm>
          <a:prstGeom prst="roundRect">
            <a:avLst>
              <a:gd name="adj" fmla="val 20000"/>
            </a:avLst>
          </a:prstGeom>
          <a:solidFill>
            <a:srgbClr val="F3EEFF"/>
          </a:solidFill>
          <a:ln w="12700">
            <a:solidFill>
              <a:srgbClr val="F3EEFF"/>
            </a:solidFill>
            <a:prstDash val="solid"/>
          </a:ln>
        </p:spPr>
      </p:sp>
      <p:sp>
        <p:nvSpPr>
          <p:cNvPr id="36" name="text-61"/>
          <p:cNvSpPr txBox="1"/>
          <p:nvPr/>
        </p:nvSpPr>
        <p:spPr>
          <a:xfrm>
            <a:off x="685800" y="5641848"/>
            <a:ext cx="4937760" cy="548640"/>
          </a:xfrm>
          <a:prstGeom prst="rect">
            <a:avLst/>
          </a:prstGeom>
          <a:noFill/>
          <a:ln/>
        </p:spPr>
        <p:txBody>
          <a:bodyPr wrap="square" lIns="1016" tIns="1016" rIns="1016" bIns="1016" rtlCol="0" anchor="ctr"/>
          <a:lstStyle/>
          <a:p>
            <a:pPr marL="0" indent="0">
              <a:buNone/>
            </a:pPr>
            <a:r>
              <a:rPr lang="en-US" sz="1500" dirty="0">
                <a:solidFill>
                  <a:schemeClr val="tx1"/>
                </a:solidFill>
                <a:latin typeface="Calibri" pitchFamily="34" charset="0"/>
                <a:ea typeface="Calibri" pitchFamily="34" charset="-122"/>
                <a:cs typeface="Calibri" pitchFamily="34" charset="-120"/>
              </a:rPr>
              <a:t>No view of sales and running costs</a:t>
            </a:r>
            <a:endParaRPr lang="en-US" sz="1500" dirty="0"/>
          </a:p>
        </p:txBody>
      </p:sp>
      <p:sp>
        <p:nvSpPr>
          <p:cNvPr id="37" name="arrow-62"/>
          <p:cNvSpPr/>
          <p:nvPr/>
        </p:nvSpPr>
        <p:spPr>
          <a:xfrm>
            <a:off x="5760720" y="5797296"/>
            <a:ext cx="365760" cy="237744"/>
          </a:xfrm>
          <a:prstGeom prst="rightArrow">
            <a:avLst/>
          </a:prstGeom>
          <a:solidFill>
            <a:srgbClr val="8FB4FF"/>
          </a:solidFill>
          <a:ln w="12700">
            <a:solidFill>
              <a:srgbClr val="8FB4FF"/>
            </a:solidFill>
            <a:prstDash val="solid"/>
          </a:ln>
        </p:spPr>
      </p:sp>
      <p:sp>
        <p:nvSpPr>
          <p:cNvPr id="38" name="card-63"/>
          <p:cNvSpPr/>
          <p:nvPr/>
        </p:nvSpPr>
        <p:spPr>
          <a:xfrm>
            <a:off x="6217920" y="5641848"/>
            <a:ext cx="5394960" cy="548640"/>
          </a:xfrm>
          <a:prstGeom prst="roundRect">
            <a:avLst>
              <a:gd name="adj" fmla="val 20000"/>
            </a:avLst>
          </a:prstGeom>
          <a:solidFill>
            <a:srgbClr val="EAF1FF"/>
          </a:solidFill>
          <a:ln w="12700">
            <a:solidFill>
              <a:srgbClr val="EAF1FF"/>
            </a:solidFill>
            <a:prstDash val="solid"/>
          </a:ln>
        </p:spPr>
      </p:sp>
      <p:sp>
        <p:nvSpPr>
          <p:cNvPr id="39" name="text-64"/>
          <p:cNvSpPr txBox="1"/>
          <p:nvPr/>
        </p:nvSpPr>
        <p:spPr>
          <a:xfrm>
            <a:off x="6355080" y="5641848"/>
            <a:ext cx="5212080" cy="548640"/>
          </a:xfrm>
          <a:prstGeom prst="rect">
            <a:avLst/>
          </a:prstGeom>
          <a:noFill/>
          <a:ln/>
        </p:spPr>
        <p:txBody>
          <a:bodyPr wrap="square" lIns="1016" tIns="1016" rIns="1016" bIns="1016" rtlCol="0" anchor="ctr"/>
          <a:lstStyle/>
          <a:p>
            <a:pPr marL="0" indent="0">
              <a:buNone/>
            </a:pPr>
            <a:r>
              <a:rPr lang="en-US" sz="1500" dirty="0">
                <a:solidFill>
                  <a:schemeClr val="tx1"/>
                </a:solidFill>
                <a:latin typeface="Calibri" pitchFamily="34" charset="0"/>
                <a:ea typeface="Calibri" pitchFamily="34" charset="-122"/>
                <a:cs typeface="Calibri" pitchFamily="34" charset="-120"/>
              </a:rPr>
              <a:t>M08 Reports + M13 Energy meter: revenue, dishes, ratings, kWh, cost</a:t>
            </a:r>
            <a:endParaRPr lang="en-US" sz="1500" dirty="0"/>
          </a:p>
        </p:txBody>
      </p:sp>
      <p:sp>
        <p:nvSpPr>
          <p:cNvPr id="40"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buNone/>
            </a:pPr>
            <a:r>
              <a:rPr lang="en-US" sz="3400" b="1" dirty="0">
                <a:solidFill>
                  <a:schemeClr val="tx1"/>
                </a:solidFill>
                <a:latin typeface="Arial" pitchFamily="34" charset="0"/>
                <a:ea typeface="Arial" pitchFamily="34" charset="-122"/>
                <a:cs typeface="Arial" pitchFamily="34" charset="-120"/>
              </a:rPr>
              <a:t>System architecture</a:t>
            </a:r>
            <a:endParaRPr lang="en-US" sz="3400" dirty="0"/>
          </a:p>
        </p:txBody>
      </p:sp>
      <p:sp>
        <p:nvSpPr>
          <p:cNvPr id="3" name="card-80"/>
          <p:cNvSpPr/>
          <p:nvPr/>
        </p:nvSpPr>
        <p:spPr>
          <a:xfrm>
            <a:off x="548640" y="1325880"/>
            <a:ext cx="11064240" cy="731520"/>
          </a:xfrm>
          <a:prstGeom prst="roundRect">
            <a:avLst>
              <a:gd name="adj" fmla="val 15000"/>
            </a:avLst>
          </a:prstGeom>
          <a:solidFill>
            <a:srgbClr val="0B1437"/>
          </a:solidFill>
          <a:ln w="12700">
            <a:solidFill>
              <a:srgbClr val="0B1437"/>
            </a:solidFill>
            <a:prstDash val="solid"/>
          </a:ln>
        </p:spPr>
      </p:sp>
      <p:sp>
        <p:nvSpPr>
          <p:cNvPr id="4" name="text-81"/>
          <p:cNvSpPr txBox="1"/>
          <p:nvPr/>
        </p:nvSpPr>
        <p:spPr>
          <a:xfrm>
            <a:off x="731520" y="1325880"/>
            <a:ext cx="10698480" cy="731520"/>
          </a:xfrm>
          <a:prstGeom prst="rect">
            <a:avLst/>
          </a:prstGeom>
          <a:noFill/>
          <a:ln/>
        </p:spPr>
        <p:txBody>
          <a:bodyPr wrap="square" lIns="1016" tIns="1016" rIns="1016" bIns="1016" rtlCol="0" anchor="ctr"/>
          <a:lstStyle/>
          <a:p>
            <a:pPr marL="0" indent="0" algn="ctr">
              <a:buNone/>
            </a:pPr>
            <a:r>
              <a:rPr lang="en-US" sz="1700" b="1" dirty="0">
                <a:solidFill>
                  <a:schemeClr val="bg1"/>
                </a:solidFill>
                <a:latin typeface="Calibri" pitchFamily="34" charset="0"/>
                <a:ea typeface="Calibri" pitchFamily="34" charset="-122"/>
                <a:cs typeface="Calibri" pitchFamily="34" charset="-120"/>
              </a:rPr>
              <a:t>Console user interface  —  Main (role menus)  +  InputHelper (one Scanner, safe input)</a:t>
            </a:r>
            <a:endParaRPr lang="en-US" sz="1700" dirty="0"/>
          </a:p>
        </p:txBody>
      </p:sp>
      <p:sp>
        <p:nvSpPr>
          <p:cNvPr id="5" name="card-82"/>
          <p:cNvSpPr/>
          <p:nvPr/>
        </p:nvSpPr>
        <p:spPr>
          <a:xfrm>
            <a:off x="548640" y="2514600"/>
            <a:ext cx="2651760" cy="1600200"/>
          </a:xfrm>
          <a:prstGeom prst="roundRect">
            <a:avLst>
              <a:gd name="adj" fmla="val 6857"/>
            </a:avLst>
          </a:prstGeom>
          <a:solidFill>
            <a:srgbClr val="2952E3"/>
          </a:solidFill>
          <a:ln w="12700">
            <a:solidFill>
              <a:srgbClr val="2952E3"/>
            </a:solidFill>
            <a:prstDash val="solid"/>
          </a:ln>
        </p:spPr>
      </p:sp>
      <p:sp>
        <p:nvSpPr>
          <p:cNvPr id="6" name="text-83"/>
          <p:cNvSpPr txBox="1"/>
          <p:nvPr/>
        </p:nvSpPr>
        <p:spPr>
          <a:xfrm>
            <a:off x="685800" y="2606040"/>
            <a:ext cx="2377440" cy="320040"/>
          </a:xfrm>
          <a:prstGeom prst="rect">
            <a:avLst/>
          </a:prstGeom>
          <a:noFill/>
          <a:ln/>
        </p:spPr>
        <p:txBody>
          <a:bodyPr wrap="square" lIns="1016" tIns="1016" rIns="1016" bIns="1016" rtlCol="0" anchor="ctr"/>
          <a:lstStyle/>
          <a:p>
            <a:pPr marL="0" indent="0">
              <a:buNone/>
            </a:pPr>
            <a:r>
              <a:rPr lang="en-US" sz="1300" b="1" dirty="0">
                <a:solidFill>
                  <a:schemeClr val="bg1"/>
                </a:solidFill>
                <a:latin typeface="Calibri" pitchFamily="34" charset="0"/>
                <a:ea typeface="Calibri" pitchFamily="34" charset="-122"/>
                <a:cs typeface="Calibri" pitchFamily="34" charset="-120"/>
              </a:rPr>
              <a:t>Cluster A</a:t>
            </a:r>
            <a:endParaRPr lang="en-US" sz="1300" dirty="0"/>
          </a:p>
        </p:txBody>
      </p:sp>
      <p:sp>
        <p:nvSpPr>
          <p:cNvPr id="7" name="text-84"/>
          <p:cNvSpPr txBox="1"/>
          <p:nvPr/>
        </p:nvSpPr>
        <p:spPr>
          <a:xfrm>
            <a:off x="685800" y="2926080"/>
            <a:ext cx="2377440" cy="457200"/>
          </a:xfrm>
          <a:prstGeom prst="rect">
            <a:avLst/>
          </a:prstGeom>
          <a:noFill/>
          <a:ln/>
        </p:spPr>
        <p:txBody>
          <a:bodyPr wrap="square" lIns="1016" tIns="1016" rIns="1016" bIns="1016" rtlCol="0" anchor="ctr"/>
          <a:lstStyle/>
          <a:p>
            <a:pPr marL="0" indent="0">
              <a:buNone/>
            </a:pPr>
            <a:r>
              <a:rPr lang="en-US" sz="1600" b="1" dirty="0">
                <a:solidFill>
                  <a:schemeClr val="bg1"/>
                </a:solidFill>
                <a:latin typeface="Arial" pitchFamily="34" charset="0"/>
                <a:ea typeface="Arial" pitchFamily="34" charset="-122"/>
                <a:cs typeface="Arial" pitchFamily="34" charset="-120"/>
              </a:rPr>
              <a:t>RestaurantSetup</a:t>
            </a:r>
            <a:endParaRPr lang="en-US" sz="1600" dirty="0"/>
          </a:p>
        </p:txBody>
      </p:sp>
      <p:sp>
        <p:nvSpPr>
          <p:cNvPr id="8" name="text-85"/>
          <p:cNvSpPr txBox="1"/>
          <p:nvPr/>
        </p:nvSpPr>
        <p:spPr>
          <a:xfrm>
            <a:off x="685800" y="3383280"/>
            <a:ext cx="2377440" cy="640080"/>
          </a:xfrm>
          <a:prstGeom prst="rect">
            <a:avLst/>
          </a:prstGeom>
          <a:noFill/>
          <a:ln/>
        </p:spPr>
        <p:txBody>
          <a:bodyPr wrap="square" lIns="1016" tIns="1016" rIns="1016" bIns="1016" rtlCol="0" anchor="t"/>
          <a:lstStyle/>
          <a:p>
            <a:pPr marL="0" indent="0">
              <a:buNone/>
            </a:pPr>
            <a:r>
              <a:rPr lang="en-US" sz="1300" dirty="0">
                <a:solidFill>
                  <a:schemeClr val="bg1"/>
                </a:solidFill>
                <a:latin typeface="Calibri" pitchFamily="34" charset="0"/>
                <a:ea typeface="Calibri" pitchFamily="34" charset="-122"/>
                <a:cs typeface="Calibri" pitchFamily="34" charset="-120"/>
              </a:rPr>
              <a:t>Login · Menu · Customers · Tables</a:t>
            </a:r>
            <a:endParaRPr lang="en-US" sz="1300" dirty="0"/>
          </a:p>
        </p:txBody>
      </p:sp>
      <p:sp>
        <p:nvSpPr>
          <p:cNvPr id="9" name="card-86"/>
          <p:cNvSpPr/>
          <p:nvPr/>
        </p:nvSpPr>
        <p:spPr>
          <a:xfrm>
            <a:off x="3364992" y="2514600"/>
            <a:ext cx="2651760" cy="1600200"/>
          </a:xfrm>
          <a:prstGeom prst="roundRect">
            <a:avLst>
              <a:gd name="adj" fmla="val 6857"/>
            </a:avLst>
          </a:prstGeom>
          <a:solidFill>
            <a:srgbClr val="0597B8"/>
          </a:solidFill>
          <a:ln w="12700">
            <a:solidFill>
              <a:srgbClr val="0597B8"/>
            </a:solidFill>
            <a:prstDash val="solid"/>
          </a:ln>
        </p:spPr>
      </p:sp>
      <p:sp>
        <p:nvSpPr>
          <p:cNvPr id="10" name="text-87"/>
          <p:cNvSpPr txBox="1"/>
          <p:nvPr/>
        </p:nvSpPr>
        <p:spPr>
          <a:xfrm>
            <a:off x="3502152" y="2606040"/>
            <a:ext cx="2377440" cy="320040"/>
          </a:xfrm>
          <a:prstGeom prst="rect">
            <a:avLst/>
          </a:prstGeom>
          <a:noFill/>
          <a:ln/>
        </p:spPr>
        <p:txBody>
          <a:bodyPr wrap="square" lIns="1016" tIns="1016" rIns="1016" bIns="1016" rtlCol="0" anchor="ctr"/>
          <a:lstStyle/>
          <a:p>
            <a:pPr marL="0" indent="0">
              <a:buNone/>
            </a:pPr>
            <a:r>
              <a:rPr lang="en-US" sz="1300" b="1" dirty="0">
                <a:solidFill>
                  <a:schemeClr val="bg1"/>
                </a:solidFill>
                <a:latin typeface="Calibri" pitchFamily="34" charset="0"/>
                <a:ea typeface="Calibri" pitchFamily="34" charset="-122"/>
                <a:cs typeface="Calibri" pitchFamily="34" charset="-120"/>
              </a:rPr>
              <a:t>Cluster B</a:t>
            </a:r>
            <a:endParaRPr lang="en-US" sz="1300" dirty="0"/>
          </a:p>
        </p:txBody>
      </p:sp>
      <p:sp>
        <p:nvSpPr>
          <p:cNvPr id="11" name="text-88"/>
          <p:cNvSpPr txBox="1"/>
          <p:nvPr/>
        </p:nvSpPr>
        <p:spPr>
          <a:xfrm>
            <a:off x="3502152" y="2926080"/>
            <a:ext cx="2377440" cy="457200"/>
          </a:xfrm>
          <a:prstGeom prst="rect">
            <a:avLst/>
          </a:prstGeom>
          <a:noFill/>
          <a:ln/>
        </p:spPr>
        <p:txBody>
          <a:bodyPr wrap="square" lIns="1016" tIns="1016" rIns="1016" bIns="1016" rtlCol="0" anchor="ctr"/>
          <a:lstStyle/>
          <a:p>
            <a:pPr marL="0" indent="0">
              <a:buNone/>
            </a:pPr>
            <a:r>
              <a:rPr lang="en-US" sz="1600" b="1" dirty="0">
                <a:solidFill>
                  <a:schemeClr val="bg1"/>
                </a:solidFill>
                <a:latin typeface="Arial" pitchFamily="34" charset="0"/>
                <a:ea typeface="Arial" pitchFamily="34" charset="-122"/>
                <a:cs typeface="Arial" pitchFamily="34" charset="-120"/>
              </a:rPr>
              <a:t>OrderKitchen</a:t>
            </a:r>
            <a:endParaRPr lang="en-US" sz="1600" dirty="0"/>
          </a:p>
        </p:txBody>
      </p:sp>
      <p:sp>
        <p:nvSpPr>
          <p:cNvPr id="12" name="text-89"/>
          <p:cNvSpPr txBox="1"/>
          <p:nvPr/>
        </p:nvSpPr>
        <p:spPr>
          <a:xfrm>
            <a:off x="3502152" y="3383280"/>
            <a:ext cx="2377440" cy="640080"/>
          </a:xfrm>
          <a:prstGeom prst="rect">
            <a:avLst/>
          </a:prstGeom>
          <a:noFill/>
          <a:ln/>
        </p:spPr>
        <p:txBody>
          <a:bodyPr wrap="square" lIns="1016" tIns="1016" rIns="1016" bIns="1016" rtlCol="0" anchor="t"/>
          <a:lstStyle/>
          <a:p>
            <a:pPr marL="0" indent="0">
              <a:buNone/>
            </a:pPr>
            <a:r>
              <a:rPr lang="en-US" sz="1300" dirty="0">
                <a:solidFill>
                  <a:schemeClr val="bg1"/>
                </a:solidFill>
                <a:latin typeface="Calibri" pitchFamily="34" charset="0"/>
                <a:ea typeface="Calibri" pitchFamily="34" charset="-122"/>
                <a:cs typeface="Calibri" pitchFamily="34" charset="-120"/>
              </a:rPr>
              <a:t>Orders · Kitchen queue · Token</a:t>
            </a:r>
            <a:endParaRPr lang="en-US" sz="1300" dirty="0"/>
          </a:p>
        </p:txBody>
      </p:sp>
      <p:sp>
        <p:nvSpPr>
          <p:cNvPr id="13" name="card-90"/>
          <p:cNvSpPr/>
          <p:nvPr/>
        </p:nvSpPr>
        <p:spPr>
          <a:xfrm>
            <a:off x="6181344" y="2514600"/>
            <a:ext cx="2651760" cy="1600200"/>
          </a:xfrm>
          <a:prstGeom prst="roundRect">
            <a:avLst>
              <a:gd name="adj" fmla="val 6857"/>
            </a:avLst>
          </a:prstGeom>
          <a:solidFill>
            <a:srgbClr val="6E45CF"/>
          </a:solidFill>
          <a:ln w="12700">
            <a:solidFill>
              <a:srgbClr val="6E45CF"/>
            </a:solidFill>
            <a:prstDash val="solid"/>
          </a:ln>
        </p:spPr>
      </p:sp>
      <p:sp>
        <p:nvSpPr>
          <p:cNvPr id="14" name="text-91"/>
          <p:cNvSpPr txBox="1"/>
          <p:nvPr/>
        </p:nvSpPr>
        <p:spPr>
          <a:xfrm>
            <a:off x="6318504" y="2606040"/>
            <a:ext cx="2377440" cy="320040"/>
          </a:xfrm>
          <a:prstGeom prst="rect">
            <a:avLst/>
          </a:prstGeom>
          <a:noFill/>
          <a:ln/>
        </p:spPr>
        <p:txBody>
          <a:bodyPr wrap="square" lIns="1016" tIns="1016" rIns="1016" bIns="1016" rtlCol="0" anchor="ctr"/>
          <a:lstStyle/>
          <a:p>
            <a:pPr marL="0" indent="0">
              <a:buNone/>
            </a:pPr>
            <a:r>
              <a:rPr lang="en-US" sz="1300" b="1" dirty="0">
                <a:solidFill>
                  <a:schemeClr val="bg1"/>
                </a:solidFill>
                <a:latin typeface="Calibri" pitchFamily="34" charset="0"/>
                <a:ea typeface="Calibri" pitchFamily="34" charset="-122"/>
                <a:cs typeface="Calibri" pitchFamily="34" charset="-120"/>
              </a:rPr>
              <a:t>Cluster C</a:t>
            </a:r>
            <a:endParaRPr lang="en-US" sz="1300" dirty="0"/>
          </a:p>
        </p:txBody>
      </p:sp>
      <p:sp>
        <p:nvSpPr>
          <p:cNvPr id="15" name="text-92"/>
          <p:cNvSpPr txBox="1"/>
          <p:nvPr/>
        </p:nvSpPr>
        <p:spPr>
          <a:xfrm>
            <a:off x="6318504" y="2926080"/>
            <a:ext cx="2377440" cy="457200"/>
          </a:xfrm>
          <a:prstGeom prst="rect">
            <a:avLst/>
          </a:prstGeom>
          <a:noFill/>
          <a:ln/>
        </p:spPr>
        <p:txBody>
          <a:bodyPr wrap="square" lIns="1016" tIns="1016" rIns="1016" bIns="1016" rtlCol="0" anchor="ctr"/>
          <a:lstStyle/>
          <a:p>
            <a:pPr marL="0" indent="0">
              <a:buNone/>
            </a:pPr>
            <a:r>
              <a:rPr lang="en-US" sz="1600" b="1" dirty="0">
                <a:solidFill>
                  <a:schemeClr val="bg1"/>
                </a:solidFill>
                <a:latin typeface="Arial" pitchFamily="34" charset="0"/>
                <a:ea typeface="Arial" pitchFamily="34" charset="-122"/>
                <a:cs typeface="Arial" pitchFamily="34" charset="-120"/>
              </a:rPr>
              <a:t>BillingFeedbackReports</a:t>
            </a:r>
            <a:endParaRPr lang="en-US" sz="1600" dirty="0"/>
          </a:p>
        </p:txBody>
      </p:sp>
      <p:sp>
        <p:nvSpPr>
          <p:cNvPr id="16" name="text-93"/>
          <p:cNvSpPr txBox="1"/>
          <p:nvPr/>
        </p:nvSpPr>
        <p:spPr>
          <a:xfrm>
            <a:off x="6318504" y="3383280"/>
            <a:ext cx="2377440" cy="640080"/>
          </a:xfrm>
          <a:prstGeom prst="rect">
            <a:avLst/>
          </a:prstGeom>
          <a:noFill/>
          <a:ln/>
        </p:spPr>
        <p:txBody>
          <a:bodyPr wrap="square" lIns="1016" tIns="1016" rIns="1016" bIns="1016" rtlCol="0" anchor="t"/>
          <a:lstStyle/>
          <a:p>
            <a:pPr marL="0" indent="0">
              <a:buNone/>
            </a:pPr>
            <a:r>
              <a:rPr lang="en-US" sz="1300" dirty="0">
                <a:solidFill>
                  <a:schemeClr val="bg1"/>
                </a:solidFill>
                <a:latin typeface="Calibri" pitchFamily="34" charset="0"/>
                <a:ea typeface="Calibri" pitchFamily="34" charset="-122"/>
                <a:cs typeface="Calibri" pitchFamily="34" charset="-120"/>
              </a:rPr>
              <a:t>Bills · Check digit · Feedback · Reports</a:t>
            </a:r>
            <a:endParaRPr lang="en-US" sz="1300" dirty="0"/>
          </a:p>
        </p:txBody>
      </p:sp>
      <p:sp>
        <p:nvSpPr>
          <p:cNvPr id="17" name="card-94"/>
          <p:cNvSpPr/>
          <p:nvPr/>
        </p:nvSpPr>
        <p:spPr>
          <a:xfrm>
            <a:off x="8997696" y="2514600"/>
            <a:ext cx="2651760" cy="1600200"/>
          </a:xfrm>
          <a:prstGeom prst="roundRect">
            <a:avLst>
              <a:gd name="adj" fmla="val 6857"/>
            </a:avLst>
          </a:prstGeom>
          <a:solidFill>
            <a:srgbClr val="1B2A6B"/>
          </a:solidFill>
          <a:ln w="12700">
            <a:solidFill>
              <a:srgbClr val="1B2A6B"/>
            </a:solidFill>
            <a:prstDash val="solid"/>
          </a:ln>
        </p:spPr>
      </p:sp>
      <p:sp>
        <p:nvSpPr>
          <p:cNvPr id="18" name="text-95"/>
          <p:cNvSpPr txBox="1"/>
          <p:nvPr/>
        </p:nvSpPr>
        <p:spPr>
          <a:xfrm>
            <a:off x="9134856" y="2606040"/>
            <a:ext cx="2377440" cy="320040"/>
          </a:xfrm>
          <a:prstGeom prst="rect">
            <a:avLst/>
          </a:prstGeom>
          <a:noFill/>
          <a:ln/>
        </p:spPr>
        <p:txBody>
          <a:bodyPr wrap="square" lIns="1016" tIns="1016" rIns="1016" bIns="1016" rtlCol="0" anchor="ctr"/>
          <a:lstStyle/>
          <a:p>
            <a:pPr marL="0" indent="0">
              <a:buNone/>
            </a:pPr>
            <a:r>
              <a:rPr lang="en-US" sz="1300" b="1" dirty="0">
                <a:solidFill>
                  <a:schemeClr val="bg1"/>
                </a:solidFill>
                <a:latin typeface="Calibri" pitchFamily="34" charset="0"/>
                <a:ea typeface="Calibri" pitchFamily="34" charset="-122"/>
                <a:cs typeface="Calibri" pitchFamily="34" charset="-120"/>
              </a:rPr>
              <a:t>Cluster D</a:t>
            </a:r>
            <a:endParaRPr lang="en-US" sz="1300" dirty="0"/>
          </a:p>
        </p:txBody>
      </p:sp>
      <p:sp>
        <p:nvSpPr>
          <p:cNvPr id="19" name="text-96"/>
          <p:cNvSpPr txBox="1"/>
          <p:nvPr/>
        </p:nvSpPr>
        <p:spPr>
          <a:xfrm>
            <a:off x="9134856" y="2926080"/>
            <a:ext cx="2377440" cy="457200"/>
          </a:xfrm>
          <a:prstGeom prst="rect">
            <a:avLst/>
          </a:prstGeom>
          <a:noFill/>
          <a:ln/>
        </p:spPr>
        <p:txBody>
          <a:bodyPr wrap="square" lIns="1016" tIns="1016" rIns="1016" bIns="1016" rtlCol="0" anchor="ctr"/>
          <a:lstStyle/>
          <a:p>
            <a:pPr marL="0" indent="0">
              <a:buNone/>
            </a:pPr>
            <a:r>
              <a:rPr lang="en-US" sz="1600" b="1" dirty="0">
                <a:solidFill>
                  <a:schemeClr val="bg1"/>
                </a:solidFill>
                <a:latin typeface="Arial" pitchFamily="34" charset="0"/>
                <a:ea typeface="Arial" pitchFamily="34" charset="-122"/>
                <a:cs typeface="Arial" pitchFamily="34" charset="-120"/>
              </a:rPr>
              <a:t>SmartMonitoring</a:t>
            </a:r>
            <a:endParaRPr lang="en-US" sz="1600" dirty="0"/>
          </a:p>
        </p:txBody>
      </p:sp>
      <p:sp>
        <p:nvSpPr>
          <p:cNvPr id="20" name="text-97"/>
          <p:cNvSpPr txBox="1"/>
          <p:nvPr/>
        </p:nvSpPr>
        <p:spPr>
          <a:xfrm>
            <a:off x="9134856" y="3383280"/>
            <a:ext cx="2377440" cy="640080"/>
          </a:xfrm>
          <a:prstGeom prst="rect">
            <a:avLst/>
          </a:prstGeom>
          <a:noFill/>
          <a:ln/>
        </p:spPr>
        <p:txBody>
          <a:bodyPr wrap="square" lIns="1016" tIns="1016" rIns="1016" bIns="1016" rtlCol="0" anchor="t"/>
          <a:lstStyle/>
          <a:p>
            <a:pPr marL="0" indent="0">
              <a:buNone/>
            </a:pPr>
            <a:r>
              <a:rPr lang="en-US" sz="1300" dirty="0">
                <a:solidFill>
                  <a:schemeClr val="bg1"/>
                </a:solidFill>
                <a:latin typeface="Calibri" pitchFamily="34" charset="0"/>
                <a:ea typeface="Calibri" pitchFamily="34" charset="-122"/>
                <a:cs typeface="Calibri" pitchFamily="34" charset="-120"/>
              </a:rPr>
              <a:t>Sensors (simulated) · Energy meter</a:t>
            </a:r>
            <a:endParaRPr lang="en-US" sz="1300" dirty="0"/>
          </a:p>
        </p:txBody>
      </p:sp>
      <p:sp>
        <p:nvSpPr>
          <p:cNvPr id="21" name="text-98"/>
          <p:cNvSpPr txBox="1"/>
          <p:nvPr/>
        </p:nvSpPr>
        <p:spPr>
          <a:xfrm>
            <a:off x="548640" y="4343400"/>
            <a:ext cx="11064240" cy="640080"/>
          </a:xfrm>
          <a:prstGeom prst="rect">
            <a:avLst/>
          </a:prstGeom>
          <a:noFill/>
          <a:ln/>
        </p:spPr>
        <p:txBody>
          <a:bodyPr wrap="square" lIns="1016" tIns="1016" rIns="1016" bIns="1016" rtlCol="0" anchor="ctr"/>
          <a:lstStyle/>
          <a:p>
            <a:pPr marL="0" indent="0">
              <a:buNone/>
            </a:pPr>
            <a:r>
              <a:rPr lang="en-US" sz="1400" dirty="0">
                <a:solidFill>
                  <a:schemeClr val="tx2"/>
                </a:solidFill>
                <a:latin typeface="Calibri" pitchFamily="34" charset="0"/>
                <a:ea typeface="Calibri" pitchFamily="34" charset="-122"/>
                <a:cs typeface="Calibri" pitchFamily="34" charset="-120"/>
              </a:rPr>
              <a:t>Models: Person → Staff, Customer · MenuItem → Veg / NonVeg / Beverage · Order, OrderItem · Bill (Billable) · Feedback · Sensor → KitchenSensor → 4 sensors · Appliance · 35 checked exceptions</a:t>
            </a:r>
            <a:endParaRPr lang="en-US" sz="1400" dirty="0"/>
          </a:p>
        </p:txBody>
      </p:sp>
      <p:sp>
        <p:nvSpPr>
          <p:cNvPr id="22" name="card-99"/>
          <p:cNvSpPr/>
          <p:nvPr/>
        </p:nvSpPr>
        <p:spPr>
          <a:xfrm>
            <a:off x="548640" y="5120640"/>
            <a:ext cx="6766560" cy="1097280"/>
          </a:xfrm>
          <a:prstGeom prst="roundRect">
            <a:avLst>
              <a:gd name="adj" fmla="val 10000"/>
            </a:avLst>
          </a:prstGeom>
          <a:solidFill>
            <a:srgbClr val="EAF1FF"/>
          </a:solidFill>
          <a:ln w="12700">
            <a:solidFill>
              <a:srgbClr val="EAF1FF"/>
            </a:solidFill>
            <a:prstDash val="solid"/>
          </a:ln>
        </p:spPr>
      </p:sp>
      <p:sp>
        <p:nvSpPr>
          <p:cNvPr id="23" name="text-100"/>
          <p:cNvSpPr txBox="1"/>
          <p:nvPr/>
        </p:nvSpPr>
        <p:spPr>
          <a:xfrm>
            <a:off x="731520" y="5120640"/>
            <a:ext cx="6492240" cy="1097280"/>
          </a:xfrm>
          <a:prstGeom prst="rect">
            <a:avLst/>
          </a:prstGeom>
          <a:noFill/>
          <a:ln/>
        </p:spPr>
        <p:txBody>
          <a:bodyPr wrap="square" lIns="1016" tIns="1016" rIns="1016" bIns="1016" rtlCol="0" anchor="ctr"/>
          <a:lstStyle/>
          <a:p>
            <a:pPr marL="0" indent="0">
              <a:buNone/>
            </a:pPr>
            <a:r>
              <a:rPr lang="en-US" sz="1400" b="1" dirty="0">
                <a:solidFill>
                  <a:schemeClr val="tx1"/>
                </a:solidFill>
                <a:latin typeface="Calibri" pitchFamily="34" charset="0"/>
                <a:ea typeface="Calibri" pitchFamily="34" charset="-122"/>
                <a:cs typeface="Calibri" pitchFamily="34" charset="-120"/>
              </a:rPr>
              <a:t>Data storage actually used: </a:t>
            </a:r>
            <a:r>
              <a:rPr lang="en-US" sz="1400" dirty="0">
                <a:solidFill>
                  <a:schemeClr val="tx1"/>
                </a:solidFill>
                <a:latin typeface="Calibri" pitchFamily="34" charset="0"/>
                <a:ea typeface="Calibri" pitchFamily="34" charset="-122"/>
                <a:cs typeface="Calibri" pitchFamily="34" charset="-120"/>
              </a:rPr>
              <a:t>in-memory arrays (Staff[], MenuItem[30], Customer[100], Order[], Bill[]) + bill history text file data/bills.txt (java.nio.file)</a:t>
            </a:r>
            <a:endParaRPr lang="en-US" sz="1400" dirty="0"/>
          </a:p>
        </p:txBody>
      </p:sp>
      <p:sp>
        <p:nvSpPr>
          <p:cNvPr id="24" name="card-101"/>
          <p:cNvSpPr/>
          <p:nvPr/>
        </p:nvSpPr>
        <p:spPr>
          <a:xfrm>
            <a:off x="7498080" y="5120640"/>
            <a:ext cx="4114800" cy="1097280"/>
          </a:xfrm>
          <a:prstGeom prst="roundRect">
            <a:avLst>
              <a:gd name="adj" fmla="val 10000"/>
            </a:avLst>
          </a:prstGeom>
          <a:solidFill>
            <a:srgbClr val="F3EEFF"/>
          </a:solidFill>
          <a:ln w="12700">
            <a:solidFill>
              <a:srgbClr val="F3EEFF"/>
            </a:solidFill>
            <a:prstDash val="solid"/>
          </a:ln>
        </p:spPr>
      </p:sp>
      <p:sp>
        <p:nvSpPr>
          <p:cNvPr id="25" name="text-102"/>
          <p:cNvSpPr txBox="1"/>
          <p:nvPr/>
        </p:nvSpPr>
        <p:spPr>
          <a:xfrm>
            <a:off x="7680960" y="5120640"/>
            <a:ext cx="3840480" cy="1097280"/>
          </a:xfrm>
          <a:prstGeom prst="rect">
            <a:avLst/>
          </a:prstGeom>
          <a:noFill/>
          <a:ln/>
        </p:spPr>
        <p:txBody>
          <a:bodyPr wrap="square" lIns="1016" tIns="1016" rIns="1016" bIns="1016" rtlCol="0" anchor="ctr"/>
          <a:lstStyle/>
          <a:p>
            <a:pPr marL="0" indent="0">
              <a:buNone/>
            </a:pPr>
            <a:r>
              <a:rPr lang="en-US" sz="1400" b="1" dirty="0">
                <a:solidFill>
                  <a:schemeClr val="tx1"/>
                </a:solidFill>
                <a:latin typeface="Calibri" pitchFamily="34" charset="0"/>
                <a:ea typeface="Calibri" pitchFamily="34" charset="-122"/>
                <a:cs typeface="Calibri" pitchFamily="34" charset="-120"/>
              </a:rPr>
              <a:t>Not used: </a:t>
            </a:r>
            <a:r>
              <a:rPr lang="en-US" sz="1400" dirty="0">
                <a:solidFill>
                  <a:schemeClr val="tx1"/>
                </a:solidFill>
                <a:latin typeface="Calibri" pitchFamily="34" charset="0"/>
                <a:ea typeface="Calibri" pitchFamily="34" charset="-122"/>
                <a:cs typeface="Calibri" pitchFamily="34" charset="-120"/>
              </a:rPr>
              <a:t>no database, no web server, no physical hardware, no frameworks</a:t>
            </a:r>
            <a:endParaRPr lang="en-US" sz="1400" dirty="0"/>
          </a:p>
        </p:txBody>
      </p:sp>
      <p:sp>
        <p:nvSpPr>
          <p:cNvPr id="26"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buNone/>
            </a:pPr>
            <a:r>
              <a:rPr lang="en-US" sz="3400" b="1" dirty="0">
                <a:solidFill>
                  <a:schemeClr val="tx1"/>
                </a:solidFill>
                <a:latin typeface="Arial" pitchFamily="34" charset="0"/>
                <a:ea typeface="Arial" pitchFamily="34" charset="-122"/>
                <a:cs typeface="Arial" pitchFamily="34" charset="-120"/>
              </a:rPr>
              <a:t>13 modules in 4 clusters</a:t>
            </a:r>
            <a:endParaRPr lang="en-US" sz="3400" dirty="0"/>
          </a:p>
        </p:txBody>
      </p:sp>
      <p:sp>
        <p:nvSpPr>
          <p:cNvPr id="3" name="card-103"/>
          <p:cNvSpPr/>
          <p:nvPr/>
        </p:nvSpPr>
        <p:spPr>
          <a:xfrm>
            <a:off x="548640" y="1325880"/>
            <a:ext cx="2651760" cy="1005840"/>
          </a:xfrm>
          <a:prstGeom prst="roundRect">
            <a:avLst>
              <a:gd name="adj" fmla="val 10909"/>
            </a:avLst>
          </a:prstGeom>
          <a:solidFill>
            <a:srgbClr val="2952E3"/>
          </a:solidFill>
          <a:ln w="12700">
            <a:solidFill>
              <a:srgbClr val="2952E3"/>
            </a:solidFill>
            <a:prstDash val="solid"/>
          </a:ln>
        </p:spPr>
      </p:sp>
      <p:sp>
        <p:nvSpPr>
          <p:cNvPr id="4" name="text-104"/>
          <p:cNvSpPr txBox="1"/>
          <p:nvPr/>
        </p:nvSpPr>
        <p:spPr>
          <a:xfrm>
            <a:off x="685800" y="1371600"/>
            <a:ext cx="2377440" cy="365760"/>
          </a:xfrm>
          <a:prstGeom prst="rect">
            <a:avLst/>
          </a:prstGeom>
          <a:noFill/>
          <a:ln/>
        </p:spPr>
        <p:txBody>
          <a:bodyPr wrap="square" lIns="1016" tIns="1016" rIns="1016" bIns="1016" rtlCol="0" anchor="ctr"/>
          <a:lstStyle/>
          <a:p>
            <a:pPr marL="0" indent="0">
              <a:buNone/>
            </a:pPr>
            <a:r>
              <a:rPr lang="en-US" sz="1800" b="1" dirty="0">
                <a:solidFill>
                  <a:schemeClr val="bg1"/>
                </a:solidFill>
                <a:latin typeface="Arial" pitchFamily="34" charset="0"/>
                <a:ea typeface="Arial" pitchFamily="34" charset="-122"/>
                <a:cs typeface="Arial" pitchFamily="34" charset="-120"/>
              </a:rPr>
              <a:t>Cluster A</a:t>
            </a:r>
            <a:endParaRPr lang="en-US" sz="1800" dirty="0"/>
          </a:p>
        </p:txBody>
      </p:sp>
      <p:sp>
        <p:nvSpPr>
          <p:cNvPr id="5" name="text-105"/>
          <p:cNvSpPr txBox="1"/>
          <p:nvPr/>
        </p:nvSpPr>
        <p:spPr>
          <a:xfrm>
            <a:off x="685800" y="1737360"/>
            <a:ext cx="2377440" cy="548640"/>
          </a:xfrm>
          <a:prstGeom prst="rect">
            <a:avLst/>
          </a:prstGeom>
          <a:noFill/>
          <a:ln/>
        </p:spPr>
        <p:txBody>
          <a:bodyPr wrap="square" lIns="1016" tIns="1016" rIns="1016" bIns="1016" rtlCol="0" anchor="ctr"/>
          <a:lstStyle/>
          <a:p>
            <a:pPr marL="0" indent="0">
              <a:buNone/>
            </a:pPr>
            <a:r>
              <a:rPr lang="en-US" sz="1300" dirty="0">
                <a:solidFill>
                  <a:schemeClr val="bg1"/>
                </a:solidFill>
                <a:latin typeface="Calibri" pitchFamily="34" charset="0"/>
                <a:ea typeface="Calibri" pitchFamily="34" charset="-122"/>
                <a:cs typeface="Calibri" pitchFamily="34" charset="-120"/>
              </a:rPr>
              <a:t>Identity, Menu, Customers, Tables</a:t>
            </a:r>
            <a:endParaRPr lang="en-US" sz="1300" dirty="0"/>
          </a:p>
        </p:txBody>
      </p:sp>
      <p:sp>
        <p:nvSpPr>
          <p:cNvPr id="6" name="card-106"/>
          <p:cNvSpPr/>
          <p:nvPr/>
        </p:nvSpPr>
        <p:spPr>
          <a:xfrm>
            <a:off x="548640" y="2514600"/>
            <a:ext cx="2651760" cy="685800"/>
          </a:xfrm>
          <a:prstGeom prst="roundRect">
            <a:avLst>
              <a:gd name="adj" fmla="val 16000"/>
            </a:avLst>
          </a:prstGeom>
          <a:solidFill>
            <a:srgbClr val="EAF1FF"/>
          </a:solidFill>
          <a:ln w="12700">
            <a:solidFill>
              <a:srgbClr val="EAF1FF"/>
            </a:solidFill>
            <a:prstDash val="solid"/>
          </a:ln>
        </p:spPr>
      </p:sp>
      <p:sp>
        <p:nvSpPr>
          <p:cNvPr id="7" name="text-107"/>
          <p:cNvSpPr txBox="1"/>
          <p:nvPr/>
        </p:nvSpPr>
        <p:spPr>
          <a:xfrm>
            <a:off x="685800" y="2514600"/>
            <a:ext cx="2423160" cy="685800"/>
          </a:xfrm>
          <a:prstGeom prst="rect">
            <a:avLst/>
          </a:prstGeom>
          <a:noFill/>
          <a:ln/>
        </p:spPr>
        <p:txBody>
          <a:bodyPr wrap="square" lIns="1016" tIns="1016" rIns="1016" bIns="1016" rtlCol="0" anchor="ctr"/>
          <a:lstStyle/>
          <a:p>
            <a:pPr marL="0" indent="0">
              <a:buNone/>
            </a:pPr>
            <a:r>
              <a:rPr lang="en-US" sz="1400" b="1" dirty="0">
                <a:solidFill>
                  <a:schemeClr val="tx1"/>
                </a:solidFill>
                <a:latin typeface="Calibri" pitchFamily="34" charset="0"/>
                <a:ea typeface="Calibri" pitchFamily="34" charset="-122"/>
                <a:cs typeface="Calibri" pitchFamily="34" charset="-120"/>
              </a:rPr>
              <a:t>M01 Login &amp; Access Control</a:t>
            </a:r>
            <a:endParaRPr lang="en-US" sz="1400" dirty="0"/>
          </a:p>
        </p:txBody>
      </p:sp>
      <p:sp>
        <p:nvSpPr>
          <p:cNvPr id="8" name="card-108"/>
          <p:cNvSpPr/>
          <p:nvPr/>
        </p:nvSpPr>
        <p:spPr>
          <a:xfrm>
            <a:off x="548640" y="3337560"/>
            <a:ext cx="2651760" cy="685800"/>
          </a:xfrm>
          <a:prstGeom prst="roundRect">
            <a:avLst>
              <a:gd name="adj" fmla="val 16000"/>
            </a:avLst>
          </a:prstGeom>
          <a:solidFill>
            <a:srgbClr val="EAF1FF"/>
          </a:solidFill>
          <a:ln w="12700">
            <a:solidFill>
              <a:srgbClr val="EAF1FF"/>
            </a:solidFill>
            <a:prstDash val="solid"/>
          </a:ln>
        </p:spPr>
      </p:sp>
      <p:sp>
        <p:nvSpPr>
          <p:cNvPr id="9" name="text-109"/>
          <p:cNvSpPr txBox="1"/>
          <p:nvPr/>
        </p:nvSpPr>
        <p:spPr>
          <a:xfrm>
            <a:off x="685800" y="3337560"/>
            <a:ext cx="2423160" cy="685800"/>
          </a:xfrm>
          <a:prstGeom prst="rect">
            <a:avLst/>
          </a:prstGeom>
          <a:noFill/>
          <a:ln/>
        </p:spPr>
        <p:txBody>
          <a:bodyPr wrap="square" lIns="1016" tIns="1016" rIns="1016" bIns="1016" rtlCol="0" anchor="ctr"/>
          <a:lstStyle/>
          <a:p>
            <a:pPr marL="0" indent="0">
              <a:buNone/>
            </a:pPr>
            <a:r>
              <a:rPr lang="en-US" sz="1400" b="1" dirty="0">
                <a:solidFill>
                  <a:schemeClr val="tx1"/>
                </a:solidFill>
                <a:latin typeface="Calibri" pitchFamily="34" charset="0"/>
                <a:ea typeface="Calibri" pitchFamily="34" charset="-122"/>
                <a:cs typeface="Calibri" pitchFamily="34" charset="-120"/>
              </a:rPr>
              <a:t>M02 Menu Management</a:t>
            </a:r>
            <a:endParaRPr lang="en-US" sz="1400" dirty="0"/>
          </a:p>
        </p:txBody>
      </p:sp>
      <p:sp>
        <p:nvSpPr>
          <p:cNvPr id="10" name="card-110"/>
          <p:cNvSpPr/>
          <p:nvPr/>
        </p:nvSpPr>
        <p:spPr>
          <a:xfrm>
            <a:off x="548640" y="4160520"/>
            <a:ext cx="2651760" cy="685800"/>
          </a:xfrm>
          <a:prstGeom prst="roundRect">
            <a:avLst>
              <a:gd name="adj" fmla="val 16000"/>
            </a:avLst>
          </a:prstGeom>
          <a:solidFill>
            <a:srgbClr val="EAF1FF"/>
          </a:solidFill>
          <a:ln w="12700">
            <a:solidFill>
              <a:srgbClr val="EAF1FF"/>
            </a:solidFill>
            <a:prstDash val="solid"/>
          </a:ln>
        </p:spPr>
      </p:sp>
      <p:sp>
        <p:nvSpPr>
          <p:cNvPr id="11" name="text-111"/>
          <p:cNvSpPr txBox="1"/>
          <p:nvPr/>
        </p:nvSpPr>
        <p:spPr>
          <a:xfrm>
            <a:off x="685800" y="4160520"/>
            <a:ext cx="2423160" cy="685800"/>
          </a:xfrm>
          <a:prstGeom prst="rect">
            <a:avLst/>
          </a:prstGeom>
          <a:noFill/>
          <a:ln/>
        </p:spPr>
        <p:txBody>
          <a:bodyPr wrap="square" lIns="1016" tIns="1016" rIns="1016" bIns="1016" rtlCol="0" anchor="ctr"/>
          <a:lstStyle/>
          <a:p>
            <a:pPr marL="0" indent="0">
              <a:buNone/>
            </a:pPr>
            <a:r>
              <a:rPr lang="en-US" sz="1400" b="1" dirty="0">
                <a:solidFill>
                  <a:schemeClr val="tx1"/>
                </a:solidFill>
                <a:latin typeface="Calibri" pitchFamily="34" charset="0"/>
                <a:ea typeface="Calibri" pitchFamily="34" charset="-122"/>
                <a:cs typeface="Calibri" pitchFamily="34" charset="-120"/>
              </a:rPr>
              <a:t>M03 Customer Profile &amp; Favourites</a:t>
            </a:r>
            <a:endParaRPr lang="en-US" sz="1400" dirty="0"/>
          </a:p>
        </p:txBody>
      </p:sp>
      <p:sp>
        <p:nvSpPr>
          <p:cNvPr id="12" name="card-112"/>
          <p:cNvSpPr/>
          <p:nvPr/>
        </p:nvSpPr>
        <p:spPr>
          <a:xfrm>
            <a:off x="548640" y="4983480"/>
            <a:ext cx="2651760" cy="685800"/>
          </a:xfrm>
          <a:prstGeom prst="roundRect">
            <a:avLst>
              <a:gd name="adj" fmla="val 16000"/>
            </a:avLst>
          </a:prstGeom>
          <a:solidFill>
            <a:srgbClr val="EAF1FF"/>
          </a:solidFill>
          <a:ln w="12700">
            <a:solidFill>
              <a:srgbClr val="EAF1FF"/>
            </a:solidFill>
            <a:prstDash val="solid"/>
          </a:ln>
        </p:spPr>
      </p:sp>
      <p:sp>
        <p:nvSpPr>
          <p:cNvPr id="13" name="text-113"/>
          <p:cNvSpPr txBox="1"/>
          <p:nvPr/>
        </p:nvSpPr>
        <p:spPr>
          <a:xfrm>
            <a:off x="685800" y="4983480"/>
            <a:ext cx="2423160" cy="685800"/>
          </a:xfrm>
          <a:prstGeom prst="rect">
            <a:avLst/>
          </a:prstGeom>
          <a:noFill/>
          <a:ln/>
        </p:spPr>
        <p:txBody>
          <a:bodyPr wrap="square" lIns="1016" tIns="1016" rIns="1016" bIns="1016" rtlCol="0" anchor="ctr"/>
          <a:lstStyle/>
          <a:p>
            <a:pPr marL="0" indent="0">
              <a:buNone/>
            </a:pPr>
            <a:r>
              <a:rPr lang="en-US" sz="1400" b="1" dirty="0">
                <a:solidFill>
                  <a:schemeClr val="tx1"/>
                </a:solidFill>
                <a:latin typeface="Calibri" pitchFamily="34" charset="0"/>
                <a:ea typeface="Calibri" pitchFamily="34" charset="-122"/>
                <a:cs typeface="Calibri" pitchFamily="34" charset="-120"/>
              </a:rPr>
              <a:t>M09 Table Occupancy Register</a:t>
            </a:r>
            <a:endParaRPr lang="en-US" sz="1400" dirty="0"/>
          </a:p>
        </p:txBody>
      </p:sp>
      <p:sp>
        <p:nvSpPr>
          <p:cNvPr id="14" name="card-114"/>
          <p:cNvSpPr/>
          <p:nvPr/>
        </p:nvSpPr>
        <p:spPr>
          <a:xfrm>
            <a:off x="3364992" y="1325880"/>
            <a:ext cx="2651760" cy="1005840"/>
          </a:xfrm>
          <a:prstGeom prst="roundRect">
            <a:avLst>
              <a:gd name="adj" fmla="val 10909"/>
            </a:avLst>
          </a:prstGeom>
          <a:solidFill>
            <a:srgbClr val="0597B8"/>
          </a:solidFill>
          <a:ln w="12700">
            <a:solidFill>
              <a:srgbClr val="0597B8"/>
            </a:solidFill>
            <a:prstDash val="solid"/>
          </a:ln>
        </p:spPr>
      </p:sp>
      <p:sp>
        <p:nvSpPr>
          <p:cNvPr id="15" name="text-115"/>
          <p:cNvSpPr txBox="1"/>
          <p:nvPr/>
        </p:nvSpPr>
        <p:spPr>
          <a:xfrm>
            <a:off x="3502152" y="1371600"/>
            <a:ext cx="2377440" cy="365760"/>
          </a:xfrm>
          <a:prstGeom prst="rect">
            <a:avLst/>
          </a:prstGeom>
          <a:noFill/>
          <a:ln/>
        </p:spPr>
        <p:txBody>
          <a:bodyPr wrap="square" lIns="1016" tIns="1016" rIns="1016" bIns="1016" rtlCol="0" anchor="ctr"/>
          <a:lstStyle/>
          <a:p>
            <a:pPr marL="0" indent="0">
              <a:buNone/>
            </a:pPr>
            <a:r>
              <a:rPr lang="en-US" sz="1800" b="1" dirty="0">
                <a:solidFill>
                  <a:schemeClr val="bg1"/>
                </a:solidFill>
                <a:latin typeface="Arial" pitchFamily="34" charset="0"/>
                <a:ea typeface="Arial" pitchFamily="34" charset="-122"/>
                <a:cs typeface="Arial" pitchFamily="34" charset="-120"/>
              </a:rPr>
              <a:t>Cluster B</a:t>
            </a:r>
            <a:endParaRPr lang="en-US" sz="1800" dirty="0"/>
          </a:p>
        </p:txBody>
      </p:sp>
      <p:sp>
        <p:nvSpPr>
          <p:cNvPr id="16" name="text-116"/>
          <p:cNvSpPr txBox="1"/>
          <p:nvPr/>
        </p:nvSpPr>
        <p:spPr>
          <a:xfrm>
            <a:off x="3502152" y="1737360"/>
            <a:ext cx="2377440" cy="548640"/>
          </a:xfrm>
          <a:prstGeom prst="rect">
            <a:avLst/>
          </a:prstGeom>
          <a:noFill/>
          <a:ln/>
        </p:spPr>
        <p:txBody>
          <a:bodyPr wrap="square" lIns="1016" tIns="1016" rIns="1016" bIns="1016" rtlCol="0" anchor="ctr"/>
          <a:lstStyle/>
          <a:p>
            <a:pPr marL="0" indent="0">
              <a:buNone/>
            </a:pPr>
            <a:r>
              <a:rPr lang="en-US" sz="1300" dirty="0">
                <a:solidFill>
                  <a:schemeClr val="bg1"/>
                </a:solidFill>
                <a:latin typeface="Calibri" pitchFamily="34" charset="0"/>
                <a:ea typeface="Calibri" pitchFamily="34" charset="-122"/>
                <a:cs typeface="Calibri" pitchFamily="34" charset="-120"/>
              </a:rPr>
              <a:t>Ordering, Kitchen, Token</a:t>
            </a:r>
            <a:endParaRPr lang="en-US" sz="1300" dirty="0"/>
          </a:p>
        </p:txBody>
      </p:sp>
      <p:sp>
        <p:nvSpPr>
          <p:cNvPr id="17" name="card-117"/>
          <p:cNvSpPr/>
          <p:nvPr/>
        </p:nvSpPr>
        <p:spPr>
          <a:xfrm>
            <a:off x="3364992" y="2514600"/>
            <a:ext cx="2651760" cy="685800"/>
          </a:xfrm>
          <a:prstGeom prst="roundRect">
            <a:avLst>
              <a:gd name="adj" fmla="val 16000"/>
            </a:avLst>
          </a:prstGeom>
          <a:solidFill>
            <a:srgbClr val="EAF1FF"/>
          </a:solidFill>
          <a:ln w="12700">
            <a:solidFill>
              <a:srgbClr val="EAF1FF"/>
            </a:solidFill>
            <a:prstDash val="solid"/>
          </a:ln>
        </p:spPr>
      </p:sp>
      <p:sp>
        <p:nvSpPr>
          <p:cNvPr id="18" name="text-118"/>
          <p:cNvSpPr txBox="1"/>
          <p:nvPr/>
        </p:nvSpPr>
        <p:spPr>
          <a:xfrm>
            <a:off x="3502152" y="2514600"/>
            <a:ext cx="2423160" cy="685800"/>
          </a:xfrm>
          <a:prstGeom prst="rect">
            <a:avLst/>
          </a:prstGeom>
          <a:noFill/>
          <a:ln/>
        </p:spPr>
        <p:txBody>
          <a:bodyPr wrap="square" lIns="1016" tIns="1016" rIns="1016" bIns="1016" rtlCol="0" anchor="ctr"/>
          <a:lstStyle/>
          <a:p>
            <a:pPr marL="0" indent="0">
              <a:buNone/>
            </a:pPr>
            <a:r>
              <a:rPr lang="en-US" sz="1400" b="1" dirty="0">
                <a:solidFill>
                  <a:schemeClr val="tx1"/>
                </a:solidFill>
                <a:latin typeface="Calibri" pitchFamily="34" charset="0"/>
                <a:ea typeface="Calibri" pitchFamily="34" charset="-122"/>
                <a:cs typeface="Calibri" pitchFamily="34" charset="-120"/>
              </a:rPr>
              <a:t>M04 Order Taking</a:t>
            </a:r>
            <a:endParaRPr lang="en-US" sz="1400" dirty="0"/>
          </a:p>
        </p:txBody>
      </p:sp>
      <p:sp>
        <p:nvSpPr>
          <p:cNvPr id="19" name="card-119"/>
          <p:cNvSpPr/>
          <p:nvPr/>
        </p:nvSpPr>
        <p:spPr>
          <a:xfrm>
            <a:off x="3364992" y="3337560"/>
            <a:ext cx="2651760" cy="685800"/>
          </a:xfrm>
          <a:prstGeom prst="roundRect">
            <a:avLst>
              <a:gd name="adj" fmla="val 16000"/>
            </a:avLst>
          </a:prstGeom>
          <a:solidFill>
            <a:srgbClr val="EAF1FF"/>
          </a:solidFill>
          <a:ln w="12700">
            <a:solidFill>
              <a:srgbClr val="EAF1FF"/>
            </a:solidFill>
            <a:prstDash val="solid"/>
          </a:ln>
        </p:spPr>
      </p:sp>
      <p:sp>
        <p:nvSpPr>
          <p:cNvPr id="20" name="text-120"/>
          <p:cNvSpPr txBox="1"/>
          <p:nvPr/>
        </p:nvSpPr>
        <p:spPr>
          <a:xfrm>
            <a:off x="3502152" y="3337560"/>
            <a:ext cx="2423160" cy="685800"/>
          </a:xfrm>
          <a:prstGeom prst="rect">
            <a:avLst/>
          </a:prstGeom>
          <a:noFill/>
          <a:ln/>
        </p:spPr>
        <p:txBody>
          <a:bodyPr wrap="square" lIns="1016" tIns="1016" rIns="1016" bIns="1016" rtlCol="0" anchor="ctr"/>
          <a:lstStyle/>
          <a:p>
            <a:pPr marL="0" indent="0">
              <a:buNone/>
            </a:pPr>
            <a:r>
              <a:rPr lang="en-US" sz="1400" b="1" dirty="0">
                <a:solidFill>
                  <a:schemeClr val="tx1"/>
                </a:solidFill>
                <a:latin typeface="Calibri" pitchFamily="34" charset="0"/>
                <a:ea typeface="Calibri" pitchFamily="34" charset="-122"/>
                <a:cs typeface="Calibri" pitchFamily="34" charset="-120"/>
              </a:rPr>
              <a:t>M05 Kitchen Queue</a:t>
            </a:r>
            <a:endParaRPr lang="en-US" sz="1400" dirty="0"/>
          </a:p>
        </p:txBody>
      </p:sp>
      <p:sp>
        <p:nvSpPr>
          <p:cNvPr id="21" name="card-121"/>
          <p:cNvSpPr/>
          <p:nvPr/>
        </p:nvSpPr>
        <p:spPr>
          <a:xfrm>
            <a:off x="3364992" y="4160520"/>
            <a:ext cx="2651760" cy="685800"/>
          </a:xfrm>
          <a:prstGeom prst="roundRect">
            <a:avLst>
              <a:gd name="adj" fmla="val 16000"/>
            </a:avLst>
          </a:prstGeom>
          <a:solidFill>
            <a:srgbClr val="EAF1FF"/>
          </a:solidFill>
          <a:ln w="12700">
            <a:solidFill>
              <a:srgbClr val="EAF1FF"/>
            </a:solidFill>
            <a:prstDash val="solid"/>
          </a:ln>
        </p:spPr>
      </p:sp>
      <p:sp>
        <p:nvSpPr>
          <p:cNvPr id="22" name="text-122"/>
          <p:cNvSpPr txBox="1"/>
          <p:nvPr/>
        </p:nvSpPr>
        <p:spPr>
          <a:xfrm>
            <a:off x="3502152" y="4160520"/>
            <a:ext cx="2423160" cy="685800"/>
          </a:xfrm>
          <a:prstGeom prst="rect">
            <a:avLst/>
          </a:prstGeom>
          <a:noFill/>
          <a:ln/>
        </p:spPr>
        <p:txBody>
          <a:bodyPr wrap="square" lIns="1016" tIns="1016" rIns="1016" bIns="1016" rtlCol="0" anchor="ctr"/>
          <a:lstStyle/>
          <a:p>
            <a:pPr marL="0" indent="0">
              <a:buNone/>
            </a:pPr>
            <a:r>
              <a:rPr lang="en-US" sz="1400" b="1" dirty="0">
                <a:solidFill>
                  <a:schemeClr val="tx1"/>
                </a:solidFill>
                <a:latin typeface="Calibri" pitchFamily="34" charset="0"/>
                <a:ea typeface="Calibri" pitchFamily="34" charset="-122"/>
                <a:cs typeface="Calibri" pitchFamily="34" charset="-120"/>
              </a:rPr>
              <a:t>M11 Seven-Segment Token Display</a:t>
            </a:r>
            <a:endParaRPr lang="en-US" sz="1400" dirty="0"/>
          </a:p>
        </p:txBody>
      </p:sp>
      <p:sp>
        <p:nvSpPr>
          <p:cNvPr id="23" name="card-123"/>
          <p:cNvSpPr/>
          <p:nvPr/>
        </p:nvSpPr>
        <p:spPr>
          <a:xfrm>
            <a:off x="6181344" y="1325880"/>
            <a:ext cx="2651760" cy="1005840"/>
          </a:xfrm>
          <a:prstGeom prst="roundRect">
            <a:avLst>
              <a:gd name="adj" fmla="val 10909"/>
            </a:avLst>
          </a:prstGeom>
          <a:solidFill>
            <a:srgbClr val="6E45CF"/>
          </a:solidFill>
          <a:ln w="12700">
            <a:solidFill>
              <a:srgbClr val="6E45CF"/>
            </a:solidFill>
            <a:prstDash val="solid"/>
          </a:ln>
        </p:spPr>
      </p:sp>
      <p:sp>
        <p:nvSpPr>
          <p:cNvPr id="24" name="text-124"/>
          <p:cNvSpPr txBox="1"/>
          <p:nvPr/>
        </p:nvSpPr>
        <p:spPr>
          <a:xfrm>
            <a:off x="6318504" y="1371600"/>
            <a:ext cx="2377440" cy="365760"/>
          </a:xfrm>
          <a:prstGeom prst="rect">
            <a:avLst/>
          </a:prstGeom>
          <a:noFill/>
          <a:ln/>
        </p:spPr>
        <p:txBody>
          <a:bodyPr wrap="square" lIns="1016" tIns="1016" rIns="1016" bIns="1016" rtlCol="0" anchor="ctr"/>
          <a:lstStyle/>
          <a:p>
            <a:pPr marL="0" indent="0">
              <a:buNone/>
            </a:pPr>
            <a:r>
              <a:rPr lang="en-US" sz="1800" b="1" dirty="0">
                <a:solidFill>
                  <a:schemeClr val="bg1"/>
                </a:solidFill>
                <a:latin typeface="Arial" pitchFamily="34" charset="0"/>
                <a:ea typeface="Arial" pitchFamily="34" charset="-122"/>
                <a:cs typeface="Arial" pitchFamily="34" charset="-120"/>
              </a:rPr>
              <a:t>Cluster C</a:t>
            </a:r>
            <a:endParaRPr lang="en-US" sz="1800" dirty="0"/>
          </a:p>
        </p:txBody>
      </p:sp>
      <p:sp>
        <p:nvSpPr>
          <p:cNvPr id="25" name="text-125"/>
          <p:cNvSpPr txBox="1"/>
          <p:nvPr/>
        </p:nvSpPr>
        <p:spPr>
          <a:xfrm>
            <a:off x="6318504" y="1737360"/>
            <a:ext cx="2377440" cy="548640"/>
          </a:xfrm>
          <a:prstGeom prst="rect">
            <a:avLst/>
          </a:prstGeom>
          <a:noFill/>
          <a:ln/>
        </p:spPr>
        <p:txBody>
          <a:bodyPr wrap="square" lIns="1016" tIns="1016" rIns="1016" bIns="1016" rtlCol="0" anchor="ctr"/>
          <a:lstStyle/>
          <a:p>
            <a:pPr marL="0" indent="0">
              <a:buNone/>
            </a:pPr>
            <a:r>
              <a:rPr lang="en-US" sz="1300" dirty="0">
                <a:solidFill>
                  <a:schemeClr val="bg1"/>
                </a:solidFill>
                <a:latin typeface="Calibri" pitchFamily="34" charset="0"/>
                <a:ea typeface="Calibri" pitchFamily="34" charset="-122"/>
                <a:cs typeface="Calibri" pitchFamily="34" charset="-120"/>
              </a:rPr>
              <a:t>Billing, Payment, Checksum, Feedback</a:t>
            </a:r>
            <a:endParaRPr lang="en-US" sz="1300" dirty="0"/>
          </a:p>
        </p:txBody>
      </p:sp>
      <p:sp>
        <p:nvSpPr>
          <p:cNvPr id="26" name="card-126"/>
          <p:cNvSpPr/>
          <p:nvPr/>
        </p:nvSpPr>
        <p:spPr>
          <a:xfrm>
            <a:off x="6181344" y="2514600"/>
            <a:ext cx="2651760" cy="685800"/>
          </a:xfrm>
          <a:prstGeom prst="roundRect">
            <a:avLst>
              <a:gd name="adj" fmla="val 16000"/>
            </a:avLst>
          </a:prstGeom>
          <a:solidFill>
            <a:srgbClr val="EAF1FF"/>
          </a:solidFill>
          <a:ln w="12700">
            <a:solidFill>
              <a:srgbClr val="EAF1FF"/>
            </a:solidFill>
            <a:prstDash val="solid"/>
          </a:ln>
        </p:spPr>
      </p:sp>
      <p:sp>
        <p:nvSpPr>
          <p:cNvPr id="27" name="text-127"/>
          <p:cNvSpPr txBox="1"/>
          <p:nvPr/>
        </p:nvSpPr>
        <p:spPr>
          <a:xfrm>
            <a:off x="6318504" y="2514600"/>
            <a:ext cx="2423160" cy="685800"/>
          </a:xfrm>
          <a:prstGeom prst="rect">
            <a:avLst/>
          </a:prstGeom>
          <a:noFill/>
          <a:ln/>
        </p:spPr>
        <p:txBody>
          <a:bodyPr wrap="square" lIns="1016" tIns="1016" rIns="1016" bIns="1016" rtlCol="0" anchor="ctr"/>
          <a:lstStyle/>
          <a:p>
            <a:pPr marL="0" indent="0">
              <a:buNone/>
            </a:pPr>
            <a:r>
              <a:rPr lang="en-US" sz="1400" b="1" dirty="0">
                <a:solidFill>
                  <a:schemeClr val="tx1"/>
                </a:solidFill>
                <a:latin typeface="Calibri" pitchFamily="34" charset="0"/>
                <a:ea typeface="Calibri" pitchFamily="34" charset="-122"/>
                <a:cs typeface="Calibri" pitchFamily="34" charset="-120"/>
              </a:rPr>
              <a:t>M06 Billing &amp; Payment</a:t>
            </a:r>
            <a:endParaRPr lang="en-US" sz="1400" dirty="0"/>
          </a:p>
        </p:txBody>
      </p:sp>
      <p:sp>
        <p:nvSpPr>
          <p:cNvPr id="28" name="card-128"/>
          <p:cNvSpPr/>
          <p:nvPr/>
        </p:nvSpPr>
        <p:spPr>
          <a:xfrm>
            <a:off x="6181344" y="3337560"/>
            <a:ext cx="2651760" cy="685800"/>
          </a:xfrm>
          <a:prstGeom prst="roundRect">
            <a:avLst>
              <a:gd name="adj" fmla="val 16000"/>
            </a:avLst>
          </a:prstGeom>
          <a:solidFill>
            <a:srgbClr val="EAF1FF"/>
          </a:solidFill>
          <a:ln w="12700">
            <a:solidFill>
              <a:srgbClr val="EAF1FF"/>
            </a:solidFill>
            <a:prstDash val="solid"/>
          </a:ln>
        </p:spPr>
      </p:sp>
      <p:sp>
        <p:nvSpPr>
          <p:cNvPr id="29" name="text-129"/>
          <p:cNvSpPr txBox="1"/>
          <p:nvPr/>
        </p:nvSpPr>
        <p:spPr>
          <a:xfrm>
            <a:off x="6318504" y="3337560"/>
            <a:ext cx="2423160" cy="685800"/>
          </a:xfrm>
          <a:prstGeom prst="rect">
            <a:avLst/>
          </a:prstGeom>
          <a:noFill/>
          <a:ln/>
        </p:spPr>
        <p:txBody>
          <a:bodyPr wrap="square" lIns="1016" tIns="1016" rIns="1016" bIns="1016" rtlCol="0" anchor="ctr"/>
          <a:lstStyle/>
          <a:p>
            <a:pPr marL="0" indent="0">
              <a:buNone/>
            </a:pPr>
            <a:r>
              <a:rPr lang="en-US" sz="1400" b="1" dirty="0">
                <a:solidFill>
                  <a:schemeClr val="tx1"/>
                </a:solidFill>
                <a:latin typeface="Calibri" pitchFamily="34" charset="0"/>
                <a:ea typeface="Calibri" pitchFamily="34" charset="-122"/>
                <a:cs typeface="Calibri" pitchFamily="34" charset="-120"/>
              </a:rPr>
              <a:t>M12 Bill Checksum Security</a:t>
            </a:r>
            <a:endParaRPr lang="en-US" sz="1400" dirty="0"/>
          </a:p>
        </p:txBody>
      </p:sp>
      <p:sp>
        <p:nvSpPr>
          <p:cNvPr id="30" name="card-130"/>
          <p:cNvSpPr/>
          <p:nvPr/>
        </p:nvSpPr>
        <p:spPr>
          <a:xfrm>
            <a:off x="6181344" y="4160520"/>
            <a:ext cx="2651760" cy="685800"/>
          </a:xfrm>
          <a:prstGeom prst="roundRect">
            <a:avLst>
              <a:gd name="adj" fmla="val 16000"/>
            </a:avLst>
          </a:prstGeom>
          <a:solidFill>
            <a:srgbClr val="EAF1FF"/>
          </a:solidFill>
          <a:ln w="12700">
            <a:solidFill>
              <a:srgbClr val="EAF1FF"/>
            </a:solidFill>
            <a:prstDash val="solid"/>
          </a:ln>
        </p:spPr>
      </p:sp>
      <p:sp>
        <p:nvSpPr>
          <p:cNvPr id="31" name="text-131"/>
          <p:cNvSpPr txBox="1"/>
          <p:nvPr/>
        </p:nvSpPr>
        <p:spPr>
          <a:xfrm>
            <a:off x="6318504" y="4160520"/>
            <a:ext cx="2423160" cy="685800"/>
          </a:xfrm>
          <a:prstGeom prst="rect">
            <a:avLst/>
          </a:prstGeom>
          <a:noFill/>
          <a:ln/>
        </p:spPr>
        <p:txBody>
          <a:bodyPr wrap="square" lIns="1016" tIns="1016" rIns="1016" bIns="1016" rtlCol="0" anchor="ctr"/>
          <a:lstStyle/>
          <a:p>
            <a:pPr marL="0" indent="0">
              <a:buNone/>
            </a:pPr>
            <a:r>
              <a:rPr lang="en-US" sz="1400" b="1" dirty="0">
                <a:solidFill>
                  <a:schemeClr val="tx1"/>
                </a:solidFill>
                <a:latin typeface="Calibri" pitchFamily="34" charset="0"/>
                <a:ea typeface="Calibri" pitchFamily="34" charset="-122"/>
                <a:cs typeface="Calibri" pitchFamily="34" charset="-120"/>
              </a:rPr>
              <a:t>M07 Feedback &amp; Ratings</a:t>
            </a:r>
            <a:endParaRPr lang="en-US" sz="1400" dirty="0"/>
          </a:p>
        </p:txBody>
      </p:sp>
      <p:sp>
        <p:nvSpPr>
          <p:cNvPr id="32" name="card-132"/>
          <p:cNvSpPr/>
          <p:nvPr/>
        </p:nvSpPr>
        <p:spPr>
          <a:xfrm>
            <a:off x="6181344" y="4983480"/>
            <a:ext cx="2651760" cy="685800"/>
          </a:xfrm>
          <a:prstGeom prst="roundRect">
            <a:avLst>
              <a:gd name="adj" fmla="val 16000"/>
            </a:avLst>
          </a:prstGeom>
          <a:solidFill>
            <a:srgbClr val="EAF1FF"/>
          </a:solidFill>
          <a:ln w="12700">
            <a:solidFill>
              <a:srgbClr val="EAF1FF"/>
            </a:solidFill>
            <a:prstDash val="solid"/>
          </a:ln>
        </p:spPr>
      </p:sp>
      <p:sp>
        <p:nvSpPr>
          <p:cNvPr id="33" name="text-133"/>
          <p:cNvSpPr txBox="1"/>
          <p:nvPr/>
        </p:nvSpPr>
        <p:spPr>
          <a:xfrm>
            <a:off x="6318504" y="4983480"/>
            <a:ext cx="2423160" cy="685800"/>
          </a:xfrm>
          <a:prstGeom prst="rect">
            <a:avLst/>
          </a:prstGeom>
          <a:noFill/>
          <a:ln/>
        </p:spPr>
        <p:txBody>
          <a:bodyPr wrap="square" lIns="1016" tIns="1016" rIns="1016" bIns="1016" rtlCol="0" anchor="ctr"/>
          <a:lstStyle/>
          <a:p>
            <a:pPr marL="0" indent="0">
              <a:buNone/>
            </a:pPr>
            <a:r>
              <a:rPr lang="en-US" sz="1400" b="1" dirty="0">
                <a:solidFill>
                  <a:schemeClr val="tx1"/>
                </a:solidFill>
                <a:latin typeface="Calibri" pitchFamily="34" charset="0"/>
                <a:ea typeface="Calibri" pitchFamily="34" charset="-122"/>
                <a:cs typeface="Calibri" pitchFamily="34" charset="-120"/>
              </a:rPr>
              <a:t>M08 Reports &amp; Analytics *</a:t>
            </a:r>
            <a:endParaRPr lang="en-US" sz="1400" dirty="0"/>
          </a:p>
        </p:txBody>
      </p:sp>
      <p:sp>
        <p:nvSpPr>
          <p:cNvPr id="34" name="card-134"/>
          <p:cNvSpPr/>
          <p:nvPr/>
        </p:nvSpPr>
        <p:spPr>
          <a:xfrm>
            <a:off x="8997696" y="1325880"/>
            <a:ext cx="2651760" cy="1005840"/>
          </a:xfrm>
          <a:prstGeom prst="roundRect">
            <a:avLst>
              <a:gd name="adj" fmla="val 10909"/>
            </a:avLst>
          </a:prstGeom>
          <a:solidFill>
            <a:srgbClr val="1B2A6B"/>
          </a:solidFill>
          <a:ln w="12700">
            <a:solidFill>
              <a:srgbClr val="1B2A6B"/>
            </a:solidFill>
            <a:prstDash val="solid"/>
          </a:ln>
        </p:spPr>
      </p:sp>
      <p:sp>
        <p:nvSpPr>
          <p:cNvPr id="35" name="text-135"/>
          <p:cNvSpPr txBox="1"/>
          <p:nvPr/>
        </p:nvSpPr>
        <p:spPr>
          <a:xfrm>
            <a:off x="9134856" y="1371600"/>
            <a:ext cx="2377440" cy="365760"/>
          </a:xfrm>
          <a:prstGeom prst="rect">
            <a:avLst/>
          </a:prstGeom>
          <a:noFill/>
          <a:ln/>
        </p:spPr>
        <p:txBody>
          <a:bodyPr wrap="square" lIns="1016" tIns="1016" rIns="1016" bIns="1016" rtlCol="0" anchor="ctr"/>
          <a:lstStyle/>
          <a:p>
            <a:pPr marL="0" indent="0">
              <a:buNone/>
            </a:pPr>
            <a:r>
              <a:rPr lang="en-US" sz="1800" b="1" dirty="0">
                <a:solidFill>
                  <a:schemeClr val="bg1"/>
                </a:solidFill>
                <a:latin typeface="Arial" pitchFamily="34" charset="0"/>
                <a:ea typeface="Arial" pitchFamily="34" charset="-122"/>
                <a:cs typeface="Arial" pitchFamily="34" charset="-120"/>
              </a:rPr>
              <a:t>Cluster D</a:t>
            </a:r>
            <a:endParaRPr lang="en-US" sz="1800" dirty="0"/>
          </a:p>
        </p:txBody>
      </p:sp>
      <p:sp>
        <p:nvSpPr>
          <p:cNvPr id="36" name="text-136"/>
          <p:cNvSpPr txBox="1"/>
          <p:nvPr/>
        </p:nvSpPr>
        <p:spPr>
          <a:xfrm>
            <a:off x="9134856" y="1737360"/>
            <a:ext cx="2377440" cy="548640"/>
          </a:xfrm>
          <a:prstGeom prst="rect">
            <a:avLst/>
          </a:prstGeom>
          <a:noFill/>
          <a:ln/>
        </p:spPr>
        <p:txBody>
          <a:bodyPr wrap="square" lIns="1016" tIns="1016" rIns="1016" bIns="1016" rtlCol="0" anchor="ctr"/>
          <a:lstStyle/>
          <a:p>
            <a:pPr marL="0" indent="0">
              <a:buNone/>
            </a:pPr>
            <a:r>
              <a:rPr lang="en-US" sz="1300" dirty="0">
                <a:solidFill>
                  <a:schemeClr val="bg1"/>
                </a:solidFill>
                <a:latin typeface="Calibri" pitchFamily="34" charset="0"/>
                <a:ea typeface="Calibri" pitchFamily="34" charset="-122"/>
                <a:cs typeface="Calibri" pitchFamily="34" charset="-120"/>
              </a:rPr>
              <a:t>Monitoring and Energy</a:t>
            </a:r>
            <a:endParaRPr lang="en-US" sz="1300" dirty="0"/>
          </a:p>
        </p:txBody>
      </p:sp>
      <p:sp>
        <p:nvSpPr>
          <p:cNvPr id="37" name="card-137"/>
          <p:cNvSpPr/>
          <p:nvPr/>
        </p:nvSpPr>
        <p:spPr>
          <a:xfrm>
            <a:off x="8997696" y="2514600"/>
            <a:ext cx="2651760" cy="685800"/>
          </a:xfrm>
          <a:prstGeom prst="roundRect">
            <a:avLst>
              <a:gd name="adj" fmla="val 16000"/>
            </a:avLst>
          </a:prstGeom>
          <a:solidFill>
            <a:srgbClr val="EAF1FF"/>
          </a:solidFill>
          <a:ln w="12700">
            <a:solidFill>
              <a:srgbClr val="EAF1FF"/>
            </a:solidFill>
            <a:prstDash val="solid"/>
          </a:ln>
        </p:spPr>
      </p:sp>
      <p:sp>
        <p:nvSpPr>
          <p:cNvPr id="38" name="text-138"/>
          <p:cNvSpPr txBox="1"/>
          <p:nvPr/>
        </p:nvSpPr>
        <p:spPr>
          <a:xfrm>
            <a:off x="9134856" y="2514600"/>
            <a:ext cx="2423160" cy="685800"/>
          </a:xfrm>
          <a:prstGeom prst="rect">
            <a:avLst/>
          </a:prstGeom>
          <a:noFill/>
          <a:ln/>
        </p:spPr>
        <p:txBody>
          <a:bodyPr wrap="square" lIns="1016" tIns="1016" rIns="1016" bIns="1016" rtlCol="0" anchor="ctr"/>
          <a:lstStyle/>
          <a:p>
            <a:pPr marL="0" indent="0">
              <a:buNone/>
            </a:pPr>
            <a:r>
              <a:rPr lang="en-US" sz="1400" b="1" dirty="0">
                <a:solidFill>
                  <a:schemeClr val="tx1"/>
                </a:solidFill>
                <a:latin typeface="Calibri" pitchFamily="34" charset="0"/>
                <a:ea typeface="Calibri" pitchFamily="34" charset="-122"/>
                <a:cs typeface="Calibri" pitchFamily="34" charset="-120"/>
              </a:rPr>
              <a:t>M10 Kitchen Sensor Monitoring</a:t>
            </a:r>
            <a:endParaRPr lang="en-US" sz="1400" dirty="0"/>
          </a:p>
        </p:txBody>
      </p:sp>
      <p:sp>
        <p:nvSpPr>
          <p:cNvPr id="39" name="card-139"/>
          <p:cNvSpPr/>
          <p:nvPr/>
        </p:nvSpPr>
        <p:spPr>
          <a:xfrm>
            <a:off x="8997696" y="3337560"/>
            <a:ext cx="2651760" cy="685800"/>
          </a:xfrm>
          <a:prstGeom prst="roundRect">
            <a:avLst>
              <a:gd name="adj" fmla="val 16000"/>
            </a:avLst>
          </a:prstGeom>
          <a:solidFill>
            <a:srgbClr val="EAF1FF"/>
          </a:solidFill>
          <a:ln w="12700">
            <a:solidFill>
              <a:srgbClr val="EAF1FF"/>
            </a:solidFill>
            <a:prstDash val="solid"/>
          </a:ln>
        </p:spPr>
      </p:sp>
      <p:sp>
        <p:nvSpPr>
          <p:cNvPr id="40" name="text-140"/>
          <p:cNvSpPr txBox="1"/>
          <p:nvPr/>
        </p:nvSpPr>
        <p:spPr>
          <a:xfrm>
            <a:off x="9134856" y="3337560"/>
            <a:ext cx="2423160" cy="685800"/>
          </a:xfrm>
          <a:prstGeom prst="rect">
            <a:avLst/>
          </a:prstGeom>
          <a:noFill/>
          <a:ln/>
        </p:spPr>
        <p:txBody>
          <a:bodyPr wrap="square" lIns="1016" tIns="1016" rIns="1016" bIns="1016" rtlCol="0" anchor="ctr"/>
          <a:lstStyle/>
          <a:p>
            <a:pPr marL="0" indent="0">
              <a:buNone/>
            </a:pPr>
            <a:r>
              <a:rPr lang="en-US" sz="1400" b="1" dirty="0">
                <a:solidFill>
                  <a:schemeClr val="tx1"/>
                </a:solidFill>
                <a:latin typeface="Calibri" pitchFamily="34" charset="0"/>
                <a:ea typeface="Calibri" pitchFamily="34" charset="-122"/>
                <a:cs typeface="Calibri" pitchFamily="34" charset="-120"/>
              </a:rPr>
              <a:t>M13 Kitchen Energy Meter</a:t>
            </a:r>
            <a:endParaRPr lang="en-US" sz="1400" dirty="0"/>
          </a:p>
        </p:txBody>
      </p:sp>
      <p:sp>
        <p:nvSpPr>
          <p:cNvPr id="41" name="card-141"/>
          <p:cNvSpPr/>
          <p:nvPr/>
        </p:nvSpPr>
        <p:spPr>
          <a:xfrm>
            <a:off x="8997696" y="4160520"/>
            <a:ext cx="2651760" cy="685800"/>
          </a:xfrm>
          <a:prstGeom prst="roundRect">
            <a:avLst>
              <a:gd name="adj" fmla="val 16000"/>
            </a:avLst>
          </a:prstGeom>
          <a:solidFill>
            <a:srgbClr val="EAF1FF"/>
          </a:solidFill>
          <a:ln w="12700">
            <a:solidFill>
              <a:srgbClr val="EAF1FF"/>
            </a:solidFill>
            <a:prstDash val="solid"/>
          </a:ln>
        </p:spPr>
      </p:sp>
      <p:sp>
        <p:nvSpPr>
          <p:cNvPr id="42" name="text-142"/>
          <p:cNvSpPr txBox="1"/>
          <p:nvPr/>
        </p:nvSpPr>
        <p:spPr>
          <a:xfrm>
            <a:off x="9134856" y="4160520"/>
            <a:ext cx="2423160" cy="685800"/>
          </a:xfrm>
          <a:prstGeom prst="rect">
            <a:avLst/>
          </a:prstGeom>
          <a:noFill/>
          <a:ln/>
        </p:spPr>
        <p:txBody>
          <a:bodyPr wrap="square" lIns="1016" tIns="1016" rIns="1016" bIns="1016" rtlCol="0" anchor="ctr"/>
          <a:lstStyle/>
          <a:p>
            <a:pPr marL="0" indent="0">
              <a:buNone/>
            </a:pPr>
            <a:r>
              <a:rPr lang="en-US" sz="1400" dirty="0">
                <a:solidFill>
                  <a:schemeClr val="tx1"/>
                </a:solidFill>
                <a:latin typeface="Calibri" pitchFamily="34" charset="0"/>
                <a:ea typeface="Calibri" pitchFamily="34" charset="-122"/>
                <a:cs typeface="Calibri" pitchFamily="34" charset="-120"/>
              </a:rPr>
              <a:t>→ results feed M08</a:t>
            </a:r>
            <a:endParaRPr lang="en-US" sz="1400" dirty="0"/>
          </a:p>
        </p:txBody>
      </p:sp>
      <p:sp>
        <p:nvSpPr>
          <p:cNvPr id="43" name="text-143"/>
          <p:cNvSpPr txBox="1"/>
          <p:nvPr/>
        </p:nvSpPr>
        <p:spPr>
          <a:xfrm>
            <a:off x="548640" y="5897880"/>
            <a:ext cx="11064240" cy="457200"/>
          </a:xfrm>
          <a:prstGeom prst="rect">
            <a:avLst/>
          </a:prstGeom>
          <a:noFill/>
          <a:ln/>
        </p:spPr>
        <p:txBody>
          <a:bodyPr wrap="square" lIns="1016" tIns="1016" rIns="1016" bIns="1016"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 The presentation brief lists M08 under Cluster D; the code keeps M08 in BillingFeedbackReports (Cluster C, as in the development plan), and it reads M10 and M13 results.</a:t>
            </a:r>
            <a:endParaRPr lang="en-US" sz="1100" dirty="0"/>
          </a:p>
        </p:txBody>
      </p:sp>
      <p:sp>
        <p:nvSpPr>
          <p:cNvPr id="44"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1"/>
          </p:nvPr>
        </p:nvSpPr>
        <p:spPr/>
        <p:txBody>
          <a:bodyPr/>
          <a:lstStyle/>
          <a:p>
            <a:r>
              <a:t>CLUSTER A  ·  RestaurantSetup</a:t>
            </a:r>
          </a:p>
        </p:txBody>
      </p:sp>
      <p:sp>
        <p:nvSpPr>
          <p:cNvPr id="3" name="Title 2"/>
          <p:cNvSpPr>
            <a:spLocks noGrp="1"/>
          </p:cNvSpPr>
          <p:nvPr>
            <p:ph type="title" idx="102"/>
          </p:nvPr>
        </p:nvSpPr>
        <p:spPr/>
        <p:txBody>
          <a:bodyPr/>
          <a:lstStyle/>
          <a:p>
            <a:r>
              <a:t>Login, menu, customers and the 8-bit table register</a:t>
            </a:r>
          </a:p>
        </p:txBody>
      </p:sp>
      <p:sp>
        <p:nvSpPr>
          <p:cNvPr id="4" name="Rounded Rectangle 3"/>
          <p:cNvSpPr/>
          <p:nvPr/>
        </p:nvSpPr>
        <p:spPr>
          <a:xfrm>
            <a:off x="7543800" y="274320"/>
            <a:ext cx="960120" cy="27432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543800" y="274320"/>
            <a:ext cx="960120" cy="274320"/>
          </a:xfrm>
          <a:prstGeom prst="rect">
            <a:avLst/>
          </a:prstGeom>
          <a:noFill/>
        </p:spPr>
        <p:txBody>
          <a:bodyPr wrap="square" lIns="0" tIns="0" rIns="0" bIns="0" anchor="ctr">
            <a:spAutoFit/>
          </a:bodyPr>
          <a:lstStyle/>
          <a:p>
            <a:pPr algn="ctr"/>
            <a:r>
              <a:rPr sz="1000" b="1" i="0">
                <a:solidFill>
                  <a:schemeClr val="bg1"/>
                </a:solidFill>
              </a:rPr>
              <a:t>Cluster A</a:t>
            </a:r>
          </a:p>
        </p:txBody>
      </p:sp>
      <p:sp>
        <p:nvSpPr>
          <p:cNvPr id="6" name="Rounded Rectangle 5"/>
          <p:cNvSpPr/>
          <p:nvPr/>
        </p:nvSpPr>
        <p:spPr>
          <a:xfrm>
            <a:off x="8577072" y="274320"/>
            <a:ext cx="960120" cy="274320"/>
          </a:xfrm>
          <a:prstGeom prst="roundRect">
            <a:avLst>
              <a:gd name="adj" fmla="val 50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577072" y="274320"/>
            <a:ext cx="960120" cy="274320"/>
          </a:xfrm>
          <a:prstGeom prst="rect">
            <a:avLst/>
          </a:prstGeom>
          <a:noFill/>
        </p:spPr>
        <p:txBody>
          <a:bodyPr wrap="square" lIns="0" tIns="0" rIns="0" bIns="0" anchor="ctr">
            <a:spAutoFit/>
          </a:bodyPr>
          <a:lstStyle/>
          <a:p>
            <a:pPr algn="ctr"/>
            <a:r>
              <a:rPr sz="1000" b="0" i="0">
                <a:solidFill>
                  <a:schemeClr val="tx2"/>
                </a:solidFill>
              </a:rPr>
              <a:t>Cluster B</a:t>
            </a:r>
          </a:p>
        </p:txBody>
      </p:sp>
      <p:sp>
        <p:nvSpPr>
          <p:cNvPr id="8" name="Rounded Rectangle 7"/>
          <p:cNvSpPr/>
          <p:nvPr/>
        </p:nvSpPr>
        <p:spPr>
          <a:xfrm>
            <a:off x="9610344" y="274320"/>
            <a:ext cx="960120" cy="274320"/>
          </a:xfrm>
          <a:prstGeom prst="roundRect">
            <a:avLst>
              <a:gd name="adj" fmla="val 50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9610344" y="274320"/>
            <a:ext cx="960120" cy="274320"/>
          </a:xfrm>
          <a:prstGeom prst="rect">
            <a:avLst/>
          </a:prstGeom>
          <a:noFill/>
        </p:spPr>
        <p:txBody>
          <a:bodyPr wrap="square" lIns="0" tIns="0" rIns="0" bIns="0" anchor="ctr">
            <a:spAutoFit/>
          </a:bodyPr>
          <a:lstStyle/>
          <a:p>
            <a:pPr algn="ctr"/>
            <a:r>
              <a:rPr sz="1000" b="0" i="0">
                <a:solidFill>
                  <a:schemeClr val="tx2"/>
                </a:solidFill>
              </a:rPr>
              <a:t>Cluster C</a:t>
            </a:r>
          </a:p>
        </p:txBody>
      </p:sp>
      <p:sp>
        <p:nvSpPr>
          <p:cNvPr id="10" name="Rounded Rectangle 9"/>
          <p:cNvSpPr/>
          <p:nvPr/>
        </p:nvSpPr>
        <p:spPr>
          <a:xfrm>
            <a:off x="10643616" y="274320"/>
            <a:ext cx="960120" cy="274320"/>
          </a:xfrm>
          <a:prstGeom prst="roundRect">
            <a:avLst>
              <a:gd name="adj" fmla="val 50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643616" y="274320"/>
            <a:ext cx="960120" cy="274320"/>
          </a:xfrm>
          <a:prstGeom prst="rect">
            <a:avLst/>
          </a:prstGeom>
          <a:noFill/>
        </p:spPr>
        <p:txBody>
          <a:bodyPr wrap="square" lIns="0" tIns="0" rIns="0" bIns="0" anchor="ctr">
            <a:spAutoFit/>
          </a:bodyPr>
          <a:lstStyle/>
          <a:p>
            <a:pPr algn="ctr"/>
            <a:r>
              <a:rPr sz="1000" b="0" i="0">
                <a:solidFill>
                  <a:schemeClr val="tx2"/>
                </a:solidFill>
              </a:rPr>
              <a:t>Cluster D</a:t>
            </a:r>
          </a:p>
        </p:txBody>
      </p:sp>
      <p:sp>
        <p:nvSpPr>
          <p:cNvPr id="12" name="Rounded Rectangle 11"/>
          <p:cNvSpPr/>
          <p:nvPr/>
        </p:nvSpPr>
        <p:spPr>
          <a:xfrm>
            <a:off x="548640" y="1463040"/>
            <a:ext cx="5440680" cy="804672"/>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ounded Rectangle 12"/>
          <p:cNvSpPr/>
          <p:nvPr/>
        </p:nvSpPr>
        <p:spPr>
          <a:xfrm>
            <a:off x="713232" y="1709928"/>
            <a:ext cx="621792" cy="292608"/>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713232" y="1709928"/>
            <a:ext cx="621792" cy="292608"/>
          </a:xfrm>
          <a:prstGeom prst="rect">
            <a:avLst/>
          </a:prstGeom>
          <a:noFill/>
        </p:spPr>
        <p:txBody>
          <a:bodyPr wrap="square" lIns="0" tIns="0" rIns="0" bIns="0" anchor="ctr">
            <a:spAutoFit/>
          </a:bodyPr>
          <a:lstStyle/>
          <a:p>
            <a:pPr algn="ctr"/>
            <a:r>
              <a:rPr sz="1100" b="1" i="0">
                <a:solidFill>
                  <a:schemeClr val="bg1"/>
                </a:solidFill>
              </a:rPr>
              <a:t>M01</a:t>
            </a:r>
          </a:p>
        </p:txBody>
      </p:sp>
      <p:sp>
        <p:nvSpPr>
          <p:cNvPr id="15" name="TextBox 14"/>
          <p:cNvSpPr txBox="1"/>
          <p:nvPr/>
        </p:nvSpPr>
        <p:spPr>
          <a:xfrm>
            <a:off x="1481328" y="1463040"/>
            <a:ext cx="4389120" cy="804672"/>
          </a:xfrm>
          <a:prstGeom prst="rect">
            <a:avLst/>
          </a:prstGeom>
          <a:noFill/>
        </p:spPr>
        <p:txBody>
          <a:bodyPr wrap="square" lIns="0" tIns="0" rIns="0" bIns="0" anchor="ctr">
            <a:spAutoFit/>
          </a:bodyPr>
          <a:lstStyle/>
          <a:p>
            <a:pPr algn="l"/>
            <a:r>
              <a:rPr sz="1300" b="0" i="0">
                <a:solidFill>
                  <a:schemeClr val="tx1"/>
                </a:solidFill>
              </a:rPr>
              <a:t>Staff ID = role letter + 3 digits (W104); 4-digit PIN; 3 wrong PINs lock the account</a:t>
            </a:r>
          </a:p>
        </p:txBody>
      </p:sp>
      <p:sp>
        <p:nvSpPr>
          <p:cNvPr id="16" name="Rounded Rectangle 15"/>
          <p:cNvSpPr/>
          <p:nvPr/>
        </p:nvSpPr>
        <p:spPr>
          <a:xfrm>
            <a:off x="548640" y="2395728"/>
            <a:ext cx="5440680" cy="804672"/>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ounded Rectangle 16"/>
          <p:cNvSpPr/>
          <p:nvPr/>
        </p:nvSpPr>
        <p:spPr>
          <a:xfrm>
            <a:off x="713232" y="2642616"/>
            <a:ext cx="621792" cy="292608"/>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13232" y="2642616"/>
            <a:ext cx="621792" cy="292608"/>
          </a:xfrm>
          <a:prstGeom prst="rect">
            <a:avLst/>
          </a:prstGeom>
          <a:noFill/>
        </p:spPr>
        <p:txBody>
          <a:bodyPr wrap="square" lIns="0" tIns="0" rIns="0" bIns="0" anchor="ctr">
            <a:spAutoFit/>
          </a:bodyPr>
          <a:lstStyle/>
          <a:p>
            <a:pPr algn="ctr"/>
            <a:r>
              <a:rPr sz="1100" b="1" i="0">
                <a:solidFill>
                  <a:schemeClr val="bg1"/>
                </a:solidFill>
              </a:rPr>
              <a:t>M01</a:t>
            </a:r>
          </a:p>
        </p:txBody>
      </p:sp>
      <p:sp>
        <p:nvSpPr>
          <p:cNvPr id="19" name="TextBox 18"/>
          <p:cNvSpPr txBox="1"/>
          <p:nvPr/>
        </p:nvSpPr>
        <p:spPr>
          <a:xfrm>
            <a:off x="1481328" y="2395728"/>
            <a:ext cx="4389120" cy="804672"/>
          </a:xfrm>
          <a:prstGeom prst="rect">
            <a:avLst/>
          </a:prstGeom>
          <a:noFill/>
        </p:spPr>
        <p:txBody>
          <a:bodyPr wrap="square" lIns="0" tIns="0" rIns="0" bIns="0" anchor="ctr">
            <a:spAutoFit/>
          </a:bodyPr>
          <a:lstStyle/>
          <a:p>
            <a:pPr algn="l"/>
            <a:r>
              <a:rPr sz="1300" b="0" i="0">
                <a:solidFill>
                  <a:schemeClr val="tx1"/>
                </a:solidFill>
              </a:rPr>
              <a:t>Waiter, Chef, Cashier and Admin each see only their own menu</a:t>
            </a:r>
          </a:p>
        </p:txBody>
      </p:sp>
      <p:sp>
        <p:nvSpPr>
          <p:cNvPr id="20" name="Rounded Rectangle 19"/>
          <p:cNvSpPr/>
          <p:nvPr/>
        </p:nvSpPr>
        <p:spPr>
          <a:xfrm>
            <a:off x="548640" y="3328416"/>
            <a:ext cx="5440680" cy="804672"/>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ounded Rectangle 20"/>
          <p:cNvSpPr/>
          <p:nvPr/>
        </p:nvSpPr>
        <p:spPr>
          <a:xfrm>
            <a:off x="713232" y="3575304"/>
            <a:ext cx="621792" cy="292608"/>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13232" y="3575304"/>
            <a:ext cx="621792" cy="292608"/>
          </a:xfrm>
          <a:prstGeom prst="rect">
            <a:avLst/>
          </a:prstGeom>
          <a:noFill/>
        </p:spPr>
        <p:txBody>
          <a:bodyPr wrap="square" lIns="0" tIns="0" rIns="0" bIns="0" anchor="ctr">
            <a:spAutoFit/>
          </a:bodyPr>
          <a:lstStyle/>
          <a:p>
            <a:pPr algn="ctr"/>
            <a:r>
              <a:rPr sz="1100" b="1" i="0">
                <a:solidFill>
                  <a:schemeClr val="bg1"/>
                </a:solidFill>
              </a:rPr>
              <a:t>M02</a:t>
            </a:r>
          </a:p>
        </p:txBody>
      </p:sp>
      <p:sp>
        <p:nvSpPr>
          <p:cNvPr id="23" name="TextBox 22"/>
          <p:cNvSpPr txBox="1"/>
          <p:nvPr/>
        </p:nvSpPr>
        <p:spPr>
          <a:xfrm>
            <a:off x="1481328" y="3328416"/>
            <a:ext cx="4389120" cy="804672"/>
          </a:xfrm>
          <a:prstGeom prst="rect">
            <a:avLst/>
          </a:prstGeom>
          <a:noFill/>
        </p:spPr>
        <p:txBody>
          <a:bodyPr wrap="square" lIns="0" tIns="0" rIns="0" bIns="0" anchor="ctr">
            <a:spAutoFit/>
          </a:bodyPr>
          <a:lstStyle/>
          <a:p>
            <a:pPr algn="l"/>
            <a:r>
              <a:rPr sz="1300" b="0" i="0">
                <a:solidFill>
                  <a:schemeClr val="tx1"/>
                </a:solidFill>
              </a:rPr>
              <a:t>Admin adds, reprices or hides dishes; 30-dish MenuItem[] holding VegItem, NonVegItem, Beverage</a:t>
            </a:r>
          </a:p>
        </p:txBody>
      </p:sp>
      <p:sp>
        <p:nvSpPr>
          <p:cNvPr id="24" name="Rounded Rectangle 23"/>
          <p:cNvSpPr/>
          <p:nvPr/>
        </p:nvSpPr>
        <p:spPr>
          <a:xfrm>
            <a:off x="548640" y="4261104"/>
            <a:ext cx="5440680" cy="804672"/>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ounded Rectangle 24"/>
          <p:cNvSpPr/>
          <p:nvPr/>
        </p:nvSpPr>
        <p:spPr>
          <a:xfrm>
            <a:off x="713232" y="4507992"/>
            <a:ext cx="621792" cy="292608"/>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713232" y="4507992"/>
            <a:ext cx="621792" cy="292608"/>
          </a:xfrm>
          <a:prstGeom prst="rect">
            <a:avLst/>
          </a:prstGeom>
          <a:noFill/>
        </p:spPr>
        <p:txBody>
          <a:bodyPr wrap="square" lIns="0" tIns="0" rIns="0" bIns="0" anchor="ctr">
            <a:spAutoFit/>
          </a:bodyPr>
          <a:lstStyle/>
          <a:p>
            <a:pPr algn="ctr"/>
            <a:r>
              <a:rPr sz="1100" b="1" i="0">
                <a:solidFill>
                  <a:schemeClr val="bg1"/>
                </a:solidFill>
              </a:rPr>
              <a:t>M03</a:t>
            </a:r>
          </a:p>
        </p:txBody>
      </p:sp>
      <p:sp>
        <p:nvSpPr>
          <p:cNvPr id="27" name="TextBox 26"/>
          <p:cNvSpPr txBox="1"/>
          <p:nvPr/>
        </p:nvSpPr>
        <p:spPr>
          <a:xfrm>
            <a:off x="1481328" y="4261104"/>
            <a:ext cx="4389120" cy="804672"/>
          </a:xfrm>
          <a:prstGeom prst="rect">
            <a:avLst/>
          </a:prstGeom>
          <a:noFill/>
        </p:spPr>
        <p:txBody>
          <a:bodyPr wrap="square" lIns="0" tIns="0" rIns="0" bIns="0" anchor="ctr">
            <a:spAutoFit/>
          </a:bodyPr>
          <a:lstStyle/>
          <a:p>
            <a:pPr algn="l"/>
            <a:r>
              <a:rPr sz="1300" b="0" i="0">
                <a:solidFill>
                  <a:schemeClr val="tx1"/>
                </a:solidFill>
              </a:rPr>
              <a:t>Mobile: 10 digits starting 6-9; visit count; loyalty when visits % 7 == 0; top 3 favourites first; veg-only filter</a:t>
            </a:r>
          </a:p>
        </p:txBody>
      </p:sp>
      <p:sp>
        <p:nvSpPr>
          <p:cNvPr id="28" name="TextBox 27"/>
          <p:cNvSpPr txBox="1"/>
          <p:nvPr/>
        </p:nvSpPr>
        <p:spPr>
          <a:xfrm>
            <a:off x="548640" y="5257800"/>
            <a:ext cx="5440680" cy="548640"/>
          </a:xfrm>
          <a:prstGeom prst="rect">
            <a:avLst/>
          </a:prstGeom>
          <a:noFill/>
        </p:spPr>
        <p:txBody>
          <a:bodyPr wrap="square" lIns="0" tIns="0" rIns="0" bIns="0" anchor="t">
            <a:spAutoFit/>
          </a:bodyPr>
          <a:lstStyle/>
          <a:p>
            <a:pPr algn="l"/>
            <a:r>
              <a:rPr sz="1200" b="1" i="0">
                <a:solidFill>
                  <a:schemeClr val="tx1"/>
                </a:solidFill>
              </a:rPr>
              <a:t>Example  </a:t>
            </a:r>
            <a:r>
              <a:rPr sz="1200" b="0" i="0">
                <a:solidFill>
                  <a:schemeClr val="tx2"/>
                </a:solidFill>
              </a:rPr>
              <a:t>Priya Sharma, visit #14 → 14 % 7 = 0 → 10% off; Veg Biryani, Paneer Tikka, Masala Chai shown first</a:t>
            </a:r>
          </a:p>
        </p:txBody>
      </p:sp>
      <p:sp>
        <p:nvSpPr>
          <p:cNvPr id="29" name="Rounded Rectangle 28"/>
          <p:cNvSpPr/>
          <p:nvPr/>
        </p:nvSpPr>
        <p:spPr>
          <a:xfrm>
            <a:off x="6263640" y="1463040"/>
            <a:ext cx="5376672" cy="470916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6446520" y="1572768"/>
            <a:ext cx="5029200" cy="320040"/>
          </a:xfrm>
          <a:prstGeom prst="rect">
            <a:avLst/>
          </a:prstGeom>
          <a:noFill/>
        </p:spPr>
        <p:txBody>
          <a:bodyPr wrap="square" lIns="0" tIns="0" rIns="0" bIns="0" anchor="t">
            <a:spAutoFit/>
          </a:bodyPr>
          <a:lstStyle/>
          <a:p>
            <a:pPr algn="l"/>
            <a:r>
              <a:rPr sz="1500" b="1" i="0">
                <a:solidFill>
                  <a:schemeClr val="accent1"/>
                </a:solidFill>
              </a:rPr>
              <a:t>M09  </a:t>
            </a:r>
            <a:r>
              <a:rPr sz="1500" b="1" i="0">
                <a:solidFill>
                  <a:schemeClr val="tx1"/>
                </a:solidFill>
              </a:rPr>
              <a:t>Table register: 8 bits = 8 tables</a:t>
            </a:r>
          </a:p>
        </p:txBody>
      </p:sp>
      <p:sp>
        <p:nvSpPr>
          <p:cNvPr id="31" name="TextBox 30"/>
          <p:cNvSpPr txBox="1"/>
          <p:nvPr/>
        </p:nvSpPr>
        <p:spPr>
          <a:xfrm>
            <a:off x="6473952" y="1984248"/>
            <a:ext cx="548640" cy="228600"/>
          </a:xfrm>
          <a:prstGeom prst="rect">
            <a:avLst/>
          </a:prstGeom>
          <a:noFill/>
        </p:spPr>
        <p:txBody>
          <a:bodyPr wrap="square" lIns="0" tIns="0" rIns="0" bIns="0" anchor="t">
            <a:spAutoFit/>
          </a:bodyPr>
          <a:lstStyle/>
          <a:p>
            <a:pPr algn="ctr"/>
            <a:r>
              <a:rPr sz="1100" b="0" i="0">
                <a:solidFill>
                  <a:schemeClr val="tx2"/>
                </a:solidFill>
              </a:rPr>
              <a:t>T1</a:t>
            </a:r>
          </a:p>
        </p:txBody>
      </p:sp>
      <p:sp>
        <p:nvSpPr>
          <p:cNvPr id="32" name="Rounded Rectangle 31"/>
          <p:cNvSpPr/>
          <p:nvPr/>
        </p:nvSpPr>
        <p:spPr>
          <a:xfrm>
            <a:off x="6473952" y="2240280"/>
            <a:ext cx="548640" cy="502920"/>
          </a:xfrm>
          <a:prstGeom prst="roundRect">
            <a:avLst>
              <a:gd name="adj" fmla="val 15000"/>
            </a:avLst>
          </a:prstGeom>
          <a:solidFill>
            <a:schemeClr val="bg1"/>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6473952" y="2240280"/>
            <a:ext cx="548640" cy="502920"/>
          </a:xfrm>
          <a:prstGeom prst="rect">
            <a:avLst/>
          </a:prstGeom>
          <a:noFill/>
        </p:spPr>
        <p:txBody>
          <a:bodyPr wrap="square" lIns="0" tIns="0" rIns="0" bIns="0" anchor="ctr">
            <a:spAutoFit/>
          </a:bodyPr>
          <a:lstStyle/>
          <a:p>
            <a:pPr algn="ctr"/>
            <a:r>
              <a:rPr sz="1700" b="1" i="0">
                <a:solidFill>
                  <a:schemeClr val="tx1"/>
                </a:solidFill>
                <a:latin typeface="Courier New"/>
              </a:rPr>
              <a:t>0</a:t>
            </a:r>
          </a:p>
        </p:txBody>
      </p:sp>
      <p:sp>
        <p:nvSpPr>
          <p:cNvPr id="34" name="Rounded Rectangle 33"/>
          <p:cNvSpPr/>
          <p:nvPr/>
        </p:nvSpPr>
        <p:spPr>
          <a:xfrm>
            <a:off x="6473952" y="3154680"/>
            <a:ext cx="548640" cy="502920"/>
          </a:xfrm>
          <a:prstGeom prst="roundRect">
            <a:avLst>
              <a:gd name="adj" fmla="val 15000"/>
            </a:avLst>
          </a:prstGeom>
          <a:solidFill>
            <a:schemeClr val="bg1"/>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6473952" y="3154680"/>
            <a:ext cx="548640" cy="502920"/>
          </a:xfrm>
          <a:prstGeom prst="rect">
            <a:avLst/>
          </a:prstGeom>
          <a:noFill/>
        </p:spPr>
        <p:txBody>
          <a:bodyPr wrap="square" lIns="0" tIns="0" rIns="0" bIns="0" anchor="ctr">
            <a:spAutoFit/>
          </a:bodyPr>
          <a:lstStyle/>
          <a:p>
            <a:pPr algn="ctr"/>
            <a:r>
              <a:rPr sz="1700" b="1" i="0">
                <a:solidFill>
                  <a:schemeClr val="tx1"/>
                </a:solidFill>
                <a:latin typeface="Courier New"/>
              </a:rPr>
              <a:t>0</a:t>
            </a:r>
          </a:p>
        </p:txBody>
      </p:sp>
      <p:sp>
        <p:nvSpPr>
          <p:cNvPr id="36" name="TextBox 35"/>
          <p:cNvSpPr txBox="1"/>
          <p:nvPr/>
        </p:nvSpPr>
        <p:spPr>
          <a:xfrm>
            <a:off x="7095744" y="1984248"/>
            <a:ext cx="548640" cy="228600"/>
          </a:xfrm>
          <a:prstGeom prst="rect">
            <a:avLst/>
          </a:prstGeom>
          <a:noFill/>
        </p:spPr>
        <p:txBody>
          <a:bodyPr wrap="square" lIns="0" tIns="0" rIns="0" bIns="0" anchor="t">
            <a:spAutoFit/>
          </a:bodyPr>
          <a:lstStyle/>
          <a:p>
            <a:pPr algn="ctr"/>
            <a:r>
              <a:rPr sz="1100" b="0" i="0">
                <a:solidFill>
                  <a:schemeClr val="tx2"/>
                </a:solidFill>
              </a:rPr>
              <a:t>T2</a:t>
            </a:r>
          </a:p>
        </p:txBody>
      </p:sp>
      <p:sp>
        <p:nvSpPr>
          <p:cNvPr id="37" name="Rounded Rectangle 36"/>
          <p:cNvSpPr/>
          <p:nvPr/>
        </p:nvSpPr>
        <p:spPr>
          <a:xfrm>
            <a:off x="7095744" y="2240280"/>
            <a:ext cx="548640" cy="502920"/>
          </a:xfrm>
          <a:prstGeom prst="roundRect">
            <a:avLst>
              <a:gd name="adj" fmla="val 15000"/>
            </a:avLst>
          </a:prstGeom>
          <a:solidFill>
            <a:schemeClr val="accent1"/>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7095744" y="2240280"/>
            <a:ext cx="548640" cy="502920"/>
          </a:xfrm>
          <a:prstGeom prst="rect">
            <a:avLst/>
          </a:prstGeom>
          <a:noFill/>
        </p:spPr>
        <p:txBody>
          <a:bodyPr wrap="square" lIns="0" tIns="0" rIns="0" bIns="0" anchor="ctr">
            <a:spAutoFit/>
          </a:bodyPr>
          <a:lstStyle/>
          <a:p>
            <a:pPr algn="ctr"/>
            <a:r>
              <a:rPr sz="1700" b="1" i="0">
                <a:solidFill>
                  <a:schemeClr val="bg1"/>
                </a:solidFill>
                <a:latin typeface="Courier New"/>
              </a:rPr>
              <a:t>1</a:t>
            </a:r>
          </a:p>
        </p:txBody>
      </p:sp>
      <p:sp>
        <p:nvSpPr>
          <p:cNvPr id="39" name="Rounded Rectangle 38"/>
          <p:cNvSpPr/>
          <p:nvPr/>
        </p:nvSpPr>
        <p:spPr>
          <a:xfrm>
            <a:off x="7095744" y="3154680"/>
            <a:ext cx="548640" cy="502920"/>
          </a:xfrm>
          <a:prstGeom prst="roundRect">
            <a:avLst>
              <a:gd name="adj" fmla="val 15000"/>
            </a:avLst>
          </a:prstGeom>
          <a:solidFill>
            <a:schemeClr val="accent1"/>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7095744" y="3154680"/>
            <a:ext cx="548640" cy="502920"/>
          </a:xfrm>
          <a:prstGeom prst="rect">
            <a:avLst/>
          </a:prstGeom>
          <a:noFill/>
        </p:spPr>
        <p:txBody>
          <a:bodyPr wrap="square" lIns="0" tIns="0" rIns="0" bIns="0" anchor="ctr">
            <a:spAutoFit/>
          </a:bodyPr>
          <a:lstStyle/>
          <a:p>
            <a:pPr algn="ctr"/>
            <a:r>
              <a:rPr sz="1700" b="1" i="0">
                <a:solidFill>
                  <a:schemeClr val="bg1"/>
                </a:solidFill>
                <a:latin typeface="Courier New"/>
              </a:rPr>
              <a:t>1</a:t>
            </a:r>
          </a:p>
        </p:txBody>
      </p:sp>
      <p:sp>
        <p:nvSpPr>
          <p:cNvPr id="41" name="TextBox 40"/>
          <p:cNvSpPr txBox="1"/>
          <p:nvPr/>
        </p:nvSpPr>
        <p:spPr>
          <a:xfrm>
            <a:off x="7717536" y="1984248"/>
            <a:ext cx="548640" cy="228600"/>
          </a:xfrm>
          <a:prstGeom prst="rect">
            <a:avLst/>
          </a:prstGeom>
          <a:noFill/>
        </p:spPr>
        <p:txBody>
          <a:bodyPr wrap="square" lIns="0" tIns="0" rIns="0" bIns="0" anchor="t">
            <a:spAutoFit/>
          </a:bodyPr>
          <a:lstStyle/>
          <a:p>
            <a:pPr algn="ctr"/>
            <a:r>
              <a:rPr sz="1100" b="0" i="0">
                <a:solidFill>
                  <a:schemeClr val="tx2"/>
                </a:solidFill>
              </a:rPr>
              <a:t>T3</a:t>
            </a:r>
          </a:p>
        </p:txBody>
      </p:sp>
      <p:sp>
        <p:nvSpPr>
          <p:cNvPr id="42" name="Rounded Rectangle 41"/>
          <p:cNvSpPr/>
          <p:nvPr/>
        </p:nvSpPr>
        <p:spPr>
          <a:xfrm>
            <a:off x="7717536" y="2240280"/>
            <a:ext cx="548640" cy="502920"/>
          </a:xfrm>
          <a:prstGeom prst="roundRect">
            <a:avLst>
              <a:gd name="adj" fmla="val 15000"/>
            </a:avLst>
          </a:prstGeom>
          <a:solidFill>
            <a:schemeClr val="bg1"/>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7717536" y="2240280"/>
            <a:ext cx="548640" cy="502920"/>
          </a:xfrm>
          <a:prstGeom prst="rect">
            <a:avLst/>
          </a:prstGeom>
          <a:noFill/>
        </p:spPr>
        <p:txBody>
          <a:bodyPr wrap="square" lIns="0" tIns="0" rIns="0" bIns="0" anchor="ctr">
            <a:spAutoFit/>
          </a:bodyPr>
          <a:lstStyle/>
          <a:p>
            <a:pPr algn="ctr"/>
            <a:r>
              <a:rPr sz="1700" b="1" i="0">
                <a:solidFill>
                  <a:schemeClr val="tx1"/>
                </a:solidFill>
                <a:latin typeface="Courier New"/>
              </a:rPr>
              <a:t>0</a:t>
            </a:r>
          </a:p>
        </p:txBody>
      </p:sp>
      <p:sp>
        <p:nvSpPr>
          <p:cNvPr id="44" name="Rounded Rectangle 43"/>
          <p:cNvSpPr/>
          <p:nvPr/>
        </p:nvSpPr>
        <p:spPr>
          <a:xfrm>
            <a:off x="7717536" y="3154680"/>
            <a:ext cx="548640" cy="502920"/>
          </a:xfrm>
          <a:prstGeom prst="roundRect">
            <a:avLst>
              <a:gd name="adj" fmla="val 15000"/>
            </a:avLst>
          </a:prstGeom>
          <a:solidFill>
            <a:schemeClr val="bg1"/>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Box 44"/>
          <p:cNvSpPr txBox="1"/>
          <p:nvPr/>
        </p:nvSpPr>
        <p:spPr>
          <a:xfrm>
            <a:off x="7717536" y="3154680"/>
            <a:ext cx="548640" cy="502920"/>
          </a:xfrm>
          <a:prstGeom prst="rect">
            <a:avLst/>
          </a:prstGeom>
          <a:noFill/>
        </p:spPr>
        <p:txBody>
          <a:bodyPr wrap="square" lIns="0" tIns="0" rIns="0" bIns="0" anchor="ctr">
            <a:spAutoFit/>
          </a:bodyPr>
          <a:lstStyle/>
          <a:p>
            <a:pPr algn="ctr"/>
            <a:r>
              <a:rPr sz="1700" b="1" i="0">
                <a:solidFill>
                  <a:schemeClr val="tx1"/>
                </a:solidFill>
                <a:latin typeface="Courier New"/>
              </a:rPr>
              <a:t>0</a:t>
            </a:r>
          </a:p>
        </p:txBody>
      </p:sp>
      <p:sp>
        <p:nvSpPr>
          <p:cNvPr id="46" name="TextBox 45"/>
          <p:cNvSpPr txBox="1"/>
          <p:nvPr/>
        </p:nvSpPr>
        <p:spPr>
          <a:xfrm>
            <a:off x="8339328" y="1984248"/>
            <a:ext cx="548640" cy="228600"/>
          </a:xfrm>
          <a:prstGeom prst="rect">
            <a:avLst/>
          </a:prstGeom>
          <a:noFill/>
        </p:spPr>
        <p:txBody>
          <a:bodyPr wrap="square" lIns="0" tIns="0" rIns="0" bIns="0" anchor="t">
            <a:spAutoFit/>
          </a:bodyPr>
          <a:lstStyle/>
          <a:p>
            <a:pPr algn="ctr"/>
            <a:r>
              <a:rPr sz="1100" b="0" i="0">
                <a:solidFill>
                  <a:schemeClr val="tx2"/>
                </a:solidFill>
              </a:rPr>
              <a:t>T4</a:t>
            </a:r>
          </a:p>
        </p:txBody>
      </p:sp>
      <p:sp>
        <p:nvSpPr>
          <p:cNvPr id="47" name="Rounded Rectangle 46"/>
          <p:cNvSpPr/>
          <p:nvPr/>
        </p:nvSpPr>
        <p:spPr>
          <a:xfrm>
            <a:off x="8339328" y="2240280"/>
            <a:ext cx="548640" cy="502920"/>
          </a:xfrm>
          <a:prstGeom prst="roundRect">
            <a:avLst>
              <a:gd name="adj" fmla="val 15000"/>
            </a:avLst>
          </a:prstGeom>
          <a:solidFill>
            <a:schemeClr val="bg1"/>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TextBox 47"/>
          <p:cNvSpPr txBox="1"/>
          <p:nvPr/>
        </p:nvSpPr>
        <p:spPr>
          <a:xfrm>
            <a:off x="8339328" y="2240280"/>
            <a:ext cx="548640" cy="502920"/>
          </a:xfrm>
          <a:prstGeom prst="rect">
            <a:avLst/>
          </a:prstGeom>
          <a:noFill/>
        </p:spPr>
        <p:txBody>
          <a:bodyPr wrap="square" lIns="0" tIns="0" rIns="0" bIns="0" anchor="ctr">
            <a:spAutoFit/>
          </a:bodyPr>
          <a:lstStyle/>
          <a:p>
            <a:pPr algn="ctr"/>
            <a:r>
              <a:rPr sz="1700" b="1" i="0">
                <a:solidFill>
                  <a:schemeClr val="tx1"/>
                </a:solidFill>
                <a:latin typeface="Courier New"/>
              </a:rPr>
              <a:t>0</a:t>
            </a:r>
          </a:p>
        </p:txBody>
      </p:sp>
      <p:sp>
        <p:nvSpPr>
          <p:cNvPr id="49" name="Rounded Rectangle 48"/>
          <p:cNvSpPr/>
          <p:nvPr/>
        </p:nvSpPr>
        <p:spPr>
          <a:xfrm>
            <a:off x="8339328" y="3154680"/>
            <a:ext cx="548640" cy="502920"/>
          </a:xfrm>
          <a:prstGeom prst="roundRect">
            <a:avLst>
              <a:gd name="adj" fmla="val 15000"/>
            </a:avLst>
          </a:prstGeom>
          <a:solidFill>
            <a:schemeClr val="bg1"/>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TextBox 49"/>
          <p:cNvSpPr txBox="1"/>
          <p:nvPr/>
        </p:nvSpPr>
        <p:spPr>
          <a:xfrm>
            <a:off x="8339328" y="3154680"/>
            <a:ext cx="548640" cy="502920"/>
          </a:xfrm>
          <a:prstGeom prst="rect">
            <a:avLst/>
          </a:prstGeom>
          <a:noFill/>
        </p:spPr>
        <p:txBody>
          <a:bodyPr wrap="square" lIns="0" tIns="0" rIns="0" bIns="0" anchor="ctr">
            <a:spAutoFit/>
          </a:bodyPr>
          <a:lstStyle/>
          <a:p>
            <a:pPr algn="ctr"/>
            <a:r>
              <a:rPr sz="1700" b="1" i="0">
                <a:solidFill>
                  <a:schemeClr val="tx1"/>
                </a:solidFill>
                <a:latin typeface="Courier New"/>
              </a:rPr>
              <a:t>0</a:t>
            </a:r>
          </a:p>
        </p:txBody>
      </p:sp>
      <p:sp>
        <p:nvSpPr>
          <p:cNvPr id="51" name="TextBox 50"/>
          <p:cNvSpPr txBox="1"/>
          <p:nvPr/>
        </p:nvSpPr>
        <p:spPr>
          <a:xfrm>
            <a:off x="8961120" y="1984248"/>
            <a:ext cx="548640" cy="228600"/>
          </a:xfrm>
          <a:prstGeom prst="rect">
            <a:avLst/>
          </a:prstGeom>
          <a:noFill/>
        </p:spPr>
        <p:txBody>
          <a:bodyPr wrap="square" lIns="0" tIns="0" rIns="0" bIns="0" anchor="t">
            <a:spAutoFit/>
          </a:bodyPr>
          <a:lstStyle/>
          <a:p>
            <a:pPr algn="ctr"/>
            <a:r>
              <a:rPr sz="1100" b="0" i="0">
                <a:solidFill>
                  <a:schemeClr val="tx2"/>
                </a:solidFill>
              </a:rPr>
              <a:t>T5</a:t>
            </a:r>
          </a:p>
        </p:txBody>
      </p:sp>
      <p:sp>
        <p:nvSpPr>
          <p:cNvPr id="52" name="Rounded Rectangle 51"/>
          <p:cNvSpPr/>
          <p:nvPr/>
        </p:nvSpPr>
        <p:spPr>
          <a:xfrm>
            <a:off x="8961120" y="2240280"/>
            <a:ext cx="548640" cy="502920"/>
          </a:xfrm>
          <a:prstGeom prst="roundRect">
            <a:avLst>
              <a:gd name="adj" fmla="val 15000"/>
            </a:avLst>
          </a:prstGeom>
          <a:solidFill>
            <a:schemeClr val="accent1"/>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TextBox 52"/>
          <p:cNvSpPr txBox="1"/>
          <p:nvPr/>
        </p:nvSpPr>
        <p:spPr>
          <a:xfrm>
            <a:off x="8961120" y="2240280"/>
            <a:ext cx="548640" cy="502920"/>
          </a:xfrm>
          <a:prstGeom prst="rect">
            <a:avLst/>
          </a:prstGeom>
          <a:noFill/>
        </p:spPr>
        <p:txBody>
          <a:bodyPr wrap="square" lIns="0" tIns="0" rIns="0" bIns="0" anchor="ctr">
            <a:spAutoFit/>
          </a:bodyPr>
          <a:lstStyle/>
          <a:p>
            <a:pPr algn="ctr"/>
            <a:r>
              <a:rPr sz="1700" b="1" i="0">
                <a:solidFill>
                  <a:schemeClr val="bg1"/>
                </a:solidFill>
                <a:latin typeface="Courier New"/>
              </a:rPr>
              <a:t>1</a:t>
            </a:r>
          </a:p>
        </p:txBody>
      </p:sp>
      <p:sp>
        <p:nvSpPr>
          <p:cNvPr id="54" name="Rounded Rectangle 53"/>
          <p:cNvSpPr/>
          <p:nvPr/>
        </p:nvSpPr>
        <p:spPr>
          <a:xfrm>
            <a:off x="8961120" y="3154680"/>
            <a:ext cx="548640" cy="502920"/>
          </a:xfrm>
          <a:prstGeom prst="roundRect">
            <a:avLst>
              <a:gd name="adj" fmla="val 15000"/>
            </a:avLst>
          </a:prstGeom>
          <a:solidFill>
            <a:schemeClr val="accent1"/>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TextBox 54"/>
          <p:cNvSpPr txBox="1"/>
          <p:nvPr/>
        </p:nvSpPr>
        <p:spPr>
          <a:xfrm>
            <a:off x="8961120" y="3154680"/>
            <a:ext cx="548640" cy="502920"/>
          </a:xfrm>
          <a:prstGeom prst="rect">
            <a:avLst/>
          </a:prstGeom>
          <a:noFill/>
        </p:spPr>
        <p:txBody>
          <a:bodyPr wrap="square" lIns="0" tIns="0" rIns="0" bIns="0" anchor="ctr">
            <a:spAutoFit/>
          </a:bodyPr>
          <a:lstStyle/>
          <a:p>
            <a:pPr algn="ctr"/>
            <a:r>
              <a:rPr sz="1700" b="1" i="0">
                <a:solidFill>
                  <a:schemeClr val="bg1"/>
                </a:solidFill>
                <a:latin typeface="Courier New"/>
              </a:rPr>
              <a:t>1</a:t>
            </a:r>
          </a:p>
        </p:txBody>
      </p:sp>
      <p:sp>
        <p:nvSpPr>
          <p:cNvPr id="56" name="TextBox 55"/>
          <p:cNvSpPr txBox="1"/>
          <p:nvPr/>
        </p:nvSpPr>
        <p:spPr>
          <a:xfrm>
            <a:off x="9582912" y="1984248"/>
            <a:ext cx="548640" cy="228600"/>
          </a:xfrm>
          <a:prstGeom prst="rect">
            <a:avLst/>
          </a:prstGeom>
          <a:noFill/>
        </p:spPr>
        <p:txBody>
          <a:bodyPr wrap="square" lIns="0" tIns="0" rIns="0" bIns="0" anchor="t">
            <a:spAutoFit/>
          </a:bodyPr>
          <a:lstStyle/>
          <a:p>
            <a:pPr algn="ctr"/>
            <a:r>
              <a:rPr sz="1100" b="0" i="0">
                <a:solidFill>
                  <a:schemeClr val="tx2"/>
                </a:solidFill>
              </a:rPr>
              <a:t>T6</a:t>
            </a:r>
          </a:p>
        </p:txBody>
      </p:sp>
      <p:sp>
        <p:nvSpPr>
          <p:cNvPr id="57" name="Rounded Rectangle 56"/>
          <p:cNvSpPr/>
          <p:nvPr/>
        </p:nvSpPr>
        <p:spPr>
          <a:xfrm>
            <a:off x="9582912" y="2240280"/>
            <a:ext cx="548640" cy="502920"/>
          </a:xfrm>
          <a:prstGeom prst="roundRect">
            <a:avLst>
              <a:gd name="adj" fmla="val 15000"/>
            </a:avLst>
          </a:prstGeom>
          <a:solidFill>
            <a:schemeClr val="bg1"/>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8" name="TextBox 57"/>
          <p:cNvSpPr txBox="1"/>
          <p:nvPr/>
        </p:nvSpPr>
        <p:spPr>
          <a:xfrm>
            <a:off x="9582912" y="2240280"/>
            <a:ext cx="548640" cy="502920"/>
          </a:xfrm>
          <a:prstGeom prst="rect">
            <a:avLst/>
          </a:prstGeom>
          <a:noFill/>
        </p:spPr>
        <p:txBody>
          <a:bodyPr wrap="square" lIns="0" tIns="0" rIns="0" bIns="0" anchor="ctr">
            <a:spAutoFit/>
          </a:bodyPr>
          <a:lstStyle/>
          <a:p>
            <a:pPr algn="ctr"/>
            <a:r>
              <a:rPr sz="1700" b="1" i="0">
                <a:solidFill>
                  <a:schemeClr val="tx1"/>
                </a:solidFill>
                <a:latin typeface="Courier New"/>
              </a:rPr>
              <a:t>0</a:t>
            </a:r>
          </a:p>
        </p:txBody>
      </p:sp>
      <p:sp>
        <p:nvSpPr>
          <p:cNvPr id="59" name="Rounded Rectangle 58"/>
          <p:cNvSpPr/>
          <p:nvPr/>
        </p:nvSpPr>
        <p:spPr>
          <a:xfrm>
            <a:off x="9582912" y="3154680"/>
            <a:ext cx="548640" cy="502920"/>
          </a:xfrm>
          <a:prstGeom prst="roundRect">
            <a:avLst>
              <a:gd name="adj" fmla="val 15000"/>
            </a:avLst>
          </a:prstGeom>
          <a:solidFill>
            <a:schemeClr val="accent3"/>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TextBox 59"/>
          <p:cNvSpPr txBox="1"/>
          <p:nvPr/>
        </p:nvSpPr>
        <p:spPr>
          <a:xfrm>
            <a:off x="9582912" y="3154680"/>
            <a:ext cx="548640" cy="502920"/>
          </a:xfrm>
          <a:prstGeom prst="rect">
            <a:avLst/>
          </a:prstGeom>
          <a:noFill/>
        </p:spPr>
        <p:txBody>
          <a:bodyPr wrap="square" lIns="0" tIns="0" rIns="0" bIns="0" anchor="ctr">
            <a:spAutoFit/>
          </a:bodyPr>
          <a:lstStyle/>
          <a:p>
            <a:pPr algn="ctr"/>
            <a:r>
              <a:rPr sz="1700" b="1" i="0">
                <a:solidFill>
                  <a:schemeClr val="bg1"/>
                </a:solidFill>
                <a:latin typeface="Courier New"/>
              </a:rPr>
              <a:t>1</a:t>
            </a:r>
          </a:p>
        </p:txBody>
      </p:sp>
      <p:sp>
        <p:nvSpPr>
          <p:cNvPr id="61" name="TextBox 60"/>
          <p:cNvSpPr txBox="1"/>
          <p:nvPr/>
        </p:nvSpPr>
        <p:spPr>
          <a:xfrm>
            <a:off x="10204704" y="1984248"/>
            <a:ext cx="548640" cy="228600"/>
          </a:xfrm>
          <a:prstGeom prst="rect">
            <a:avLst/>
          </a:prstGeom>
          <a:noFill/>
        </p:spPr>
        <p:txBody>
          <a:bodyPr wrap="square" lIns="0" tIns="0" rIns="0" bIns="0" anchor="t">
            <a:spAutoFit/>
          </a:bodyPr>
          <a:lstStyle/>
          <a:p>
            <a:pPr algn="ctr"/>
            <a:r>
              <a:rPr sz="1100" b="0" i="0">
                <a:solidFill>
                  <a:schemeClr val="tx2"/>
                </a:solidFill>
              </a:rPr>
              <a:t>T7</a:t>
            </a:r>
          </a:p>
        </p:txBody>
      </p:sp>
      <p:sp>
        <p:nvSpPr>
          <p:cNvPr id="62" name="Rounded Rectangle 61"/>
          <p:cNvSpPr/>
          <p:nvPr/>
        </p:nvSpPr>
        <p:spPr>
          <a:xfrm>
            <a:off x="10204704" y="2240280"/>
            <a:ext cx="548640" cy="502920"/>
          </a:xfrm>
          <a:prstGeom prst="roundRect">
            <a:avLst>
              <a:gd name="adj" fmla="val 15000"/>
            </a:avLst>
          </a:prstGeom>
          <a:solidFill>
            <a:schemeClr val="accent1"/>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TextBox 62"/>
          <p:cNvSpPr txBox="1"/>
          <p:nvPr/>
        </p:nvSpPr>
        <p:spPr>
          <a:xfrm>
            <a:off x="10204704" y="2240280"/>
            <a:ext cx="548640" cy="502920"/>
          </a:xfrm>
          <a:prstGeom prst="rect">
            <a:avLst/>
          </a:prstGeom>
          <a:noFill/>
        </p:spPr>
        <p:txBody>
          <a:bodyPr wrap="square" lIns="0" tIns="0" rIns="0" bIns="0" anchor="ctr">
            <a:spAutoFit/>
          </a:bodyPr>
          <a:lstStyle/>
          <a:p>
            <a:pPr algn="ctr"/>
            <a:r>
              <a:rPr sz="1700" b="1" i="0">
                <a:solidFill>
                  <a:schemeClr val="bg1"/>
                </a:solidFill>
                <a:latin typeface="Courier New"/>
              </a:rPr>
              <a:t>1</a:t>
            </a:r>
          </a:p>
        </p:txBody>
      </p:sp>
      <p:sp>
        <p:nvSpPr>
          <p:cNvPr id="64" name="Rounded Rectangle 63"/>
          <p:cNvSpPr/>
          <p:nvPr/>
        </p:nvSpPr>
        <p:spPr>
          <a:xfrm>
            <a:off x="10204704" y="3154680"/>
            <a:ext cx="548640" cy="502920"/>
          </a:xfrm>
          <a:prstGeom prst="roundRect">
            <a:avLst>
              <a:gd name="adj" fmla="val 15000"/>
            </a:avLst>
          </a:prstGeom>
          <a:solidFill>
            <a:schemeClr val="accent1"/>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5" name="TextBox 64"/>
          <p:cNvSpPr txBox="1"/>
          <p:nvPr/>
        </p:nvSpPr>
        <p:spPr>
          <a:xfrm>
            <a:off x="10204704" y="3154680"/>
            <a:ext cx="548640" cy="502920"/>
          </a:xfrm>
          <a:prstGeom prst="rect">
            <a:avLst/>
          </a:prstGeom>
          <a:noFill/>
        </p:spPr>
        <p:txBody>
          <a:bodyPr wrap="square" lIns="0" tIns="0" rIns="0" bIns="0" anchor="ctr">
            <a:spAutoFit/>
          </a:bodyPr>
          <a:lstStyle/>
          <a:p>
            <a:pPr algn="ctr"/>
            <a:r>
              <a:rPr sz="1700" b="1" i="0">
                <a:solidFill>
                  <a:schemeClr val="bg1"/>
                </a:solidFill>
                <a:latin typeface="Courier New"/>
              </a:rPr>
              <a:t>1</a:t>
            </a:r>
          </a:p>
        </p:txBody>
      </p:sp>
      <p:sp>
        <p:nvSpPr>
          <p:cNvPr id="66" name="TextBox 65"/>
          <p:cNvSpPr txBox="1"/>
          <p:nvPr/>
        </p:nvSpPr>
        <p:spPr>
          <a:xfrm>
            <a:off x="10826496" y="1984248"/>
            <a:ext cx="548640" cy="228600"/>
          </a:xfrm>
          <a:prstGeom prst="rect">
            <a:avLst/>
          </a:prstGeom>
          <a:noFill/>
        </p:spPr>
        <p:txBody>
          <a:bodyPr wrap="square" lIns="0" tIns="0" rIns="0" bIns="0" anchor="t">
            <a:spAutoFit/>
          </a:bodyPr>
          <a:lstStyle/>
          <a:p>
            <a:pPr algn="ctr"/>
            <a:r>
              <a:rPr sz="1100" b="0" i="0">
                <a:solidFill>
                  <a:schemeClr val="tx2"/>
                </a:solidFill>
              </a:rPr>
              <a:t>T8</a:t>
            </a:r>
          </a:p>
        </p:txBody>
      </p:sp>
      <p:sp>
        <p:nvSpPr>
          <p:cNvPr id="67" name="Rounded Rectangle 66"/>
          <p:cNvSpPr/>
          <p:nvPr/>
        </p:nvSpPr>
        <p:spPr>
          <a:xfrm>
            <a:off x="10826496" y="2240280"/>
            <a:ext cx="548640" cy="502920"/>
          </a:xfrm>
          <a:prstGeom prst="roundRect">
            <a:avLst>
              <a:gd name="adj" fmla="val 15000"/>
            </a:avLst>
          </a:prstGeom>
          <a:solidFill>
            <a:schemeClr val="bg1"/>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8" name="TextBox 67"/>
          <p:cNvSpPr txBox="1"/>
          <p:nvPr/>
        </p:nvSpPr>
        <p:spPr>
          <a:xfrm>
            <a:off x="10826496" y="2240280"/>
            <a:ext cx="548640" cy="502920"/>
          </a:xfrm>
          <a:prstGeom prst="rect">
            <a:avLst/>
          </a:prstGeom>
          <a:noFill/>
        </p:spPr>
        <p:txBody>
          <a:bodyPr wrap="square" lIns="0" tIns="0" rIns="0" bIns="0" anchor="ctr">
            <a:spAutoFit/>
          </a:bodyPr>
          <a:lstStyle/>
          <a:p>
            <a:pPr algn="ctr"/>
            <a:r>
              <a:rPr sz="1700" b="1" i="0">
                <a:solidFill>
                  <a:schemeClr val="tx1"/>
                </a:solidFill>
                <a:latin typeface="Courier New"/>
              </a:rPr>
              <a:t>0</a:t>
            </a:r>
          </a:p>
        </p:txBody>
      </p:sp>
      <p:sp>
        <p:nvSpPr>
          <p:cNvPr id="69" name="Rounded Rectangle 68"/>
          <p:cNvSpPr/>
          <p:nvPr/>
        </p:nvSpPr>
        <p:spPr>
          <a:xfrm>
            <a:off x="10826496" y="3154680"/>
            <a:ext cx="548640" cy="502920"/>
          </a:xfrm>
          <a:prstGeom prst="roundRect">
            <a:avLst>
              <a:gd name="adj" fmla="val 15000"/>
            </a:avLst>
          </a:prstGeom>
          <a:solidFill>
            <a:schemeClr val="bg1"/>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0" name="TextBox 69"/>
          <p:cNvSpPr txBox="1"/>
          <p:nvPr/>
        </p:nvSpPr>
        <p:spPr>
          <a:xfrm>
            <a:off x="10826496" y="3154680"/>
            <a:ext cx="548640" cy="502920"/>
          </a:xfrm>
          <a:prstGeom prst="rect">
            <a:avLst/>
          </a:prstGeom>
          <a:noFill/>
        </p:spPr>
        <p:txBody>
          <a:bodyPr wrap="square" lIns="0" tIns="0" rIns="0" bIns="0" anchor="ctr">
            <a:spAutoFit/>
          </a:bodyPr>
          <a:lstStyle/>
          <a:p>
            <a:pPr algn="ctr"/>
            <a:r>
              <a:rPr sz="1700" b="1" i="0">
                <a:solidFill>
                  <a:schemeClr val="tx1"/>
                </a:solidFill>
                <a:latin typeface="Courier New"/>
              </a:rPr>
              <a:t>0</a:t>
            </a:r>
          </a:p>
        </p:txBody>
      </p:sp>
      <p:sp>
        <p:nvSpPr>
          <p:cNvPr id="71" name="TextBox 70"/>
          <p:cNvSpPr txBox="1"/>
          <p:nvPr/>
        </p:nvSpPr>
        <p:spPr>
          <a:xfrm>
            <a:off x="6473952" y="2779776"/>
            <a:ext cx="5029200" cy="274320"/>
          </a:xfrm>
          <a:prstGeom prst="rect">
            <a:avLst/>
          </a:prstGeom>
          <a:noFill/>
        </p:spPr>
        <p:txBody>
          <a:bodyPr wrap="square" lIns="0" tIns="0" rIns="0" bIns="0" anchor="t">
            <a:spAutoFit/>
          </a:bodyPr>
          <a:lstStyle/>
          <a:p>
            <a:pPr algn="l"/>
            <a:r>
              <a:rPr sz="1200" b="0" i="0">
                <a:solidFill>
                  <a:schemeClr val="tx1"/>
                </a:solidFill>
                <a:latin typeface="Courier New"/>
              </a:rPr>
              <a:t>0100 1010 = 0x4A   T2, T5, T7 busy</a:t>
            </a:r>
          </a:p>
        </p:txBody>
      </p:sp>
      <p:sp>
        <p:nvSpPr>
          <p:cNvPr id="72" name="TextBox 71"/>
          <p:cNvSpPr txBox="1"/>
          <p:nvPr/>
        </p:nvSpPr>
        <p:spPr>
          <a:xfrm>
            <a:off x="6473952" y="3694176"/>
            <a:ext cx="5029200" cy="274320"/>
          </a:xfrm>
          <a:prstGeom prst="rect">
            <a:avLst/>
          </a:prstGeom>
          <a:noFill/>
        </p:spPr>
        <p:txBody>
          <a:bodyPr wrap="square" lIns="0" tIns="0" rIns="0" bIns="0" anchor="t">
            <a:spAutoFit/>
          </a:bodyPr>
          <a:lstStyle/>
          <a:p>
            <a:pPr algn="l"/>
            <a:r>
              <a:rPr sz="1200" b="0" i="0">
                <a:solidFill>
                  <a:schemeClr val="tx1"/>
                </a:solidFill>
                <a:latin typeface="Courier New"/>
              </a:rPr>
              <a:t>0100 1110 = 0x4E   party of 5 → T6</a:t>
            </a:r>
          </a:p>
        </p:txBody>
      </p:sp>
      <p:sp>
        <p:nvSpPr>
          <p:cNvPr id="73" name="TextBox 72"/>
          <p:cNvSpPr txBox="1"/>
          <p:nvPr/>
        </p:nvSpPr>
        <p:spPr>
          <a:xfrm>
            <a:off x="6473952" y="4160520"/>
            <a:ext cx="5029200" cy="914400"/>
          </a:xfrm>
          <a:prstGeom prst="rect">
            <a:avLst/>
          </a:prstGeom>
          <a:noFill/>
        </p:spPr>
        <p:txBody>
          <a:bodyPr wrap="square" lIns="0" tIns="0" rIns="0" bIns="0" anchor="t">
            <a:spAutoFit/>
          </a:bodyPr>
          <a:lstStyle/>
          <a:p>
            <a:pPr algn="l"/>
            <a:r>
              <a:rPr sz="1200" b="0" i="0">
                <a:solidFill>
                  <a:schemeClr val="accent3"/>
                </a:solidFill>
                <a:latin typeface="Courier New"/>
              </a:rPr>
              <a:t>allocate  reg |= 1 &lt;&lt; (8 - t)</a:t>
            </a:r>
          </a:p>
          <a:p>
            <a:pPr algn="l"/>
            <a:r>
              <a:rPr sz="1200" b="0" i="0">
                <a:solidFill>
                  <a:schemeClr val="accent3"/>
                </a:solidFill>
                <a:latin typeface="Courier New"/>
              </a:rPr>
              <a:t>release   reg &amp;= ~(1 &lt;&lt; (8 - t))</a:t>
            </a:r>
          </a:p>
          <a:p>
            <a:pPr algn="l"/>
            <a:r>
              <a:rPr sz="1200" b="0" i="0">
                <a:solidFill>
                  <a:schemeClr val="accent3"/>
                </a:solidFill>
                <a:latin typeface="Courier New"/>
              </a:rPr>
              <a:t>busy?     (reg &amp; mask) != 0</a:t>
            </a:r>
          </a:p>
        </p:txBody>
      </p:sp>
      <p:sp>
        <p:nvSpPr>
          <p:cNvPr id="74" name="TextBox 73"/>
          <p:cNvSpPr txBox="1"/>
          <p:nvPr/>
        </p:nvSpPr>
        <p:spPr>
          <a:xfrm>
            <a:off x="6473952" y="5257800"/>
            <a:ext cx="5029200" cy="731520"/>
          </a:xfrm>
          <a:prstGeom prst="rect">
            <a:avLst/>
          </a:prstGeom>
          <a:noFill/>
        </p:spPr>
        <p:txBody>
          <a:bodyPr wrap="square" lIns="0" tIns="0" rIns="0" bIns="0" anchor="t">
            <a:spAutoFit/>
          </a:bodyPr>
          <a:lstStyle/>
          <a:p>
            <a:pPr algn="l"/>
            <a:r>
              <a:rPr sz="1200" b="0" i="0">
                <a:solidFill>
                  <a:schemeClr val="tx2"/>
                </a:solidFill>
              </a:rPr>
              <a:t>Suggests the smallest free table that fits. T3 → TableCapacityException (4 seats); T5 → TableOccupiedException.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buNone/>
            </a:pPr>
            <a:r>
              <a:rPr lang="en-US" sz="3400" b="1" dirty="0">
                <a:solidFill>
                  <a:schemeClr val="tx1"/>
                </a:solidFill>
                <a:latin typeface="Arial" pitchFamily="34" charset="0"/>
                <a:ea typeface="Arial" pitchFamily="34" charset="-122"/>
                <a:cs typeface="Arial" pitchFamily="34" charset="-120"/>
              </a:rPr>
              <a:t>Cluster B: ordering and kitchen workflow</a:t>
            </a:r>
            <a:endParaRPr lang="en-US" sz="3400" dirty="0"/>
          </a:p>
        </p:txBody>
      </p:sp>
      <p:sp>
        <p:nvSpPr>
          <p:cNvPr id="3" name="card-191"/>
          <p:cNvSpPr/>
          <p:nvPr/>
        </p:nvSpPr>
        <p:spPr>
          <a:xfrm>
            <a:off x="548640" y="1371600"/>
            <a:ext cx="1920240" cy="914400"/>
          </a:xfrm>
          <a:prstGeom prst="roundRect">
            <a:avLst>
              <a:gd name="adj" fmla="val 12000"/>
            </a:avLst>
          </a:prstGeom>
          <a:solidFill>
            <a:srgbClr val="0597B8"/>
          </a:solidFill>
          <a:ln w="12700">
            <a:solidFill>
              <a:srgbClr val="0597B8"/>
            </a:solidFill>
            <a:prstDash val="solid"/>
          </a:ln>
        </p:spPr>
      </p:sp>
      <p:sp>
        <p:nvSpPr>
          <p:cNvPr id="4" name="text-192"/>
          <p:cNvSpPr txBox="1"/>
          <p:nvPr/>
        </p:nvSpPr>
        <p:spPr>
          <a:xfrm>
            <a:off x="548640" y="1389888"/>
            <a:ext cx="1920240" cy="502920"/>
          </a:xfrm>
          <a:prstGeom prst="rect">
            <a:avLst/>
          </a:prstGeom>
          <a:noFill/>
          <a:ln/>
        </p:spPr>
        <p:txBody>
          <a:bodyPr wrap="square" lIns="1016" tIns="1016" rIns="1016" bIns="1016" rtlCol="0" anchor="ctr"/>
          <a:lstStyle/>
          <a:p>
            <a:pPr marL="0" indent="0" algn="ctr">
              <a:buNone/>
            </a:pPr>
            <a:r>
              <a:rPr lang="en-US" sz="1700" b="1" dirty="0">
                <a:solidFill>
                  <a:schemeClr val="bg1"/>
                </a:solidFill>
                <a:latin typeface="Arial" pitchFamily="34" charset="0"/>
                <a:ea typeface="Arial" pitchFamily="34" charset="-122"/>
                <a:cs typeface="Arial" pitchFamily="34" charset="-120"/>
              </a:rPr>
              <a:t>PLACED</a:t>
            </a:r>
            <a:endParaRPr lang="en-US" sz="1700" dirty="0"/>
          </a:p>
        </p:txBody>
      </p:sp>
      <p:sp>
        <p:nvSpPr>
          <p:cNvPr id="5" name="text-193"/>
          <p:cNvSpPr txBox="1"/>
          <p:nvPr/>
        </p:nvSpPr>
        <p:spPr>
          <a:xfrm>
            <a:off x="548640" y="1847088"/>
            <a:ext cx="1920240" cy="365760"/>
          </a:xfrm>
          <a:prstGeom prst="rect">
            <a:avLst/>
          </a:prstGeom>
          <a:noFill/>
          <a:ln/>
        </p:spPr>
        <p:txBody>
          <a:bodyPr wrap="square" lIns="1016" tIns="1016" rIns="1016" bIns="1016" rtlCol="0" anchor="ctr"/>
          <a:lstStyle/>
          <a:p>
            <a:pPr marL="0" indent="0" algn="ctr">
              <a:buNone/>
            </a:pPr>
            <a:r>
              <a:rPr lang="en-US" sz="1300" dirty="0">
                <a:solidFill>
                  <a:schemeClr val="bg1"/>
                </a:solidFill>
                <a:latin typeface="Calibri" pitchFamily="34" charset="0"/>
                <a:ea typeface="Calibri" pitchFamily="34" charset="-122"/>
                <a:cs typeface="Calibri" pitchFamily="34" charset="-120"/>
              </a:rPr>
              <a:t>Waiter</a:t>
            </a:r>
            <a:endParaRPr lang="en-US" sz="1300" dirty="0"/>
          </a:p>
        </p:txBody>
      </p:sp>
      <p:sp>
        <p:nvSpPr>
          <p:cNvPr id="6" name="arrow-194"/>
          <p:cNvSpPr/>
          <p:nvPr/>
        </p:nvSpPr>
        <p:spPr>
          <a:xfrm>
            <a:off x="2496312" y="1709928"/>
            <a:ext cx="310896" cy="237744"/>
          </a:xfrm>
          <a:prstGeom prst="rightArrow">
            <a:avLst/>
          </a:prstGeom>
          <a:solidFill>
            <a:srgbClr val="8FB4FF"/>
          </a:solidFill>
          <a:ln w="12700">
            <a:solidFill>
              <a:srgbClr val="8FB4FF"/>
            </a:solidFill>
            <a:prstDash val="solid"/>
          </a:ln>
        </p:spPr>
      </p:sp>
      <p:sp>
        <p:nvSpPr>
          <p:cNvPr id="7" name="card-195"/>
          <p:cNvSpPr/>
          <p:nvPr/>
        </p:nvSpPr>
        <p:spPr>
          <a:xfrm>
            <a:off x="2834640" y="1371600"/>
            <a:ext cx="1920240" cy="914400"/>
          </a:xfrm>
          <a:prstGeom prst="roundRect">
            <a:avLst>
              <a:gd name="adj" fmla="val 12000"/>
            </a:avLst>
          </a:prstGeom>
          <a:solidFill>
            <a:srgbClr val="0597B8"/>
          </a:solidFill>
          <a:ln w="12700">
            <a:solidFill>
              <a:srgbClr val="0597B8"/>
            </a:solidFill>
            <a:prstDash val="solid"/>
          </a:ln>
        </p:spPr>
      </p:sp>
      <p:sp>
        <p:nvSpPr>
          <p:cNvPr id="8" name="text-196"/>
          <p:cNvSpPr txBox="1"/>
          <p:nvPr/>
        </p:nvSpPr>
        <p:spPr>
          <a:xfrm>
            <a:off x="2834640" y="1389888"/>
            <a:ext cx="1920240" cy="502920"/>
          </a:xfrm>
          <a:prstGeom prst="rect">
            <a:avLst/>
          </a:prstGeom>
          <a:noFill/>
          <a:ln/>
        </p:spPr>
        <p:txBody>
          <a:bodyPr wrap="square" lIns="1016" tIns="1016" rIns="1016" bIns="1016" rtlCol="0" anchor="ctr"/>
          <a:lstStyle/>
          <a:p>
            <a:pPr marL="0" indent="0" algn="ctr">
              <a:buNone/>
            </a:pPr>
            <a:r>
              <a:rPr lang="en-US" sz="1700" b="1" dirty="0">
                <a:solidFill>
                  <a:schemeClr val="bg1"/>
                </a:solidFill>
                <a:latin typeface="Arial" pitchFamily="34" charset="0"/>
                <a:ea typeface="Arial" pitchFamily="34" charset="-122"/>
                <a:cs typeface="Arial" pitchFamily="34" charset="-120"/>
              </a:rPr>
              <a:t>PREPARING</a:t>
            </a:r>
            <a:endParaRPr lang="en-US" sz="1700" dirty="0"/>
          </a:p>
        </p:txBody>
      </p:sp>
      <p:sp>
        <p:nvSpPr>
          <p:cNvPr id="9" name="text-197"/>
          <p:cNvSpPr txBox="1"/>
          <p:nvPr/>
        </p:nvSpPr>
        <p:spPr>
          <a:xfrm>
            <a:off x="2834640" y="1847088"/>
            <a:ext cx="1920240" cy="365760"/>
          </a:xfrm>
          <a:prstGeom prst="rect">
            <a:avLst/>
          </a:prstGeom>
          <a:noFill/>
          <a:ln/>
        </p:spPr>
        <p:txBody>
          <a:bodyPr wrap="square" lIns="1016" tIns="1016" rIns="1016" bIns="1016" rtlCol="0" anchor="ctr"/>
          <a:lstStyle/>
          <a:p>
            <a:pPr marL="0" indent="0" algn="ctr">
              <a:buNone/>
            </a:pPr>
            <a:r>
              <a:rPr lang="en-US" sz="1300" dirty="0">
                <a:solidFill>
                  <a:schemeClr val="bg1"/>
                </a:solidFill>
                <a:latin typeface="Calibri" pitchFamily="34" charset="0"/>
                <a:ea typeface="Calibri" pitchFamily="34" charset="-122"/>
                <a:cs typeface="Calibri" pitchFamily="34" charset="-120"/>
              </a:rPr>
              <a:t>Chef</a:t>
            </a:r>
            <a:endParaRPr lang="en-US" sz="1300" dirty="0"/>
          </a:p>
        </p:txBody>
      </p:sp>
      <p:sp>
        <p:nvSpPr>
          <p:cNvPr id="10" name="arrow-198"/>
          <p:cNvSpPr/>
          <p:nvPr/>
        </p:nvSpPr>
        <p:spPr>
          <a:xfrm>
            <a:off x="4782312" y="1709928"/>
            <a:ext cx="310896" cy="237744"/>
          </a:xfrm>
          <a:prstGeom prst="rightArrow">
            <a:avLst/>
          </a:prstGeom>
          <a:solidFill>
            <a:srgbClr val="8FB4FF"/>
          </a:solidFill>
          <a:ln w="12700">
            <a:solidFill>
              <a:srgbClr val="8FB4FF"/>
            </a:solidFill>
            <a:prstDash val="solid"/>
          </a:ln>
        </p:spPr>
      </p:sp>
      <p:sp>
        <p:nvSpPr>
          <p:cNvPr id="11" name="card-199"/>
          <p:cNvSpPr/>
          <p:nvPr/>
        </p:nvSpPr>
        <p:spPr>
          <a:xfrm>
            <a:off x="5120640" y="1371600"/>
            <a:ext cx="1920240" cy="914400"/>
          </a:xfrm>
          <a:prstGeom prst="roundRect">
            <a:avLst>
              <a:gd name="adj" fmla="val 12000"/>
            </a:avLst>
          </a:prstGeom>
          <a:solidFill>
            <a:srgbClr val="6E45CF"/>
          </a:solidFill>
          <a:ln w="12700">
            <a:solidFill>
              <a:srgbClr val="6E45CF"/>
            </a:solidFill>
            <a:prstDash val="solid"/>
          </a:ln>
        </p:spPr>
      </p:sp>
      <p:sp>
        <p:nvSpPr>
          <p:cNvPr id="12" name="text-200"/>
          <p:cNvSpPr txBox="1"/>
          <p:nvPr/>
        </p:nvSpPr>
        <p:spPr>
          <a:xfrm>
            <a:off x="5120640" y="1389888"/>
            <a:ext cx="1920240" cy="502920"/>
          </a:xfrm>
          <a:prstGeom prst="rect">
            <a:avLst/>
          </a:prstGeom>
          <a:noFill/>
          <a:ln/>
        </p:spPr>
        <p:txBody>
          <a:bodyPr wrap="square" lIns="1016" tIns="1016" rIns="1016" bIns="1016" rtlCol="0" anchor="ctr"/>
          <a:lstStyle/>
          <a:p>
            <a:pPr marL="0" indent="0" algn="ctr">
              <a:buNone/>
            </a:pPr>
            <a:r>
              <a:rPr lang="en-US" sz="1700" b="1" dirty="0">
                <a:solidFill>
                  <a:schemeClr val="bg1"/>
                </a:solidFill>
                <a:latin typeface="Arial" pitchFamily="34" charset="0"/>
                <a:ea typeface="Arial" pitchFamily="34" charset="-122"/>
                <a:cs typeface="Arial" pitchFamily="34" charset="-120"/>
              </a:rPr>
              <a:t>READY</a:t>
            </a:r>
            <a:endParaRPr lang="en-US" sz="1700" dirty="0"/>
          </a:p>
        </p:txBody>
      </p:sp>
      <p:sp>
        <p:nvSpPr>
          <p:cNvPr id="13" name="text-201"/>
          <p:cNvSpPr txBox="1"/>
          <p:nvPr/>
        </p:nvSpPr>
        <p:spPr>
          <a:xfrm>
            <a:off x="5120640" y="1847088"/>
            <a:ext cx="1920240" cy="365760"/>
          </a:xfrm>
          <a:prstGeom prst="rect">
            <a:avLst/>
          </a:prstGeom>
          <a:noFill/>
          <a:ln/>
        </p:spPr>
        <p:txBody>
          <a:bodyPr wrap="square" lIns="1016" tIns="1016" rIns="1016" bIns="1016" rtlCol="0" anchor="ctr"/>
          <a:lstStyle/>
          <a:p>
            <a:pPr marL="0" indent="0" algn="ctr">
              <a:buNone/>
            </a:pPr>
            <a:r>
              <a:rPr lang="en-US" sz="1300" dirty="0">
                <a:solidFill>
                  <a:schemeClr val="bg1"/>
                </a:solidFill>
                <a:latin typeface="Calibri" pitchFamily="34" charset="0"/>
                <a:ea typeface="Calibri" pitchFamily="34" charset="-122"/>
                <a:cs typeface="Calibri" pitchFamily="34" charset="-120"/>
              </a:rPr>
              <a:t>Chef + token</a:t>
            </a:r>
            <a:endParaRPr lang="en-US" sz="1300" dirty="0"/>
          </a:p>
        </p:txBody>
      </p:sp>
      <p:sp>
        <p:nvSpPr>
          <p:cNvPr id="14" name="arrow-202"/>
          <p:cNvSpPr/>
          <p:nvPr/>
        </p:nvSpPr>
        <p:spPr>
          <a:xfrm>
            <a:off x="7068312" y="1709928"/>
            <a:ext cx="310896" cy="237744"/>
          </a:xfrm>
          <a:prstGeom prst="rightArrow">
            <a:avLst/>
          </a:prstGeom>
          <a:solidFill>
            <a:srgbClr val="8FB4FF"/>
          </a:solidFill>
          <a:ln w="12700">
            <a:solidFill>
              <a:srgbClr val="8FB4FF"/>
            </a:solidFill>
            <a:prstDash val="solid"/>
          </a:ln>
        </p:spPr>
      </p:sp>
      <p:sp>
        <p:nvSpPr>
          <p:cNvPr id="15" name="card-203"/>
          <p:cNvSpPr/>
          <p:nvPr/>
        </p:nvSpPr>
        <p:spPr>
          <a:xfrm>
            <a:off x="7406640" y="1371600"/>
            <a:ext cx="1920240" cy="914400"/>
          </a:xfrm>
          <a:prstGeom prst="roundRect">
            <a:avLst>
              <a:gd name="adj" fmla="val 12000"/>
            </a:avLst>
          </a:prstGeom>
          <a:solidFill>
            <a:srgbClr val="0597B8"/>
          </a:solidFill>
          <a:ln w="12700">
            <a:solidFill>
              <a:srgbClr val="0597B8"/>
            </a:solidFill>
            <a:prstDash val="solid"/>
          </a:ln>
        </p:spPr>
      </p:sp>
      <p:sp>
        <p:nvSpPr>
          <p:cNvPr id="16" name="text-204"/>
          <p:cNvSpPr txBox="1"/>
          <p:nvPr/>
        </p:nvSpPr>
        <p:spPr>
          <a:xfrm>
            <a:off x="7406640" y="1389888"/>
            <a:ext cx="1920240" cy="502920"/>
          </a:xfrm>
          <a:prstGeom prst="rect">
            <a:avLst/>
          </a:prstGeom>
          <a:noFill/>
          <a:ln/>
        </p:spPr>
        <p:txBody>
          <a:bodyPr wrap="square" lIns="1016" tIns="1016" rIns="1016" bIns="1016" rtlCol="0" anchor="ctr"/>
          <a:lstStyle/>
          <a:p>
            <a:pPr marL="0" indent="0" algn="ctr">
              <a:buNone/>
            </a:pPr>
            <a:r>
              <a:rPr lang="en-US" sz="1700" b="1" dirty="0">
                <a:solidFill>
                  <a:schemeClr val="bg1"/>
                </a:solidFill>
                <a:latin typeface="Arial" pitchFamily="34" charset="0"/>
                <a:ea typeface="Arial" pitchFamily="34" charset="-122"/>
                <a:cs typeface="Arial" pitchFamily="34" charset="-120"/>
              </a:rPr>
              <a:t>SERVED</a:t>
            </a:r>
            <a:endParaRPr lang="en-US" sz="1700" dirty="0"/>
          </a:p>
        </p:txBody>
      </p:sp>
      <p:sp>
        <p:nvSpPr>
          <p:cNvPr id="17" name="text-205"/>
          <p:cNvSpPr txBox="1"/>
          <p:nvPr/>
        </p:nvSpPr>
        <p:spPr>
          <a:xfrm>
            <a:off x="7406640" y="1847088"/>
            <a:ext cx="1920240" cy="365760"/>
          </a:xfrm>
          <a:prstGeom prst="rect">
            <a:avLst/>
          </a:prstGeom>
          <a:noFill/>
          <a:ln/>
        </p:spPr>
        <p:txBody>
          <a:bodyPr wrap="square" lIns="1016" tIns="1016" rIns="1016" bIns="1016" rtlCol="0" anchor="ctr"/>
          <a:lstStyle/>
          <a:p>
            <a:pPr marL="0" indent="0" algn="ctr">
              <a:buNone/>
            </a:pPr>
            <a:r>
              <a:rPr lang="en-US" sz="1300" dirty="0">
                <a:solidFill>
                  <a:schemeClr val="bg1"/>
                </a:solidFill>
                <a:latin typeface="Calibri" pitchFamily="34" charset="0"/>
                <a:ea typeface="Calibri" pitchFamily="34" charset="-122"/>
                <a:cs typeface="Calibri" pitchFamily="34" charset="-120"/>
              </a:rPr>
              <a:t>Waiter</a:t>
            </a:r>
            <a:endParaRPr lang="en-US" sz="1300" dirty="0"/>
          </a:p>
        </p:txBody>
      </p:sp>
      <p:sp>
        <p:nvSpPr>
          <p:cNvPr id="18" name="arrow-206"/>
          <p:cNvSpPr/>
          <p:nvPr/>
        </p:nvSpPr>
        <p:spPr>
          <a:xfrm>
            <a:off x="9354312" y="1709928"/>
            <a:ext cx="310896" cy="237744"/>
          </a:xfrm>
          <a:prstGeom prst="rightArrow">
            <a:avLst/>
          </a:prstGeom>
          <a:solidFill>
            <a:srgbClr val="8FB4FF"/>
          </a:solidFill>
          <a:ln w="12700">
            <a:solidFill>
              <a:srgbClr val="8FB4FF"/>
            </a:solidFill>
            <a:prstDash val="solid"/>
          </a:ln>
        </p:spPr>
      </p:sp>
      <p:sp>
        <p:nvSpPr>
          <p:cNvPr id="19" name="card-207"/>
          <p:cNvSpPr/>
          <p:nvPr/>
        </p:nvSpPr>
        <p:spPr>
          <a:xfrm>
            <a:off x="9692640" y="1371600"/>
            <a:ext cx="1920240" cy="914400"/>
          </a:xfrm>
          <a:prstGeom prst="roundRect">
            <a:avLst>
              <a:gd name="adj" fmla="val 12000"/>
            </a:avLst>
          </a:prstGeom>
          <a:solidFill>
            <a:srgbClr val="0597B8"/>
          </a:solidFill>
          <a:ln w="12700">
            <a:solidFill>
              <a:srgbClr val="0597B8"/>
            </a:solidFill>
            <a:prstDash val="solid"/>
          </a:ln>
        </p:spPr>
      </p:sp>
      <p:sp>
        <p:nvSpPr>
          <p:cNvPr id="20" name="text-208"/>
          <p:cNvSpPr txBox="1"/>
          <p:nvPr/>
        </p:nvSpPr>
        <p:spPr>
          <a:xfrm>
            <a:off x="9692640" y="1389888"/>
            <a:ext cx="1920240" cy="502920"/>
          </a:xfrm>
          <a:prstGeom prst="rect">
            <a:avLst/>
          </a:prstGeom>
          <a:noFill/>
          <a:ln/>
        </p:spPr>
        <p:txBody>
          <a:bodyPr wrap="square" lIns="1016" tIns="1016" rIns="1016" bIns="1016" rtlCol="0" anchor="ctr"/>
          <a:lstStyle/>
          <a:p>
            <a:pPr marL="0" indent="0" algn="ctr">
              <a:buNone/>
            </a:pPr>
            <a:r>
              <a:rPr lang="en-US" sz="1700" b="1" dirty="0">
                <a:solidFill>
                  <a:schemeClr val="bg1"/>
                </a:solidFill>
                <a:latin typeface="Arial" pitchFamily="34" charset="0"/>
                <a:ea typeface="Arial" pitchFamily="34" charset="-122"/>
                <a:cs typeface="Arial" pitchFamily="34" charset="-120"/>
              </a:rPr>
              <a:t>BILLED</a:t>
            </a:r>
            <a:endParaRPr lang="en-US" sz="1700" dirty="0"/>
          </a:p>
        </p:txBody>
      </p:sp>
      <p:sp>
        <p:nvSpPr>
          <p:cNvPr id="21" name="text-209"/>
          <p:cNvSpPr txBox="1"/>
          <p:nvPr/>
        </p:nvSpPr>
        <p:spPr>
          <a:xfrm>
            <a:off x="9692640" y="1847088"/>
            <a:ext cx="1920240" cy="365760"/>
          </a:xfrm>
          <a:prstGeom prst="rect">
            <a:avLst/>
          </a:prstGeom>
          <a:noFill/>
          <a:ln/>
        </p:spPr>
        <p:txBody>
          <a:bodyPr wrap="square" lIns="1016" tIns="1016" rIns="1016" bIns="1016" rtlCol="0" anchor="ctr"/>
          <a:lstStyle/>
          <a:p>
            <a:pPr marL="0" indent="0" algn="ctr">
              <a:buNone/>
            </a:pPr>
            <a:r>
              <a:rPr lang="en-US" sz="1300" dirty="0">
                <a:solidFill>
                  <a:schemeClr val="bg1"/>
                </a:solidFill>
                <a:latin typeface="Calibri" pitchFamily="34" charset="0"/>
                <a:ea typeface="Calibri" pitchFamily="34" charset="-122"/>
                <a:cs typeface="Calibri" pitchFamily="34" charset="-120"/>
              </a:rPr>
              <a:t>Cashier</a:t>
            </a:r>
            <a:endParaRPr lang="en-US" sz="1300" dirty="0"/>
          </a:p>
        </p:txBody>
      </p:sp>
      <p:sp>
        <p:nvSpPr>
          <p:cNvPr id="22" name="text-210"/>
          <p:cNvSpPr txBox="1"/>
          <p:nvPr/>
        </p:nvSpPr>
        <p:spPr>
          <a:xfrm>
            <a:off x="548640" y="2377440"/>
            <a:ext cx="11064240" cy="411480"/>
          </a:xfrm>
          <a:prstGeom prst="rect">
            <a:avLst/>
          </a:prstGeom>
          <a:noFill/>
          <a:ln/>
        </p:spPr>
        <p:txBody>
          <a:bodyPr wrap="square" lIns="1016" tIns="1016" rIns="1016" bIns="1016" rtlCol="0" anchor="ctr"/>
          <a:lstStyle/>
          <a:p>
            <a:pPr marL="0" indent="0">
              <a:buNone/>
            </a:pPr>
            <a:r>
              <a:rPr lang="en-US" sz="1300" i="1" dirty="0">
                <a:solidFill>
                  <a:srgbClr val="4B5563"/>
                </a:solidFill>
                <a:latin typeface="Calibri" pitchFamily="34" charset="0"/>
                <a:ea typeface="Calibri" pitchFamily="34" charset="-122"/>
                <a:cs typeface="Calibri" pitchFamily="34" charset="-120"/>
              </a:rPr>
              <a:t>Skipping, reversing or the wrong role → InvalidStatusChangeException (only OrderKitchen.changeStatus changes a status)</a:t>
            </a:r>
            <a:endParaRPr lang="en-US" sz="1300" dirty="0"/>
          </a:p>
        </p:txBody>
      </p:sp>
      <p:sp>
        <p:nvSpPr>
          <p:cNvPr id="23" name="text-211"/>
          <p:cNvSpPr txBox="1"/>
          <p:nvPr/>
        </p:nvSpPr>
        <p:spPr>
          <a:xfrm>
            <a:off x="548640" y="2971800"/>
            <a:ext cx="6309360" cy="3291840"/>
          </a:xfrm>
          <a:prstGeom prst="rect">
            <a:avLst/>
          </a:prstGeom>
          <a:noFill/>
          <a:ln/>
        </p:spPr>
        <p:txBody>
          <a:bodyPr wrap="square" lIns="1016" tIns="1016" rIns="1016" bIns="1016" rtlCol="0" anchor="t"/>
          <a:lstStyle/>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Order: dish must be available and allowed by diet; qty 1-10 per dish; max 20 items</a:t>
            </a:r>
            <a:endParaRPr lang="en-US" sz="1500" dirty="0"/>
          </a:p>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Order #2001: 6 items, Rs. 920.00, Medium spice, note to kitchen, token 107</a:t>
            </a:r>
            <a:endParaRPr lang="en-US" sz="1500" dirty="0"/>
          </a:p>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Queue: urgent first, then oldest (Comparable + Collections.sort)</a:t>
            </a:r>
            <a:endParaRPr lang="en-US" sz="1500" dirty="0"/>
          </a:p>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ETA = longest prep + 2 min × orders ahead = 20 + 2 × 2 = 24 min</a:t>
            </a:r>
            <a:endParaRPr lang="en-US" sz="1500" dirty="0"/>
          </a:p>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READY automatically shows the token on the 7-segment display (M11)</a:t>
            </a:r>
            <a:endParaRPr lang="en-US" sz="1500" dirty="0"/>
          </a:p>
        </p:txBody>
      </p:sp>
      <p:sp>
        <p:nvSpPr>
          <p:cNvPr id="24" name="card-212"/>
          <p:cNvSpPr/>
          <p:nvPr/>
        </p:nvSpPr>
        <p:spPr>
          <a:xfrm>
            <a:off x="7132320" y="2971800"/>
            <a:ext cx="4480560" cy="3200400"/>
          </a:xfrm>
          <a:prstGeom prst="roundRect">
            <a:avLst>
              <a:gd name="adj" fmla="val 3429"/>
            </a:avLst>
          </a:prstGeom>
          <a:solidFill>
            <a:srgbClr val="0B1437"/>
          </a:solidFill>
          <a:ln w="12700">
            <a:solidFill>
              <a:srgbClr val="0B1437"/>
            </a:solidFill>
            <a:prstDash val="solid"/>
          </a:ln>
        </p:spPr>
      </p:sp>
      <p:sp>
        <p:nvSpPr>
          <p:cNvPr id="25" name="text-213"/>
          <p:cNvSpPr txBox="1"/>
          <p:nvPr/>
        </p:nvSpPr>
        <p:spPr>
          <a:xfrm>
            <a:off x="7315200" y="3063240"/>
            <a:ext cx="4206240" cy="2743200"/>
          </a:xfrm>
          <a:prstGeom prst="rect">
            <a:avLst/>
          </a:prstGeom>
          <a:noFill/>
          <a:ln/>
        </p:spPr>
        <p:txBody>
          <a:bodyPr wrap="square" lIns="1016" tIns="1016" rIns="1016" bIns="1016" rtlCol="0" anchor="t"/>
          <a:lstStyle/>
          <a:p>
            <a:pPr marL="0" indent="0">
              <a:buNone/>
            </a:pPr>
            <a:r>
              <a:rPr lang="en-US" sz="1300" dirty="0">
                <a:solidFill>
                  <a:srgbClr val="A5F3FC"/>
                </a:solidFill>
                <a:latin typeface="Courier New" pitchFamily="34" charset="0"/>
                <a:ea typeface="Courier New" pitchFamily="34" charset="-122"/>
                <a:cs typeface="Courier New" pitchFamily="34" charset="-120"/>
              </a:rPr>
              <a:t>[OK] #2001 -&gt; READY - Token 107</a:t>
            </a:r>
            <a:endParaRPr lang="en-US" sz="1300" dirty="0"/>
          </a:p>
          <a:p>
            <a:pPr marL="0" indent="0">
              <a:buNone/>
            </a:pPr>
            <a:r>
              <a:rPr lang="en-US" sz="1300" dirty="0">
                <a:solidFill>
                  <a:srgbClr val="A5F3FC"/>
                </a:solidFill>
                <a:latin typeface="Courier New" pitchFamily="34" charset="0"/>
                <a:ea typeface="Courier New" pitchFamily="34" charset="-122"/>
                <a:cs typeface="Courier New" pitchFamily="34" charset="-120"/>
              </a:rPr>
              <a:t>  +-------------+</a:t>
            </a:r>
            <a:endParaRPr lang="en-US" sz="1300" dirty="0"/>
          </a:p>
          <a:p>
            <a:pPr marL="0" indent="0">
              <a:buNone/>
            </a:pPr>
            <a:r>
              <a:rPr lang="en-US" sz="1300" dirty="0">
                <a:solidFill>
                  <a:srgbClr val="A5F3FC"/>
                </a:solidFill>
                <a:latin typeface="Courier New" pitchFamily="34" charset="0"/>
                <a:ea typeface="Courier New" pitchFamily="34" charset="-122"/>
                <a:cs typeface="Courier New" pitchFamily="34" charset="-120"/>
              </a:rPr>
              <a:t>  |      _   _  |</a:t>
            </a:r>
            <a:endParaRPr lang="en-US" sz="1300" dirty="0"/>
          </a:p>
          <a:p>
            <a:pPr marL="0" indent="0">
              <a:buNone/>
            </a:pPr>
            <a:r>
              <a:rPr lang="en-US" sz="1300" dirty="0">
                <a:solidFill>
                  <a:srgbClr val="A5F3FC"/>
                </a:solidFill>
                <a:latin typeface="Courier New" pitchFamily="34" charset="0"/>
                <a:ea typeface="Courier New" pitchFamily="34" charset="-122"/>
                <a:cs typeface="Courier New" pitchFamily="34" charset="-120"/>
              </a:rPr>
              <a:t>  |   | | |   | |</a:t>
            </a:r>
            <a:endParaRPr lang="en-US" sz="1300" dirty="0"/>
          </a:p>
          <a:p>
            <a:pPr marL="0" indent="0">
              <a:buNone/>
            </a:pPr>
            <a:r>
              <a:rPr lang="en-US" sz="1300" dirty="0">
                <a:solidFill>
                  <a:srgbClr val="A5F3FC"/>
                </a:solidFill>
                <a:latin typeface="Courier New" pitchFamily="34" charset="0"/>
                <a:ea typeface="Courier New" pitchFamily="34" charset="-122"/>
                <a:cs typeface="Courier New" pitchFamily="34" charset="-120"/>
              </a:rPr>
              <a:t>  |   | |_|   | |</a:t>
            </a:r>
            <a:endParaRPr lang="en-US" sz="1300" dirty="0"/>
          </a:p>
          <a:p>
            <a:pPr marL="0" indent="0">
              <a:buNone/>
            </a:pPr>
            <a:r>
              <a:rPr lang="en-US" sz="1300" dirty="0">
                <a:solidFill>
                  <a:srgbClr val="A5F3FC"/>
                </a:solidFill>
                <a:latin typeface="Courier New" pitchFamily="34" charset="0"/>
                <a:ea typeface="Courier New" pitchFamily="34" charset="-122"/>
                <a:cs typeface="Courier New" pitchFamily="34" charset="-120"/>
              </a:rPr>
              <a:t>  +-------------+</a:t>
            </a:r>
            <a:endParaRPr lang="en-US" sz="1300" dirty="0"/>
          </a:p>
          <a:p>
            <a:pPr marL="0" indent="0">
              <a:buNone/>
            </a:pPr>
            <a:r>
              <a:rPr lang="en-US" sz="1300" dirty="0">
                <a:solidFill>
                  <a:srgbClr val="A5F3FC"/>
                </a:solidFill>
                <a:latin typeface="Courier New" pitchFamily="34" charset="0"/>
                <a:ea typeface="Courier New" pitchFamily="34" charset="-122"/>
                <a:cs typeface="Courier New" pitchFamily="34" charset="-120"/>
              </a:rPr>
              <a:t>  1 = 0110000 (0x30)</a:t>
            </a:r>
            <a:endParaRPr lang="en-US" sz="1300" dirty="0"/>
          </a:p>
          <a:p>
            <a:pPr marL="0" indent="0">
              <a:buNone/>
            </a:pPr>
            <a:r>
              <a:rPr lang="en-US" sz="1300" dirty="0">
                <a:solidFill>
                  <a:srgbClr val="A5F3FC"/>
                </a:solidFill>
                <a:latin typeface="Courier New" pitchFamily="34" charset="0"/>
                <a:ea typeface="Courier New" pitchFamily="34" charset="-122"/>
                <a:cs typeface="Courier New" pitchFamily="34" charset="-120"/>
              </a:rPr>
              <a:t>  0 = 1111110 (0x7E)</a:t>
            </a:r>
            <a:endParaRPr lang="en-US" sz="1300" dirty="0"/>
          </a:p>
          <a:p>
            <a:pPr marL="0" indent="0">
              <a:buNone/>
            </a:pPr>
            <a:r>
              <a:rPr lang="en-US" sz="1300" dirty="0">
                <a:solidFill>
                  <a:srgbClr val="A5F3FC"/>
                </a:solidFill>
                <a:latin typeface="Courier New" pitchFamily="34" charset="0"/>
                <a:ea typeface="Courier New" pitchFamily="34" charset="-122"/>
                <a:cs typeface="Courier New" pitchFamily="34" charset="-120"/>
              </a:rPr>
              <a:t>  7 = 1110000 (0x70)</a:t>
            </a:r>
            <a:endParaRPr lang="en-US" sz="1300" dirty="0"/>
          </a:p>
        </p:txBody>
      </p:sp>
      <p:sp>
        <p:nvSpPr>
          <p:cNvPr id="26" name="text-214"/>
          <p:cNvSpPr txBox="1"/>
          <p:nvPr/>
        </p:nvSpPr>
        <p:spPr>
          <a:xfrm>
            <a:off x="7315200" y="5806440"/>
            <a:ext cx="4206240" cy="274320"/>
          </a:xfrm>
          <a:prstGeom prst="rect">
            <a:avLst/>
          </a:prstGeom>
          <a:noFill/>
          <a:ln/>
        </p:spPr>
        <p:txBody>
          <a:bodyPr wrap="square" lIns="1016" tIns="1016" rIns="1016" bIns="1016" rtlCol="0" anchor="ctr"/>
          <a:lstStyle/>
          <a:p>
            <a:pPr marL="0" indent="0">
              <a:buNone/>
            </a:pPr>
            <a:r>
              <a:rPr lang="en-US" sz="1000" i="1" dirty="0">
                <a:solidFill>
                  <a:schemeClr val="accent5"/>
                </a:solidFill>
                <a:latin typeface="Calibri" pitchFamily="34" charset="0"/>
                <a:ea typeface="Calibri" pitchFamily="34" charset="-122"/>
                <a:cs typeface="Calibri" pitchFamily="34" charset="-120"/>
              </a:rPr>
              <a:t>Actual program output (tests/e2e_output.txt)</a:t>
            </a:r>
            <a:endParaRPr lang="en-US" sz="1000" dirty="0"/>
          </a:p>
        </p:txBody>
      </p:sp>
      <p:sp>
        <p:nvSpPr>
          <p:cNvPr id="27"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buNone/>
            </a:pPr>
            <a:r>
              <a:rPr lang="en-US" sz="3400" b="1" dirty="0">
                <a:solidFill>
                  <a:schemeClr val="tx1"/>
                </a:solidFill>
                <a:latin typeface="Arial" pitchFamily="34" charset="0"/>
                <a:ea typeface="Arial" pitchFamily="34" charset="-122"/>
                <a:cs typeface="Arial" pitchFamily="34" charset="-120"/>
              </a:rPr>
              <a:t>Cluster C: billing, checksum and feedback</a:t>
            </a:r>
            <a:endParaRPr lang="en-US" sz="3400" dirty="0"/>
          </a:p>
        </p:txBody>
      </p:sp>
      <p:sp>
        <p:nvSpPr>
          <p:cNvPr id="3" name="card-215"/>
          <p:cNvSpPr/>
          <p:nvPr/>
        </p:nvSpPr>
        <p:spPr>
          <a:xfrm>
            <a:off x="548640" y="1325880"/>
            <a:ext cx="5120640" cy="4892040"/>
          </a:xfrm>
          <a:prstGeom prst="roundRect">
            <a:avLst>
              <a:gd name="adj" fmla="val 2243"/>
            </a:avLst>
          </a:prstGeom>
          <a:solidFill>
            <a:srgbClr val="EAF1FF"/>
          </a:solidFill>
          <a:ln w="12700">
            <a:solidFill>
              <a:srgbClr val="EAF1FF"/>
            </a:solidFill>
            <a:prstDash val="solid"/>
          </a:ln>
          <a:effectLst>
            <a:outerShdw blurRad="76200" dist="25400" dir="5400000" algn="bl" rotWithShape="0">
              <a:srgbClr val="1B2A6B">
                <a:alpha val="15000"/>
              </a:srgbClr>
            </a:outerShdw>
          </a:effectLst>
        </p:spPr>
      </p:sp>
      <p:sp>
        <p:nvSpPr>
          <p:cNvPr id="4" name="text-216"/>
          <p:cNvSpPr txBox="1"/>
          <p:nvPr/>
        </p:nvSpPr>
        <p:spPr>
          <a:xfrm>
            <a:off x="731520" y="1417320"/>
            <a:ext cx="4754880" cy="411480"/>
          </a:xfrm>
          <a:prstGeom prst="rect">
            <a:avLst/>
          </a:prstGeom>
          <a:noFill/>
          <a:ln/>
        </p:spPr>
        <p:txBody>
          <a:bodyPr wrap="square" lIns="1016" tIns="1016" rIns="1016" bIns="1016" rtlCol="0" anchor="ctr"/>
          <a:lstStyle/>
          <a:p>
            <a:pPr marL="0" indent="0">
              <a:buNone/>
            </a:pPr>
            <a:r>
              <a:rPr lang="en-US" sz="1600" b="1" dirty="0">
                <a:solidFill>
                  <a:schemeClr val="tx1"/>
                </a:solidFill>
                <a:latin typeface="Arial" pitchFamily="34" charset="0"/>
                <a:ea typeface="Arial" pitchFamily="34" charset="-122"/>
                <a:cs typeface="Arial" pitchFamily="34" charset="-120"/>
              </a:rPr>
              <a:t>Bill 2001-9 (Priya, loyalty visit)</a:t>
            </a:r>
            <a:endParaRPr lang="en-US" sz="1600" dirty="0"/>
          </a:p>
        </p:txBody>
      </p:sp>
      <p:sp>
        <p:nvSpPr>
          <p:cNvPr id="5" name="text-217"/>
          <p:cNvSpPr txBox="1"/>
          <p:nvPr/>
        </p:nvSpPr>
        <p:spPr>
          <a:xfrm>
            <a:off x="822960" y="1874520"/>
            <a:ext cx="2926080" cy="438912"/>
          </a:xfrm>
          <a:prstGeom prst="rect">
            <a:avLst/>
          </a:prstGeom>
          <a:noFill/>
          <a:ln/>
        </p:spPr>
        <p:txBody>
          <a:bodyPr wrap="square" lIns="1016" tIns="1016" rIns="1016" bIns="1016" rtlCol="0" anchor="ctr"/>
          <a:lstStyle/>
          <a:p>
            <a:pPr marL="0" indent="0">
              <a:buNone/>
            </a:pPr>
            <a:r>
              <a:rPr lang="en-US" sz="1500" dirty="0">
                <a:solidFill>
                  <a:schemeClr val="tx1"/>
                </a:solidFill>
                <a:latin typeface="Calibri" pitchFamily="34" charset="0"/>
                <a:ea typeface="Calibri" pitchFamily="34" charset="-122"/>
                <a:cs typeface="Calibri" pitchFamily="34" charset="-120"/>
              </a:rPr>
              <a:t>Item total</a:t>
            </a:r>
            <a:endParaRPr lang="en-US" sz="1500" dirty="0"/>
          </a:p>
        </p:txBody>
      </p:sp>
      <p:sp>
        <p:nvSpPr>
          <p:cNvPr id="6" name="text-218"/>
          <p:cNvSpPr txBox="1"/>
          <p:nvPr/>
        </p:nvSpPr>
        <p:spPr>
          <a:xfrm>
            <a:off x="3657600" y="1874520"/>
            <a:ext cx="1783080" cy="438912"/>
          </a:xfrm>
          <a:prstGeom prst="rect">
            <a:avLst/>
          </a:prstGeom>
          <a:noFill/>
          <a:ln/>
        </p:spPr>
        <p:txBody>
          <a:bodyPr wrap="square" lIns="1016" tIns="1016" rIns="1016" bIns="1016" rtlCol="0" anchor="ctr"/>
          <a:lstStyle/>
          <a:p>
            <a:pPr marL="0" indent="0" algn="r">
              <a:buNone/>
            </a:pPr>
            <a:r>
              <a:rPr lang="en-US" sz="1500" dirty="0">
                <a:solidFill>
                  <a:schemeClr val="tx1"/>
                </a:solidFill>
                <a:latin typeface="Courier New" pitchFamily="34" charset="0"/>
                <a:ea typeface="Courier New" pitchFamily="34" charset="-122"/>
                <a:cs typeface="Courier New" pitchFamily="34" charset="-120"/>
              </a:rPr>
              <a:t>920.00</a:t>
            </a:r>
            <a:endParaRPr lang="en-US" sz="1500" dirty="0"/>
          </a:p>
        </p:txBody>
      </p:sp>
      <p:sp>
        <p:nvSpPr>
          <p:cNvPr id="7" name="text-219"/>
          <p:cNvSpPr txBox="1"/>
          <p:nvPr/>
        </p:nvSpPr>
        <p:spPr>
          <a:xfrm>
            <a:off x="822960" y="2350008"/>
            <a:ext cx="2926080" cy="438912"/>
          </a:xfrm>
          <a:prstGeom prst="rect">
            <a:avLst/>
          </a:prstGeom>
          <a:noFill/>
          <a:ln/>
        </p:spPr>
        <p:txBody>
          <a:bodyPr wrap="square" lIns="1016" tIns="1016" rIns="1016" bIns="1016" rtlCol="0" anchor="ctr"/>
          <a:lstStyle/>
          <a:p>
            <a:pPr marL="0" indent="0">
              <a:buNone/>
            </a:pPr>
            <a:r>
              <a:rPr lang="en-US" sz="1500" dirty="0">
                <a:solidFill>
                  <a:schemeClr val="tx1"/>
                </a:solidFill>
                <a:latin typeface="Calibri" pitchFamily="34" charset="0"/>
                <a:ea typeface="Calibri" pitchFamily="34" charset="-122"/>
                <a:cs typeface="Calibri" pitchFamily="34" charset="-120"/>
              </a:rPr>
              <a:t>Loyalty discount (10%)</a:t>
            </a:r>
            <a:endParaRPr lang="en-US" sz="1500" dirty="0"/>
          </a:p>
        </p:txBody>
      </p:sp>
      <p:sp>
        <p:nvSpPr>
          <p:cNvPr id="8" name="text-220"/>
          <p:cNvSpPr txBox="1"/>
          <p:nvPr/>
        </p:nvSpPr>
        <p:spPr>
          <a:xfrm>
            <a:off x="3657600" y="2350008"/>
            <a:ext cx="1783080" cy="438912"/>
          </a:xfrm>
          <a:prstGeom prst="rect">
            <a:avLst/>
          </a:prstGeom>
          <a:noFill/>
          <a:ln/>
        </p:spPr>
        <p:txBody>
          <a:bodyPr wrap="square" lIns="1016" tIns="1016" rIns="1016" bIns="1016" rtlCol="0" anchor="ctr"/>
          <a:lstStyle/>
          <a:p>
            <a:pPr marL="0" indent="0" algn="r">
              <a:buNone/>
            </a:pPr>
            <a:r>
              <a:rPr lang="en-US" sz="1500" dirty="0">
                <a:solidFill>
                  <a:schemeClr val="tx1"/>
                </a:solidFill>
                <a:latin typeface="Courier New" pitchFamily="34" charset="0"/>
                <a:ea typeface="Courier New" pitchFamily="34" charset="-122"/>
                <a:cs typeface="Courier New" pitchFamily="34" charset="-120"/>
              </a:rPr>
              <a:t>−92.00</a:t>
            </a:r>
            <a:endParaRPr lang="en-US" sz="1500" dirty="0"/>
          </a:p>
        </p:txBody>
      </p:sp>
      <p:sp>
        <p:nvSpPr>
          <p:cNvPr id="9" name="text-221"/>
          <p:cNvSpPr txBox="1"/>
          <p:nvPr/>
        </p:nvSpPr>
        <p:spPr>
          <a:xfrm>
            <a:off x="822960" y="2825496"/>
            <a:ext cx="2926080" cy="438912"/>
          </a:xfrm>
          <a:prstGeom prst="rect">
            <a:avLst/>
          </a:prstGeom>
          <a:noFill/>
          <a:ln/>
        </p:spPr>
        <p:txBody>
          <a:bodyPr wrap="square" lIns="1016" tIns="1016" rIns="1016" bIns="1016" rtlCol="0" anchor="ctr"/>
          <a:lstStyle/>
          <a:p>
            <a:pPr marL="0" indent="0">
              <a:buNone/>
            </a:pPr>
            <a:r>
              <a:rPr lang="en-US" sz="1500" dirty="0">
                <a:solidFill>
                  <a:schemeClr val="tx1"/>
                </a:solidFill>
                <a:latin typeface="Calibri" pitchFamily="34" charset="0"/>
                <a:ea typeface="Calibri" pitchFamily="34" charset="-122"/>
                <a:cs typeface="Calibri" pitchFamily="34" charset="-120"/>
              </a:rPr>
              <a:t>Taxable amount</a:t>
            </a:r>
            <a:endParaRPr lang="en-US" sz="1500" dirty="0"/>
          </a:p>
        </p:txBody>
      </p:sp>
      <p:sp>
        <p:nvSpPr>
          <p:cNvPr id="10" name="text-222"/>
          <p:cNvSpPr txBox="1"/>
          <p:nvPr/>
        </p:nvSpPr>
        <p:spPr>
          <a:xfrm>
            <a:off x="3657600" y="2825496"/>
            <a:ext cx="1783080" cy="438912"/>
          </a:xfrm>
          <a:prstGeom prst="rect">
            <a:avLst/>
          </a:prstGeom>
          <a:noFill/>
          <a:ln/>
        </p:spPr>
        <p:txBody>
          <a:bodyPr wrap="square" lIns="1016" tIns="1016" rIns="1016" bIns="1016" rtlCol="0" anchor="ctr"/>
          <a:lstStyle/>
          <a:p>
            <a:pPr marL="0" indent="0" algn="r">
              <a:buNone/>
            </a:pPr>
            <a:r>
              <a:rPr lang="en-US" sz="1500" dirty="0">
                <a:solidFill>
                  <a:schemeClr val="tx1"/>
                </a:solidFill>
                <a:latin typeface="Courier New" pitchFamily="34" charset="0"/>
                <a:ea typeface="Courier New" pitchFamily="34" charset="-122"/>
                <a:cs typeface="Courier New" pitchFamily="34" charset="-120"/>
              </a:rPr>
              <a:t>828.00</a:t>
            </a:r>
            <a:endParaRPr lang="en-US" sz="1500" dirty="0"/>
          </a:p>
        </p:txBody>
      </p:sp>
      <p:sp>
        <p:nvSpPr>
          <p:cNvPr id="11" name="text-223"/>
          <p:cNvSpPr txBox="1"/>
          <p:nvPr/>
        </p:nvSpPr>
        <p:spPr>
          <a:xfrm>
            <a:off x="822960" y="3300984"/>
            <a:ext cx="2926080" cy="438912"/>
          </a:xfrm>
          <a:prstGeom prst="rect">
            <a:avLst/>
          </a:prstGeom>
          <a:noFill/>
          <a:ln/>
        </p:spPr>
        <p:txBody>
          <a:bodyPr wrap="square" lIns="1016" tIns="1016" rIns="1016" bIns="1016" rtlCol="0" anchor="ctr"/>
          <a:lstStyle/>
          <a:p>
            <a:pPr marL="0" indent="0">
              <a:buNone/>
            </a:pPr>
            <a:r>
              <a:rPr lang="en-US" sz="1500" dirty="0">
                <a:solidFill>
                  <a:schemeClr val="tx1"/>
                </a:solidFill>
                <a:latin typeface="Calibri" pitchFamily="34" charset="0"/>
                <a:ea typeface="Calibri" pitchFamily="34" charset="-122"/>
                <a:cs typeface="Calibri" pitchFamily="34" charset="-120"/>
              </a:rPr>
              <a:t>CGST 2.5%</a:t>
            </a:r>
            <a:endParaRPr lang="en-US" sz="1500" dirty="0"/>
          </a:p>
        </p:txBody>
      </p:sp>
      <p:sp>
        <p:nvSpPr>
          <p:cNvPr id="12" name="text-224"/>
          <p:cNvSpPr txBox="1"/>
          <p:nvPr/>
        </p:nvSpPr>
        <p:spPr>
          <a:xfrm>
            <a:off x="3657600" y="3300984"/>
            <a:ext cx="1783080" cy="438912"/>
          </a:xfrm>
          <a:prstGeom prst="rect">
            <a:avLst/>
          </a:prstGeom>
          <a:noFill/>
          <a:ln/>
        </p:spPr>
        <p:txBody>
          <a:bodyPr wrap="square" lIns="1016" tIns="1016" rIns="1016" bIns="1016" rtlCol="0" anchor="ctr"/>
          <a:lstStyle/>
          <a:p>
            <a:pPr marL="0" indent="0" algn="r">
              <a:buNone/>
            </a:pPr>
            <a:r>
              <a:rPr lang="en-US" sz="1500" dirty="0">
                <a:solidFill>
                  <a:schemeClr val="tx1"/>
                </a:solidFill>
                <a:latin typeface="Courier New" pitchFamily="34" charset="0"/>
                <a:ea typeface="Courier New" pitchFamily="34" charset="-122"/>
                <a:cs typeface="Courier New" pitchFamily="34" charset="-120"/>
              </a:rPr>
              <a:t>20.70</a:t>
            </a:r>
            <a:endParaRPr lang="en-US" sz="1500" dirty="0"/>
          </a:p>
        </p:txBody>
      </p:sp>
      <p:sp>
        <p:nvSpPr>
          <p:cNvPr id="13" name="text-225"/>
          <p:cNvSpPr txBox="1"/>
          <p:nvPr/>
        </p:nvSpPr>
        <p:spPr>
          <a:xfrm>
            <a:off x="822960" y="3776472"/>
            <a:ext cx="2926080" cy="438912"/>
          </a:xfrm>
          <a:prstGeom prst="rect">
            <a:avLst/>
          </a:prstGeom>
          <a:noFill/>
          <a:ln/>
        </p:spPr>
        <p:txBody>
          <a:bodyPr wrap="square" lIns="1016" tIns="1016" rIns="1016" bIns="1016" rtlCol="0" anchor="ctr"/>
          <a:lstStyle/>
          <a:p>
            <a:pPr marL="0" indent="0">
              <a:buNone/>
            </a:pPr>
            <a:r>
              <a:rPr lang="en-US" sz="1500" dirty="0">
                <a:solidFill>
                  <a:schemeClr val="tx1"/>
                </a:solidFill>
                <a:latin typeface="Calibri" pitchFamily="34" charset="0"/>
                <a:ea typeface="Calibri" pitchFamily="34" charset="-122"/>
                <a:cs typeface="Calibri" pitchFamily="34" charset="-120"/>
              </a:rPr>
              <a:t>SGST 2.5%</a:t>
            </a:r>
            <a:endParaRPr lang="en-US" sz="1500" dirty="0"/>
          </a:p>
        </p:txBody>
      </p:sp>
      <p:sp>
        <p:nvSpPr>
          <p:cNvPr id="14" name="text-226"/>
          <p:cNvSpPr txBox="1"/>
          <p:nvPr/>
        </p:nvSpPr>
        <p:spPr>
          <a:xfrm>
            <a:off x="3657600" y="3776472"/>
            <a:ext cx="1783080" cy="438912"/>
          </a:xfrm>
          <a:prstGeom prst="rect">
            <a:avLst/>
          </a:prstGeom>
          <a:noFill/>
          <a:ln/>
        </p:spPr>
        <p:txBody>
          <a:bodyPr wrap="square" lIns="1016" tIns="1016" rIns="1016" bIns="1016" rtlCol="0" anchor="ctr"/>
          <a:lstStyle/>
          <a:p>
            <a:pPr marL="0" indent="0" algn="r">
              <a:buNone/>
            </a:pPr>
            <a:r>
              <a:rPr lang="en-US" sz="1500" dirty="0">
                <a:solidFill>
                  <a:schemeClr val="tx1"/>
                </a:solidFill>
                <a:latin typeface="Courier New" pitchFamily="34" charset="0"/>
                <a:ea typeface="Courier New" pitchFamily="34" charset="-122"/>
                <a:cs typeface="Courier New" pitchFamily="34" charset="-120"/>
              </a:rPr>
              <a:t>20.70</a:t>
            </a:r>
            <a:endParaRPr lang="en-US" sz="1500" dirty="0"/>
          </a:p>
        </p:txBody>
      </p:sp>
      <p:sp>
        <p:nvSpPr>
          <p:cNvPr id="15" name="card-227"/>
          <p:cNvSpPr/>
          <p:nvPr/>
        </p:nvSpPr>
        <p:spPr>
          <a:xfrm>
            <a:off x="685800" y="4233672"/>
            <a:ext cx="4846320" cy="475488"/>
          </a:xfrm>
          <a:prstGeom prst="roundRect">
            <a:avLst>
              <a:gd name="adj" fmla="val 23077"/>
            </a:avLst>
          </a:prstGeom>
          <a:solidFill>
            <a:srgbClr val="6E45CF"/>
          </a:solidFill>
          <a:ln w="12700">
            <a:solidFill>
              <a:srgbClr val="6E45CF"/>
            </a:solidFill>
            <a:prstDash val="solid"/>
          </a:ln>
        </p:spPr>
      </p:sp>
      <p:sp>
        <p:nvSpPr>
          <p:cNvPr id="16" name="text-228"/>
          <p:cNvSpPr txBox="1"/>
          <p:nvPr/>
        </p:nvSpPr>
        <p:spPr>
          <a:xfrm>
            <a:off x="822960" y="4251960"/>
            <a:ext cx="2926080" cy="438912"/>
          </a:xfrm>
          <a:prstGeom prst="rect">
            <a:avLst/>
          </a:prstGeom>
          <a:noFill/>
          <a:ln/>
        </p:spPr>
        <p:txBody>
          <a:bodyPr wrap="square" lIns="1016" tIns="1016" rIns="1016" bIns="1016" rtlCol="0" anchor="ctr"/>
          <a:lstStyle/>
          <a:p>
            <a:pPr marL="0" indent="0">
              <a:buNone/>
            </a:pPr>
            <a:r>
              <a:rPr lang="en-US" sz="1500" b="1" dirty="0">
                <a:solidFill>
                  <a:schemeClr val="bg1"/>
                </a:solidFill>
                <a:latin typeface="Calibri" pitchFamily="34" charset="0"/>
                <a:ea typeface="Calibri" pitchFamily="34" charset="-122"/>
                <a:cs typeface="Calibri" pitchFamily="34" charset="-120"/>
              </a:rPr>
              <a:t>GRAND TOTAL</a:t>
            </a:r>
            <a:endParaRPr lang="en-US" sz="1500" dirty="0"/>
          </a:p>
        </p:txBody>
      </p:sp>
      <p:sp>
        <p:nvSpPr>
          <p:cNvPr id="17" name="text-229"/>
          <p:cNvSpPr txBox="1"/>
          <p:nvPr/>
        </p:nvSpPr>
        <p:spPr>
          <a:xfrm>
            <a:off x="3657600" y="4251960"/>
            <a:ext cx="1783080" cy="438912"/>
          </a:xfrm>
          <a:prstGeom prst="rect">
            <a:avLst/>
          </a:prstGeom>
          <a:noFill/>
          <a:ln/>
        </p:spPr>
        <p:txBody>
          <a:bodyPr wrap="square" lIns="1016" tIns="1016" rIns="1016" bIns="1016" rtlCol="0" anchor="ctr"/>
          <a:lstStyle/>
          <a:p>
            <a:pPr marL="0" indent="0" algn="r">
              <a:buNone/>
            </a:pPr>
            <a:r>
              <a:rPr lang="en-US" sz="1500" b="1" dirty="0">
                <a:solidFill>
                  <a:schemeClr val="bg1"/>
                </a:solidFill>
                <a:latin typeface="Courier New" pitchFamily="34" charset="0"/>
                <a:ea typeface="Courier New" pitchFamily="34" charset="-122"/>
                <a:cs typeface="Courier New" pitchFamily="34" charset="-120"/>
              </a:rPr>
              <a:t>869.40</a:t>
            </a:r>
            <a:endParaRPr lang="en-US" sz="1500" dirty="0"/>
          </a:p>
        </p:txBody>
      </p:sp>
      <p:sp>
        <p:nvSpPr>
          <p:cNvPr id="18" name="text-230"/>
          <p:cNvSpPr txBox="1"/>
          <p:nvPr/>
        </p:nvSpPr>
        <p:spPr>
          <a:xfrm>
            <a:off x="822960" y="4727448"/>
            <a:ext cx="2926080" cy="438912"/>
          </a:xfrm>
          <a:prstGeom prst="rect">
            <a:avLst/>
          </a:prstGeom>
          <a:noFill/>
          <a:ln/>
        </p:spPr>
        <p:txBody>
          <a:bodyPr wrap="square" lIns="1016" tIns="1016" rIns="1016" bIns="1016" rtlCol="0" anchor="ctr"/>
          <a:lstStyle/>
          <a:p>
            <a:pPr marL="0" indent="0">
              <a:buNone/>
            </a:pPr>
            <a:r>
              <a:rPr lang="en-US" sz="1500" dirty="0">
                <a:solidFill>
                  <a:schemeClr val="tx1"/>
                </a:solidFill>
                <a:latin typeface="Calibri" pitchFamily="34" charset="0"/>
                <a:ea typeface="Calibri" pitchFamily="34" charset="-122"/>
                <a:cs typeface="Calibri" pitchFamily="34" charset="-120"/>
              </a:rPr>
              <a:t>Cash 900 → change</a:t>
            </a:r>
            <a:endParaRPr lang="en-US" sz="1500" dirty="0"/>
          </a:p>
        </p:txBody>
      </p:sp>
      <p:sp>
        <p:nvSpPr>
          <p:cNvPr id="19" name="text-231"/>
          <p:cNvSpPr txBox="1"/>
          <p:nvPr/>
        </p:nvSpPr>
        <p:spPr>
          <a:xfrm>
            <a:off x="3657600" y="4727448"/>
            <a:ext cx="1783080" cy="438912"/>
          </a:xfrm>
          <a:prstGeom prst="rect">
            <a:avLst/>
          </a:prstGeom>
          <a:noFill/>
          <a:ln/>
        </p:spPr>
        <p:txBody>
          <a:bodyPr wrap="square" lIns="1016" tIns="1016" rIns="1016" bIns="1016" rtlCol="0" anchor="ctr"/>
          <a:lstStyle/>
          <a:p>
            <a:pPr marL="0" indent="0" algn="r">
              <a:buNone/>
            </a:pPr>
            <a:r>
              <a:rPr lang="en-US" sz="1500" dirty="0">
                <a:solidFill>
                  <a:schemeClr val="tx1"/>
                </a:solidFill>
                <a:latin typeface="Courier New" pitchFamily="34" charset="0"/>
                <a:ea typeface="Courier New" pitchFamily="34" charset="-122"/>
                <a:cs typeface="Courier New" pitchFamily="34" charset="-120"/>
              </a:rPr>
              <a:t>30.60</a:t>
            </a:r>
            <a:endParaRPr lang="en-US" sz="1500" dirty="0"/>
          </a:p>
        </p:txBody>
      </p:sp>
      <p:sp>
        <p:nvSpPr>
          <p:cNvPr id="20" name="text-232"/>
          <p:cNvSpPr txBox="1"/>
          <p:nvPr/>
        </p:nvSpPr>
        <p:spPr>
          <a:xfrm>
            <a:off x="822960" y="5202936"/>
            <a:ext cx="2926080" cy="438912"/>
          </a:xfrm>
          <a:prstGeom prst="rect">
            <a:avLst/>
          </a:prstGeom>
          <a:noFill/>
          <a:ln/>
        </p:spPr>
        <p:txBody>
          <a:bodyPr wrap="square" lIns="1016" tIns="1016" rIns="1016" bIns="1016" rtlCol="0" anchor="ctr"/>
          <a:lstStyle/>
          <a:p>
            <a:pPr marL="0" indent="0">
              <a:buNone/>
            </a:pPr>
            <a:r>
              <a:rPr lang="en-US" sz="1500" dirty="0">
                <a:solidFill>
                  <a:schemeClr val="tx1"/>
                </a:solidFill>
                <a:latin typeface="Calibri" pitchFamily="34" charset="0"/>
                <a:ea typeface="Calibri" pitchFamily="34" charset="-122"/>
                <a:cs typeface="Calibri" pitchFamily="34" charset="-120"/>
              </a:rPr>
              <a:t>Split between 2</a:t>
            </a:r>
            <a:endParaRPr lang="en-US" sz="1500" dirty="0"/>
          </a:p>
        </p:txBody>
      </p:sp>
      <p:sp>
        <p:nvSpPr>
          <p:cNvPr id="21" name="text-233"/>
          <p:cNvSpPr txBox="1"/>
          <p:nvPr/>
        </p:nvSpPr>
        <p:spPr>
          <a:xfrm>
            <a:off x="3657600" y="5202936"/>
            <a:ext cx="1783080" cy="438912"/>
          </a:xfrm>
          <a:prstGeom prst="rect">
            <a:avLst/>
          </a:prstGeom>
          <a:noFill/>
          <a:ln/>
        </p:spPr>
        <p:txBody>
          <a:bodyPr wrap="square" lIns="1016" tIns="1016" rIns="1016" bIns="1016" rtlCol="0" anchor="ctr"/>
          <a:lstStyle/>
          <a:p>
            <a:pPr marL="0" indent="0" algn="r">
              <a:buNone/>
            </a:pPr>
            <a:r>
              <a:rPr lang="en-US" sz="1500" dirty="0">
                <a:solidFill>
                  <a:schemeClr val="tx1"/>
                </a:solidFill>
                <a:latin typeface="Courier New" pitchFamily="34" charset="0"/>
                <a:ea typeface="Courier New" pitchFamily="34" charset="-122"/>
                <a:cs typeface="Courier New" pitchFamily="34" charset="-120"/>
              </a:rPr>
              <a:t>434.70 each</a:t>
            </a:r>
            <a:endParaRPr lang="en-US" sz="1500" dirty="0"/>
          </a:p>
        </p:txBody>
      </p:sp>
      <p:sp>
        <p:nvSpPr>
          <p:cNvPr id="22" name="text-234"/>
          <p:cNvSpPr txBox="1"/>
          <p:nvPr/>
        </p:nvSpPr>
        <p:spPr>
          <a:xfrm>
            <a:off x="731520" y="5806440"/>
            <a:ext cx="4846320" cy="320040"/>
          </a:xfrm>
          <a:prstGeom prst="rect">
            <a:avLst/>
          </a:prstGeom>
          <a:noFill/>
          <a:ln/>
        </p:spPr>
        <p:txBody>
          <a:bodyPr wrap="square" lIns="1016" tIns="1016" rIns="1016" bIns="1016" rtlCol="0" anchor="ctr"/>
          <a:lstStyle/>
          <a:p>
            <a:pPr marL="0" indent="0">
              <a:buNone/>
            </a:pPr>
            <a:r>
              <a:rPr lang="en-US" sz="1200" dirty="0">
                <a:solidFill>
                  <a:srgbClr val="4B5563"/>
                </a:solidFill>
                <a:latin typeface="Calibri" pitchFamily="34" charset="0"/>
                <a:ea typeface="Calibri" pitchFamily="34" charset="-122"/>
                <a:cs typeface="Calibri" pitchFamily="34" charset="-120"/>
              </a:rPr>
              <a:t>Payment: Cash · UPI (12-digit ref) · Card, all simulated</a:t>
            </a:r>
            <a:endParaRPr lang="en-US" sz="1200" dirty="0"/>
          </a:p>
        </p:txBody>
      </p:sp>
      <p:sp>
        <p:nvSpPr>
          <p:cNvPr id="23" name="card-235"/>
          <p:cNvSpPr/>
          <p:nvPr/>
        </p:nvSpPr>
        <p:spPr>
          <a:xfrm>
            <a:off x="5943600" y="1325880"/>
            <a:ext cx="5669280" cy="2468880"/>
          </a:xfrm>
          <a:prstGeom prst="roundRect">
            <a:avLst>
              <a:gd name="adj" fmla="val 4444"/>
            </a:avLst>
          </a:prstGeom>
          <a:solidFill>
            <a:srgbClr val="EAF1FF"/>
          </a:solidFill>
          <a:ln w="12700">
            <a:solidFill>
              <a:srgbClr val="EAF1FF"/>
            </a:solidFill>
            <a:prstDash val="solid"/>
          </a:ln>
          <a:effectLst>
            <a:outerShdw blurRad="76200" dist="25400" dir="5400000" algn="bl" rotWithShape="0">
              <a:srgbClr val="1B2A6B">
                <a:alpha val="15000"/>
              </a:srgbClr>
            </a:outerShdw>
          </a:effectLst>
        </p:spPr>
      </p:sp>
      <p:sp>
        <p:nvSpPr>
          <p:cNvPr id="24" name="iconbg-236"/>
          <p:cNvSpPr/>
          <p:nvPr/>
        </p:nvSpPr>
        <p:spPr>
          <a:xfrm>
            <a:off x="6172200" y="1508760"/>
            <a:ext cx="640080" cy="640080"/>
          </a:xfrm>
          <a:prstGeom prst="ellipse">
            <a:avLst/>
          </a:prstGeom>
          <a:solidFill>
            <a:srgbClr val="6E45CF"/>
          </a:solidFill>
          <a:ln w="12700">
            <a:solidFill>
              <a:srgbClr val="6E45CF"/>
            </a:solidFill>
            <a:prstDash val="solid"/>
          </a:ln>
        </p:spPr>
      </p:sp>
      <p:pic>
        <p:nvPicPr>
          <p:cNvPr id="25" name="icon-237" descr="preencoded.png"/>
          <p:cNvPicPr>
            <a:picLocks noChangeAspect="1"/>
          </p:cNvPicPr>
          <p:nvPr/>
        </p:nvPicPr>
        <p:blipFill>
          <a:blip r:embed="rId3"/>
          <a:stretch>
            <a:fillRect/>
          </a:stretch>
        </p:blipFill>
        <p:spPr>
          <a:xfrm>
            <a:off x="6313018" y="1649578"/>
            <a:ext cx="358445" cy="358445"/>
          </a:xfrm>
          <a:prstGeom prst="rect">
            <a:avLst/>
          </a:prstGeom>
        </p:spPr>
      </p:pic>
      <p:sp>
        <p:nvSpPr>
          <p:cNvPr id="26" name="text-238"/>
          <p:cNvSpPr txBox="1"/>
          <p:nvPr/>
        </p:nvSpPr>
        <p:spPr>
          <a:xfrm>
            <a:off x="6949440" y="1554480"/>
            <a:ext cx="4480560" cy="457200"/>
          </a:xfrm>
          <a:prstGeom prst="rect">
            <a:avLst/>
          </a:prstGeom>
          <a:noFill/>
          <a:ln/>
        </p:spPr>
        <p:txBody>
          <a:bodyPr wrap="square" lIns="1016" tIns="1016" rIns="1016" bIns="1016" rtlCol="0" anchor="ctr"/>
          <a:lstStyle/>
          <a:p>
            <a:pPr marL="0" indent="0">
              <a:buNone/>
            </a:pPr>
            <a:r>
              <a:rPr lang="en-US" sz="1800" b="1" dirty="0">
                <a:solidFill>
                  <a:schemeClr val="tx1"/>
                </a:solidFill>
                <a:latin typeface="Arial" pitchFamily="34" charset="0"/>
                <a:ea typeface="Arial" pitchFamily="34" charset="-122"/>
                <a:cs typeface="Arial" pitchFamily="34" charset="-120"/>
              </a:rPr>
              <a:t>M12 check digit</a:t>
            </a:r>
            <a:endParaRPr lang="en-US" sz="1800" dirty="0"/>
          </a:p>
        </p:txBody>
      </p:sp>
      <p:sp>
        <p:nvSpPr>
          <p:cNvPr id="27" name="text-239"/>
          <p:cNvSpPr txBox="1"/>
          <p:nvPr/>
        </p:nvSpPr>
        <p:spPr>
          <a:xfrm>
            <a:off x="6172200" y="2240280"/>
            <a:ext cx="5303520" cy="1463040"/>
          </a:xfrm>
          <a:prstGeom prst="rect">
            <a:avLst/>
          </a:prstGeom>
          <a:noFill/>
          <a:ln/>
        </p:spPr>
        <p:txBody>
          <a:bodyPr wrap="square" lIns="1016" tIns="1016" rIns="1016" bIns="1016" rtlCol="0" anchor="t"/>
          <a:lstStyle/>
          <a:p>
            <a:pPr marL="0" indent="0">
              <a:buNone/>
            </a:pPr>
            <a:r>
              <a:rPr lang="en-US" sz="1400" b="1" dirty="0">
                <a:solidFill>
                  <a:schemeClr val="tx1"/>
                </a:solidFill>
                <a:latin typeface="Calibri" pitchFamily="34" charset="0"/>
                <a:ea typeface="Calibri" pitchFamily="34" charset="-122"/>
                <a:cs typeface="Calibri" pitchFamily="34" charset="-120"/>
              </a:rPr>
              <a:t>2001 → 1×1 + 0×2 + 0×3 + 2×4 = 9 → 2001-9</a:t>
            </a:r>
            <a:endParaRPr lang="en-US" sz="1400" dirty="0"/>
          </a:p>
          <a:p>
            <a:pPr marL="0" indent="0">
              <a:buNone/>
            </a:pPr>
            <a:r>
              <a:rPr lang="en-US" sz="1400" dirty="0">
                <a:solidFill>
                  <a:schemeClr val="tx1"/>
                </a:solidFill>
                <a:latin typeface="Calibri" pitchFamily="34" charset="0"/>
                <a:ea typeface="Calibri" pitchFamily="34" charset="-122"/>
                <a:cs typeface="Calibri" pitchFamily="34" charset="-120"/>
              </a:rPr>
              <a:t>2010-9 → "check digit should be 0" (swapped)</a:t>
            </a:r>
            <a:endParaRPr lang="en-US" sz="1400" dirty="0"/>
          </a:p>
          <a:p>
            <a:pPr marL="0" indent="0">
              <a:buNone/>
            </a:pPr>
            <a:r>
              <a:rPr lang="en-US" sz="1400" dirty="0">
                <a:solidFill>
                  <a:schemeClr val="tx1"/>
                </a:solidFill>
                <a:latin typeface="Calibri" pitchFamily="34" charset="0"/>
                <a:ea typeface="Calibri" pitchFamily="34" charset="-122"/>
                <a:cs typeface="Calibri" pitchFamily="34" charset="-120"/>
              </a:rPr>
              <a:t>2010-0 → valid digit, but bill not found</a:t>
            </a:r>
            <a:endParaRPr lang="en-US" sz="1400" dirty="0"/>
          </a:p>
          <a:p>
            <a:pPr marL="0" indent="0">
              <a:buNone/>
            </a:pPr>
            <a:r>
              <a:rPr lang="en-US" sz="1400" dirty="0">
                <a:solidFill>
                  <a:schemeClr val="tx1"/>
                </a:solidFill>
                <a:latin typeface="Calibri" pitchFamily="34" charset="0"/>
                <a:ea typeface="Calibri" pitchFamily="34" charset="-122"/>
                <a:cs typeface="Calibri" pitchFamily="34" charset="-120"/>
              </a:rPr>
              <a:t>2001/9 → wrong format</a:t>
            </a:r>
            <a:endParaRPr lang="en-US" sz="1400" dirty="0"/>
          </a:p>
        </p:txBody>
      </p:sp>
      <p:sp>
        <p:nvSpPr>
          <p:cNvPr id="28" name="card-240"/>
          <p:cNvSpPr/>
          <p:nvPr/>
        </p:nvSpPr>
        <p:spPr>
          <a:xfrm>
            <a:off x="5943600" y="3977640"/>
            <a:ext cx="5669280" cy="2240280"/>
          </a:xfrm>
          <a:prstGeom prst="roundRect">
            <a:avLst>
              <a:gd name="adj" fmla="val 4898"/>
            </a:avLst>
          </a:prstGeom>
          <a:solidFill>
            <a:srgbClr val="EAF1FF"/>
          </a:solidFill>
          <a:ln w="12700">
            <a:solidFill>
              <a:srgbClr val="EAF1FF"/>
            </a:solidFill>
            <a:prstDash val="solid"/>
          </a:ln>
          <a:effectLst>
            <a:outerShdw blurRad="76200" dist="25400" dir="5400000" algn="bl" rotWithShape="0">
              <a:srgbClr val="1B2A6B">
                <a:alpha val="15000"/>
              </a:srgbClr>
            </a:outerShdw>
          </a:effectLst>
        </p:spPr>
      </p:sp>
      <p:sp>
        <p:nvSpPr>
          <p:cNvPr id="29" name="iconbg-241"/>
          <p:cNvSpPr/>
          <p:nvPr/>
        </p:nvSpPr>
        <p:spPr>
          <a:xfrm>
            <a:off x="6172200" y="4160520"/>
            <a:ext cx="640080" cy="640080"/>
          </a:xfrm>
          <a:prstGeom prst="ellipse">
            <a:avLst/>
          </a:prstGeom>
          <a:solidFill>
            <a:srgbClr val="0597B8"/>
          </a:solidFill>
          <a:ln w="12700">
            <a:solidFill>
              <a:srgbClr val="0597B8"/>
            </a:solidFill>
            <a:prstDash val="solid"/>
          </a:ln>
        </p:spPr>
      </p:sp>
      <p:pic>
        <p:nvPicPr>
          <p:cNvPr id="30" name="icon-242" descr="preencoded.png"/>
          <p:cNvPicPr>
            <a:picLocks noChangeAspect="1"/>
          </p:cNvPicPr>
          <p:nvPr/>
        </p:nvPicPr>
        <p:blipFill>
          <a:blip r:embed="rId4"/>
          <a:stretch>
            <a:fillRect/>
          </a:stretch>
        </p:blipFill>
        <p:spPr>
          <a:xfrm>
            <a:off x="6313018" y="4301338"/>
            <a:ext cx="358445" cy="358445"/>
          </a:xfrm>
          <a:prstGeom prst="rect">
            <a:avLst/>
          </a:prstGeom>
        </p:spPr>
      </p:pic>
      <p:sp>
        <p:nvSpPr>
          <p:cNvPr id="31" name="text-243"/>
          <p:cNvSpPr txBox="1"/>
          <p:nvPr/>
        </p:nvSpPr>
        <p:spPr>
          <a:xfrm>
            <a:off x="6949440" y="4206240"/>
            <a:ext cx="4480560" cy="457200"/>
          </a:xfrm>
          <a:prstGeom prst="rect">
            <a:avLst/>
          </a:prstGeom>
          <a:noFill/>
          <a:ln/>
        </p:spPr>
        <p:txBody>
          <a:bodyPr wrap="square" lIns="1016" tIns="1016" rIns="1016" bIns="1016" rtlCol="0" anchor="ctr"/>
          <a:lstStyle/>
          <a:p>
            <a:pPr marL="0" indent="0">
              <a:buNone/>
            </a:pPr>
            <a:r>
              <a:rPr lang="en-US" sz="1800" b="1" dirty="0">
                <a:solidFill>
                  <a:schemeClr val="tx1"/>
                </a:solidFill>
                <a:latin typeface="Arial" pitchFamily="34" charset="0"/>
                <a:ea typeface="Arial" pitchFamily="34" charset="-122"/>
                <a:cs typeface="Arial" pitchFamily="34" charset="-120"/>
              </a:rPr>
              <a:t>M07 feedback</a:t>
            </a:r>
            <a:endParaRPr lang="en-US" sz="1800" dirty="0"/>
          </a:p>
        </p:txBody>
      </p:sp>
      <p:sp>
        <p:nvSpPr>
          <p:cNvPr id="32" name="text-244"/>
          <p:cNvSpPr txBox="1"/>
          <p:nvPr/>
        </p:nvSpPr>
        <p:spPr>
          <a:xfrm>
            <a:off x="6172200" y="4846320"/>
            <a:ext cx="5303520" cy="1325880"/>
          </a:xfrm>
          <a:prstGeom prst="rect">
            <a:avLst/>
          </a:prstGeom>
          <a:noFill/>
          <a:ln/>
        </p:spPr>
        <p:txBody>
          <a:bodyPr wrap="square" lIns="1016" tIns="1016" rIns="1016" bIns="1016" rtlCol="0" anchor="t"/>
          <a:lstStyle/>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Bill ID verified through M12</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Ratings 1-5, overall + each dish</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One feedback per bill (HashSet)</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Average 4.5 stars from 215 reviews</a:t>
            </a:r>
            <a:endParaRPr lang="en-US" sz="1400" dirty="0"/>
          </a:p>
        </p:txBody>
      </p:sp>
      <p:sp>
        <p:nvSpPr>
          <p:cNvPr id="33"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buNone/>
            </a:pPr>
            <a:r>
              <a:rPr lang="en-US" sz="3400" b="1" dirty="0">
                <a:solidFill>
                  <a:schemeClr val="tx1"/>
                </a:solidFill>
                <a:latin typeface="Arial" pitchFamily="34" charset="0"/>
                <a:ea typeface="Arial" pitchFamily="34" charset="-122"/>
                <a:cs typeface="Arial" pitchFamily="34" charset="-120"/>
              </a:rPr>
              <a:t>Cluster D: kitchen monitoring and energy</a:t>
            </a:r>
            <a:endParaRPr lang="en-US" sz="3400" dirty="0"/>
          </a:p>
        </p:txBody>
      </p:sp>
      <p:sp>
        <p:nvSpPr>
          <p:cNvPr id="3" name="card-245"/>
          <p:cNvSpPr/>
          <p:nvPr/>
        </p:nvSpPr>
        <p:spPr>
          <a:xfrm>
            <a:off x="548640" y="1280160"/>
            <a:ext cx="11064240" cy="502920"/>
          </a:xfrm>
          <a:prstGeom prst="roundRect">
            <a:avLst>
              <a:gd name="adj" fmla="val 21818"/>
            </a:avLst>
          </a:prstGeom>
          <a:solidFill>
            <a:srgbClr val="FEF3C7"/>
          </a:solidFill>
          <a:ln w="12700">
            <a:solidFill>
              <a:srgbClr val="FEF3C7"/>
            </a:solidFill>
            <a:prstDash val="solid"/>
          </a:ln>
        </p:spPr>
      </p:sp>
      <p:sp>
        <p:nvSpPr>
          <p:cNvPr id="4" name="text-246"/>
          <p:cNvSpPr txBox="1"/>
          <p:nvPr/>
        </p:nvSpPr>
        <p:spPr>
          <a:xfrm>
            <a:off x="731520" y="1280160"/>
            <a:ext cx="10789920" cy="502920"/>
          </a:xfrm>
          <a:prstGeom prst="rect">
            <a:avLst/>
          </a:prstGeom>
          <a:noFill/>
          <a:ln/>
        </p:spPr>
        <p:txBody>
          <a:bodyPr wrap="square" lIns="1016" tIns="1016" rIns="1016" bIns="1016" rtlCol="0" anchor="ctr"/>
          <a:lstStyle/>
          <a:p>
            <a:pPr marL="0" indent="0">
              <a:buNone/>
            </a:pPr>
            <a:r>
              <a:rPr lang="en-US" sz="1400" b="1" dirty="0">
                <a:solidFill>
                  <a:srgbClr val="92400E"/>
                </a:solidFill>
                <a:latin typeface="Calibri" pitchFamily="34" charset="0"/>
                <a:ea typeface="Calibri" pitchFamily="34" charset="-122"/>
                <a:cs typeface="Calibri" pitchFamily="34" charset="-120"/>
              </a:rPr>
              <a:t>Simulated: readings come from Math.random() or a typed test value. No physical sensors are connected.</a:t>
            </a:r>
            <a:endParaRPr lang="en-US" sz="1400" dirty="0"/>
          </a:p>
        </p:txBody>
      </p:sp>
      <p:sp>
        <p:nvSpPr>
          <p:cNvPr id="5" name="card-247"/>
          <p:cNvSpPr/>
          <p:nvPr/>
        </p:nvSpPr>
        <p:spPr>
          <a:xfrm>
            <a:off x="548640" y="1965960"/>
            <a:ext cx="5120640" cy="731520"/>
          </a:xfrm>
          <a:prstGeom prst="roundRect">
            <a:avLst>
              <a:gd name="adj" fmla="val 15000"/>
            </a:avLst>
          </a:prstGeom>
          <a:solidFill>
            <a:srgbClr val="EAF1FF"/>
          </a:solidFill>
          <a:ln w="12700">
            <a:solidFill>
              <a:srgbClr val="EAF1FF"/>
            </a:solidFill>
            <a:prstDash val="solid"/>
          </a:ln>
          <a:effectLst>
            <a:outerShdw blurRad="76200" dist="25400" dir="5400000" algn="bl" rotWithShape="0">
              <a:srgbClr val="1B2A6B">
                <a:alpha val="15000"/>
              </a:srgbClr>
            </a:outerShdw>
          </a:effectLst>
        </p:spPr>
      </p:sp>
      <p:sp>
        <p:nvSpPr>
          <p:cNvPr id="6" name="iconbg-248"/>
          <p:cNvSpPr/>
          <p:nvPr/>
        </p:nvSpPr>
        <p:spPr>
          <a:xfrm>
            <a:off x="685800" y="2075688"/>
            <a:ext cx="512064" cy="512064"/>
          </a:xfrm>
          <a:prstGeom prst="ellipse">
            <a:avLst/>
          </a:prstGeom>
          <a:solidFill>
            <a:srgbClr val="1B2A6B"/>
          </a:solidFill>
          <a:ln w="12700">
            <a:solidFill>
              <a:srgbClr val="1B2A6B"/>
            </a:solidFill>
            <a:prstDash val="solid"/>
          </a:ln>
        </p:spPr>
      </p:sp>
      <p:pic>
        <p:nvPicPr>
          <p:cNvPr id="7" name="icon-249" descr="preencoded.png"/>
          <p:cNvPicPr>
            <a:picLocks noChangeAspect="1"/>
          </p:cNvPicPr>
          <p:nvPr/>
        </p:nvPicPr>
        <p:blipFill>
          <a:blip r:embed="rId3"/>
          <a:stretch>
            <a:fillRect/>
          </a:stretch>
        </p:blipFill>
        <p:spPr>
          <a:xfrm>
            <a:off x="798454" y="2188342"/>
            <a:ext cx="286756" cy="286756"/>
          </a:xfrm>
          <a:prstGeom prst="rect">
            <a:avLst/>
          </a:prstGeom>
        </p:spPr>
      </p:pic>
      <p:sp>
        <p:nvSpPr>
          <p:cNvPr id="8" name="text-250"/>
          <p:cNvSpPr txBox="1"/>
          <p:nvPr/>
        </p:nvSpPr>
        <p:spPr>
          <a:xfrm>
            <a:off x="1325880" y="2002536"/>
            <a:ext cx="1554480" cy="658368"/>
          </a:xfrm>
          <a:prstGeom prst="rect">
            <a:avLst/>
          </a:prstGeom>
          <a:noFill/>
          <a:ln/>
        </p:spPr>
        <p:txBody>
          <a:bodyPr wrap="square" lIns="1016" tIns="1016" rIns="1016" bIns="1016" rtlCol="0" anchor="ctr"/>
          <a:lstStyle/>
          <a:p>
            <a:pPr marL="0" indent="0">
              <a:buNone/>
            </a:pPr>
            <a:r>
              <a:rPr lang="en-US" sz="1500" b="1" dirty="0">
                <a:solidFill>
                  <a:schemeClr val="tx1"/>
                </a:solidFill>
                <a:latin typeface="Calibri" pitchFamily="34" charset="0"/>
                <a:ea typeface="Calibri" pitchFamily="34" charset="-122"/>
                <a:cs typeface="Calibri" pitchFamily="34" charset="-120"/>
              </a:rPr>
              <a:t>Temperature</a:t>
            </a:r>
            <a:endParaRPr lang="en-US" sz="1500" dirty="0"/>
          </a:p>
        </p:txBody>
      </p:sp>
      <p:sp>
        <p:nvSpPr>
          <p:cNvPr id="9" name="text-251"/>
          <p:cNvSpPr txBox="1"/>
          <p:nvPr/>
        </p:nvSpPr>
        <p:spPr>
          <a:xfrm>
            <a:off x="2834640" y="2002536"/>
            <a:ext cx="2788920" cy="658368"/>
          </a:xfrm>
          <a:prstGeom prst="rect">
            <a:avLst/>
          </a:prstGeom>
          <a:noFill/>
          <a:ln/>
        </p:spPr>
        <p:txBody>
          <a:bodyPr wrap="square" lIns="1016" tIns="1016" rIns="1016" bIns="1016" rtlCol="0" anchor="ctr"/>
          <a:lstStyle/>
          <a:p>
            <a:pPr marL="0" indent="0">
              <a:buNone/>
            </a:pPr>
            <a:r>
              <a:rPr lang="en-US" sz="1200" dirty="0">
                <a:solidFill>
                  <a:schemeClr val="tx1"/>
                </a:solidFill>
                <a:latin typeface="Calibri" pitchFamily="34" charset="0"/>
                <a:ea typeface="Calibri" pitchFamily="34" charset="-122"/>
                <a:cs typeface="Calibri" pitchFamily="34" charset="-120"/>
              </a:rPr>
              <a:t>limit 30-80 °C (55)</a:t>
            </a:r>
            <a:endParaRPr lang="en-US" sz="1200" dirty="0"/>
          </a:p>
          <a:p>
            <a:pPr marL="0" indent="0">
              <a:buNone/>
            </a:pPr>
            <a:r>
              <a:rPr lang="en-US" sz="1200" dirty="0">
                <a:solidFill>
                  <a:schemeClr val="tx1"/>
                </a:solidFill>
                <a:latin typeface="Calibri" pitchFamily="34" charset="0"/>
                <a:ea typeface="Calibri" pitchFamily="34" charset="-122"/>
                <a:cs typeface="Calibri" pitchFamily="34" charset="-120"/>
              </a:rPr>
              <a:t>→ fan ON, burner reduced</a:t>
            </a:r>
            <a:endParaRPr lang="en-US" sz="1200" dirty="0"/>
          </a:p>
        </p:txBody>
      </p:sp>
      <p:sp>
        <p:nvSpPr>
          <p:cNvPr id="10" name="card-252"/>
          <p:cNvSpPr/>
          <p:nvPr/>
        </p:nvSpPr>
        <p:spPr>
          <a:xfrm>
            <a:off x="548640" y="2834640"/>
            <a:ext cx="5120640" cy="731520"/>
          </a:xfrm>
          <a:prstGeom prst="roundRect">
            <a:avLst>
              <a:gd name="adj" fmla="val 15000"/>
            </a:avLst>
          </a:prstGeom>
          <a:solidFill>
            <a:srgbClr val="EAF1FF"/>
          </a:solidFill>
          <a:ln w="12700">
            <a:solidFill>
              <a:srgbClr val="EAF1FF"/>
            </a:solidFill>
            <a:prstDash val="solid"/>
          </a:ln>
          <a:effectLst>
            <a:outerShdw blurRad="76200" dist="25400" dir="5400000" algn="bl" rotWithShape="0">
              <a:srgbClr val="1B2A6B">
                <a:alpha val="15000"/>
              </a:srgbClr>
            </a:outerShdw>
          </a:effectLst>
        </p:spPr>
      </p:sp>
      <p:sp>
        <p:nvSpPr>
          <p:cNvPr id="11" name="iconbg-253"/>
          <p:cNvSpPr/>
          <p:nvPr/>
        </p:nvSpPr>
        <p:spPr>
          <a:xfrm>
            <a:off x="685800" y="2944368"/>
            <a:ext cx="512064" cy="512064"/>
          </a:xfrm>
          <a:prstGeom prst="ellipse">
            <a:avLst/>
          </a:prstGeom>
          <a:solidFill>
            <a:srgbClr val="1B2A6B"/>
          </a:solidFill>
          <a:ln w="12700">
            <a:solidFill>
              <a:srgbClr val="1B2A6B"/>
            </a:solidFill>
            <a:prstDash val="solid"/>
          </a:ln>
        </p:spPr>
      </p:sp>
      <p:pic>
        <p:nvPicPr>
          <p:cNvPr id="12" name="icon-254" descr="preencoded.png"/>
          <p:cNvPicPr>
            <a:picLocks noChangeAspect="1"/>
          </p:cNvPicPr>
          <p:nvPr/>
        </p:nvPicPr>
        <p:blipFill>
          <a:blip r:embed="rId3"/>
          <a:stretch>
            <a:fillRect/>
          </a:stretch>
        </p:blipFill>
        <p:spPr>
          <a:xfrm>
            <a:off x="798454" y="3057022"/>
            <a:ext cx="286756" cy="286756"/>
          </a:xfrm>
          <a:prstGeom prst="rect">
            <a:avLst/>
          </a:prstGeom>
        </p:spPr>
      </p:pic>
      <p:sp>
        <p:nvSpPr>
          <p:cNvPr id="13" name="text-255"/>
          <p:cNvSpPr txBox="1"/>
          <p:nvPr/>
        </p:nvSpPr>
        <p:spPr>
          <a:xfrm>
            <a:off x="1325880" y="2871216"/>
            <a:ext cx="1554480" cy="658368"/>
          </a:xfrm>
          <a:prstGeom prst="rect">
            <a:avLst/>
          </a:prstGeom>
          <a:noFill/>
          <a:ln/>
        </p:spPr>
        <p:txBody>
          <a:bodyPr wrap="square" lIns="1016" tIns="1016" rIns="1016" bIns="1016" rtlCol="0" anchor="ctr"/>
          <a:lstStyle/>
          <a:p>
            <a:pPr marL="0" indent="0">
              <a:buNone/>
            </a:pPr>
            <a:r>
              <a:rPr lang="en-US" sz="1500" b="1" dirty="0">
                <a:solidFill>
                  <a:schemeClr val="tx1"/>
                </a:solidFill>
                <a:latin typeface="Calibri" pitchFamily="34" charset="0"/>
                <a:ea typeface="Calibri" pitchFamily="34" charset="-122"/>
                <a:cs typeface="Calibri" pitchFamily="34" charset="-120"/>
              </a:rPr>
              <a:t>LPG gas</a:t>
            </a:r>
            <a:endParaRPr lang="en-US" sz="1500" dirty="0"/>
          </a:p>
        </p:txBody>
      </p:sp>
      <p:sp>
        <p:nvSpPr>
          <p:cNvPr id="14" name="text-256"/>
          <p:cNvSpPr txBox="1"/>
          <p:nvPr/>
        </p:nvSpPr>
        <p:spPr>
          <a:xfrm>
            <a:off x="2834640" y="2871216"/>
            <a:ext cx="2788920" cy="658368"/>
          </a:xfrm>
          <a:prstGeom prst="rect">
            <a:avLst/>
          </a:prstGeom>
          <a:noFill/>
          <a:ln/>
        </p:spPr>
        <p:txBody>
          <a:bodyPr wrap="square" lIns="1016" tIns="1016" rIns="1016" bIns="1016" rtlCol="0" anchor="ctr"/>
          <a:lstStyle/>
          <a:p>
            <a:pPr marL="0" indent="0">
              <a:buNone/>
            </a:pPr>
            <a:r>
              <a:rPr lang="en-US" sz="1200" dirty="0">
                <a:solidFill>
                  <a:schemeClr val="tx1"/>
                </a:solidFill>
                <a:latin typeface="Calibri" pitchFamily="34" charset="0"/>
                <a:ea typeface="Calibri" pitchFamily="34" charset="-122"/>
                <a:cs typeface="Calibri" pitchFamily="34" charset="-120"/>
              </a:rPr>
              <a:t>limit 100-1000 ppm (500)</a:t>
            </a:r>
            <a:endParaRPr lang="en-US" sz="1200" dirty="0"/>
          </a:p>
          <a:p>
            <a:pPr marL="0" indent="0">
              <a:buNone/>
            </a:pPr>
            <a:r>
              <a:rPr lang="en-US" sz="1200" dirty="0">
                <a:solidFill>
                  <a:schemeClr val="tx1"/>
                </a:solidFill>
                <a:latin typeface="Calibri" pitchFamily="34" charset="0"/>
                <a:ea typeface="Calibri" pitchFamily="34" charset="-122"/>
                <a:cs typeface="Calibri" pitchFamily="34" charset="-120"/>
              </a:rPr>
              <a:t>→ valve closed, exhaust ON</a:t>
            </a:r>
            <a:endParaRPr lang="en-US" sz="1200" dirty="0"/>
          </a:p>
        </p:txBody>
      </p:sp>
      <p:sp>
        <p:nvSpPr>
          <p:cNvPr id="15" name="card-257"/>
          <p:cNvSpPr/>
          <p:nvPr/>
        </p:nvSpPr>
        <p:spPr>
          <a:xfrm>
            <a:off x="548640" y="3703320"/>
            <a:ext cx="5120640" cy="731520"/>
          </a:xfrm>
          <a:prstGeom prst="roundRect">
            <a:avLst>
              <a:gd name="adj" fmla="val 15000"/>
            </a:avLst>
          </a:prstGeom>
          <a:solidFill>
            <a:srgbClr val="EAF1FF"/>
          </a:solidFill>
          <a:ln w="12700">
            <a:solidFill>
              <a:srgbClr val="EAF1FF"/>
            </a:solidFill>
            <a:prstDash val="solid"/>
          </a:ln>
          <a:effectLst>
            <a:outerShdw blurRad="76200" dist="25400" dir="5400000" algn="bl" rotWithShape="0">
              <a:srgbClr val="1B2A6B">
                <a:alpha val="15000"/>
              </a:srgbClr>
            </a:outerShdw>
          </a:effectLst>
        </p:spPr>
      </p:sp>
      <p:sp>
        <p:nvSpPr>
          <p:cNvPr id="16" name="iconbg-258"/>
          <p:cNvSpPr/>
          <p:nvPr/>
        </p:nvSpPr>
        <p:spPr>
          <a:xfrm>
            <a:off x="685800" y="3813048"/>
            <a:ext cx="512064" cy="512064"/>
          </a:xfrm>
          <a:prstGeom prst="ellipse">
            <a:avLst/>
          </a:prstGeom>
          <a:solidFill>
            <a:srgbClr val="1B2A6B"/>
          </a:solidFill>
          <a:ln w="12700">
            <a:solidFill>
              <a:srgbClr val="1B2A6B"/>
            </a:solidFill>
            <a:prstDash val="solid"/>
          </a:ln>
        </p:spPr>
      </p:sp>
      <p:pic>
        <p:nvPicPr>
          <p:cNvPr id="17" name="icon-259" descr="preencoded.png"/>
          <p:cNvPicPr>
            <a:picLocks noChangeAspect="1"/>
          </p:cNvPicPr>
          <p:nvPr/>
        </p:nvPicPr>
        <p:blipFill>
          <a:blip r:embed="rId3"/>
          <a:stretch>
            <a:fillRect/>
          </a:stretch>
        </p:blipFill>
        <p:spPr>
          <a:xfrm>
            <a:off x="798454" y="3925702"/>
            <a:ext cx="286756" cy="286756"/>
          </a:xfrm>
          <a:prstGeom prst="rect">
            <a:avLst/>
          </a:prstGeom>
        </p:spPr>
      </p:pic>
      <p:sp>
        <p:nvSpPr>
          <p:cNvPr id="18" name="text-260"/>
          <p:cNvSpPr txBox="1"/>
          <p:nvPr/>
        </p:nvSpPr>
        <p:spPr>
          <a:xfrm>
            <a:off x="1325880" y="3739896"/>
            <a:ext cx="1554480" cy="658368"/>
          </a:xfrm>
          <a:prstGeom prst="rect">
            <a:avLst/>
          </a:prstGeom>
          <a:noFill/>
          <a:ln/>
        </p:spPr>
        <p:txBody>
          <a:bodyPr wrap="square" lIns="1016" tIns="1016" rIns="1016" bIns="1016" rtlCol="0" anchor="ctr"/>
          <a:lstStyle/>
          <a:p>
            <a:pPr marL="0" indent="0">
              <a:buNone/>
            </a:pPr>
            <a:r>
              <a:rPr lang="en-US" sz="1500" b="1" dirty="0">
                <a:solidFill>
                  <a:schemeClr val="tx1"/>
                </a:solidFill>
                <a:latin typeface="Calibri" pitchFamily="34" charset="0"/>
                <a:ea typeface="Calibri" pitchFamily="34" charset="-122"/>
                <a:cs typeface="Calibri" pitchFamily="34" charset="-120"/>
              </a:rPr>
              <a:t>Smoke*</a:t>
            </a:r>
            <a:endParaRPr lang="en-US" sz="1500" dirty="0"/>
          </a:p>
        </p:txBody>
      </p:sp>
      <p:sp>
        <p:nvSpPr>
          <p:cNvPr id="19" name="text-261"/>
          <p:cNvSpPr txBox="1"/>
          <p:nvPr/>
        </p:nvSpPr>
        <p:spPr>
          <a:xfrm>
            <a:off x="2834640" y="3739896"/>
            <a:ext cx="2788920" cy="658368"/>
          </a:xfrm>
          <a:prstGeom prst="rect">
            <a:avLst/>
          </a:prstGeom>
          <a:noFill/>
          <a:ln/>
        </p:spPr>
        <p:txBody>
          <a:bodyPr wrap="square" lIns="1016" tIns="1016" rIns="1016" bIns="1016" rtlCol="0" anchor="ctr"/>
          <a:lstStyle/>
          <a:p>
            <a:pPr marL="0" indent="0">
              <a:buNone/>
            </a:pPr>
            <a:r>
              <a:rPr lang="en-US" sz="1200" dirty="0">
                <a:solidFill>
                  <a:schemeClr val="tx1"/>
                </a:solidFill>
                <a:latin typeface="Calibri" pitchFamily="34" charset="0"/>
                <a:ea typeface="Calibri" pitchFamily="34" charset="-122"/>
                <a:cs typeface="Calibri" pitchFamily="34" charset="-120"/>
              </a:rPr>
              <a:t>limit 40 %</a:t>
            </a:r>
            <a:endParaRPr lang="en-US" sz="1200" dirty="0"/>
          </a:p>
          <a:p>
            <a:pPr marL="0" indent="0">
              <a:buNone/>
            </a:pPr>
            <a:r>
              <a:rPr lang="en-US" sz="1200" dirty="0">
                <a:solidFill>
                  <a:schemeClr val="tx1"/>
                </a:solidFill>
                <a:latin typeface="Calibri" pitchFamily="34" charset="0"/>
                <a:ea typeface="Calibri" pitchFamily="34" charset="-122"/>
                <a:cs typeface="Calibri" pitchFamily="34" charset="-120"/>
              </a:rPr>
              <a:t>→ exhaust ON, alarm</a:t>
            </a:r>
            <a:endParaRPr lang="en-US" sz="1200" dirty="0"/>
          </a:p>
        </p:txBody>
      </p:sp>
      <p:sp>
        <p:nvSpPr>
          <p:cNvPr id="20" name="card-262"/>
          <p:cNvSpPr/>
          <p:nvPr/>
        </p:nvSpPr>
        <p:spPr>
          <a:xfrm>
            <a:off x="548640" y="4572000"/>
            <a:ext cx="5120640" cy="731520"/>
          </a:xfrm>
          <a:prstGeom prst="roundRect">
            <a:avLst>
              <a:gd name="adj" fmla="val 15000"/>
            </a:avLst>
          </a:prstGeom>
          <a:solidFill>
            <a:srgbClr val="EAF1FF"/>
          </a:solidFill>
          <a:ln w="12700">
            <a:solidFill>
              <a:srgbClr val="EAF1FF"/>
            </a:solidFill>
            <a:prstDash val="solid"/>
          </a:ln>
          <a:effectLst>
            <a:outerShdw blurRad="76200" dist="25400" dir="5400000" algn="bl" rotWithShape="0">
              <a:srgbClr val="1B2A6B">
                <a:alpha val="15000"/>
              </a:srgbClr>
            </a:outerShdw>
          </a:effectLst>
        </p:spPr>
      </p:sp>
      <p:sp>
        <p:nvSpPr>
          <p:cNvPr id="21" name="iconbg-263"/>
          <p:cNvSpPr/>
          <p:nvPr/>
        </p:nvSpPr>
        <p:spPr>
          <a:xfrm>
            <a:off x="685800" y="4681728"/>
            <a:ext cx="512064" cy="512064"/>
          </a:xfrm>
          <a:prstGeom prst="ellipse">
            <a:avLst/>
          </a:prstGeom>
          <a:solidFill>
            <a:srgbClr val="1B2A6B"/>
          </a:solidFill>
          <a:ln w="12700">
            <a:solidFill>
              <a:srgbClr val="1B2A6B"/>
            </a:solidFill>
            <a:prstDash val="solid"/>
          </a:ln>
        </p:spPr>
      </p:sp>
      <p:pic>
        <p:nvPicPr>
          <p:cNvPr id="22" name="icon-264" descr="preencoded.png"/>
          <p:cNvPicPr>
            <a:picLocks noChangeAspect="1"/>
          </p:cNvPicPr>
          <p:nvPr/>
        </p:nvPicPr>
        <p:blipFill>
          <a:blip r:embed="rId3"/>
          <a:stretch>
            <a:fillRect/>
          </a:stretch>
        </p:blipFill>
        <p:spPr>
          <a:xfrm>
            <a:off x="798454" y="4794382"/>
            <a:ext cx="286756" cy="286756"/>
          </a:xfrm>
          <a:prstGeom prst="rect">
            <a:avLst/>
          </a:prstGeom>
        </p:spPr>
      </p:pic>
      <p:sp>
        <p:nvSpPr>
          <p:cNvPr id="23" name="text-265"/>
          <p:cNvSpPr txBox="1"/>
          <p:nvPr/>
        </p:nvSpPr>
        <p:spPr>
          <a:xfrm>
            <a:off x="1325880" y="4608576"/>
            <a:ext cx="1554480" cy="658368"/>
          </a:xfrm>
          <a:prstGeom prst="rect">
            <a:avLst/>
          </a:prstGeom>
          <a:noFill/>
          <a:ln/>
        </p:spPr>
        <p:txBody>
          <a:bodyPr wrap="square" lIns="1016" tIns="1016" rIns="1016" bIns="1016" rtlCol="0" anchor="ctr"/>
          <a:lstStyle/>
          <a:p>
            <a:pPr marL="0" indent="0">
              <a:buNone/>
            </a:pPr>
            <a:r>
              <a:rPr lang="en-US" sz="1500" b="1" dirty="0">
                <a:solidFill>
                  <a:schemeClr val="tx1"/>
                </a:solidFill>
                <a:latin typeface="Calibri" pitchFamily="34" charset="0"/>
                <a:ea typeface="Calibri" pitchFamily="34" charset="-122"/>
                <a:cs typeface="Calibri" pitchFamily="34" charset="-120"/>
              </a:rPr>
              <a:t>Humidity*</a:t>
            </a:r>
            <a:endParaRPr lang="en-US" sz="1500" dirty="0"/>
          </a:p>
        </p:txBody>
      </p:sp>
      <p:sp>
        <p:nvSpPr>
          <p:cNvPr id="24" name="text-266"/>
          <p:cNvSpPr txBox="1"/>
          <p:nvPr/>
        </p:nvSpPr>
        <p:spPr>
          <a:xfrm>
            <a:off x="2834640" y="4608576"/>
            <a:ext cx="2788920" cy="658368"/>
          </a:xfrm>
          <a:prstGeom prst="rect">
            <a:avLst/>
          </a:prstGeom>
          <a:noFill/>
          <a:ln/>
        </p:spPr>
        <p:txBody>
          <a:bodyPr wrap="square" lIns="1016" tIns="1016" rIns="1016" bIns="1016" rtlCol="0" anchor="ctr"/>
          <a:lstStyle/>
          <a:p>
            <a:pPr marL="0" indent="0">
              <a:buNone/>
            </a:pPr>
            <a:r>
              <a:rPr lang="en-US" sz="1200" dirty="0">
                <a:solidFill>
                  <a:schemeClr val="tx1"/>
                </a:solidFill>
                <a:latin typeface="Calibri" pitchFamily="34" charset="0"/>
                <a:ea typeface="Calibri" pitchFamily="34" charset="-122"/>
                <a:cs typeface="Calibri" pitchFamily="34" charset="-120"/>
              </a:rPr>
              <a:t>limit 80 %</a:t>
            </a:r>
            <a:endParaRPr lang="en-US" sz="1200" dirty="0"/>
          </a:p>
          <a:p>
            <a:pPr marL="0" indent="0">
              <a:buNone/>
            </a:pPr>
            <a:r>
              <a:rPr lang="en-US" sz="1200" dirty="0">
                <a:solidFill>
                  <a:schemeClr val="tx1"/>
                </a:solidFill>
                <a:latin typeface="Calibri" pitchFamily="34" charset="0"/>
                <a:ea typeface="Calibri" pitchFamily="34" charset="-122"/>
                <a:cs typeface="Calibri" pitchFamily="34" charset="-120"/>
              </a:rPr>
              <a:t>→ ventilation ON</a:t>
            </a:r>
            <a:endParaRPr lang="en-US" sz="1200" dirty="0"/>
          </a:p>
        </p:txBody>
      </p:sp>
      <p:sp>
        <p:nvSpPr>
          <p:cNvPr id="25" name="text-267"/>
          <p:cNvSpPr txBox="1"/>
          <p:nvPr/>
        </p:nvSpPr>
        <p:spPr>
          <a:xfrm>
            <a:off x="548640" y="5486400"/>
            <a:ext cx="5120640" cy="685800"/>
          </a:xfrm>
          <a:prstGeom prst="rect">
            <a:avLst/>
          </a:prstGeom>
          <a:noFill/>
          <a:ln/>
        </p:spPr>
        <p:txBody>
          <a:bodyPr wrap="square" lIns="1016" tIns="1016" rIns="1016" bIns="1016" rtlCol="0" anchor="ctr"/>
          <a:lstStyle/>
          <a:p>
            <a:pPr marL="0" indent="0">
              <a:buNone/>
            </a:pPr>
            <a:r>
              <a:rPr lang="en-US" sz="1200" i="1" dirty="0">
                <a:solidFill>
                  <a:srgbClr val="4B5563"/>
                </a:solidFill>
                <a:latin typeface="Calibri" pitchFamily="34" charset="0"/>
                <a:ea typeface="Calibri" pitchFamily="34" charset="-122"/>
                <a:cs typeface="Calibri" pitchFamily="34" charset="-120"/>
              </a:rPr>
              <a:t>58.4 °C &gt; 55 → SensorAlertException caught, logged, work continues. *Smoke/humidity limits are assumptions.</a:t>
            </a:r>
            <a:endParaRPr lang="en-US" sz="1200" dirty="0"/>
          </a:p>
        </p:txBody>
      </p:sp>
      <p:graphicFrame>
        <p:nvGraphicFramePr>
          <p:cNvPr id="26" name="table-268"/>
          <p:cNvGraphicFramePr>
            <a:graphicFrameLocks noGrp="1"/>
          </p:cNvGraphicFramePr>
          <p:nvPr>
            <p:extLst/>
          </p:nvPr>
        </p:nvGraphicFramePr>
        <p:xfrm>
          <a:off x="5943600" y="1965960"/>
          <a:ext cx="5669280" cy="2304288"/>
        </p:xfrm>
        <a:graphic>
          <a:graphicData uri="http://schemas.openxmlformats.org/drawingml/2006/table">
            <a:tbl>
              <a:tblPr/>
              <a:tblGrid>
                <a:gridCol w="173736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38404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Appliance</a:t>
                      </a:r>
                      <a:endParaRPr lang="en-US" sz="1300" dirty="0">
                        <a:latin typeface="Calibri" charset="0"/>
                        <a:ea typeface="Calibri" charset="0"/>
                        <a:cs typeface="Calibri" charset="0"/>
                      </a:endParaRPr>
                    </a:p>
                  </a:txBody>
                  <a:tcPr>
                    <a:lnL w="6350" cap="flat" cmpd="sng" algn="ctr">
                      <a:solidFill>
                        <a:srgbClr val="C7D2FE"/>
                      </a:solidFill>
                      <a:prstDash val="solid"/>
                      <a:round/>
                      <a:headEnd type="none" w="med" len="med"/>
                      <a:tailEnd type="none" w="med" len="med"/>
                    </a:lnL>
                    <a:lnR w="6350" cap="flat" cmpd="sng" algn="ctr">
                      <a:solidFill>
                        <a:srgbClr val="C7D2FE"/>
                      </a:solidFill>
                      <a:prstDash val="solid"/>
                      <a:round/>
                      <a:headEnd type="none" w="med" len="med"/>
                      <a:tailEnd type="none" w="med" len="med"/>
                    </a:lnR>
                    <a:lnT w="6350" cap="flat" cmpd="sng" algn="ctr">
                      <a:solidFill>
                        <a:srgbClr val="C7D2FE"/>
                      </a:solidFill>
                      <a:prstDash val="solid"/>
                      <a:round/>
                      <a:headEnd type="none" w="med" len="med"/>
                      <a:tailEnd type="none" w="med" len="med"/>
                    </a:lnT>
                    <a:lnB w="6350" cap="flat" cmpd="sng" algn="ctr">
                      <a:solidFill>
                        <a:srgbClr val="C7D2FE"/>
                      </a:solidFill>
                      <a:prstDash val="solid"/>
                      <a:round/>
                      <a:headEnd type="none" w="med" len="med"/>
                      <a:tailEnd type="none" w="med" len="med"/>
                    </a:lnB>
                    <a:solidFill>
                      <a:srgbClr val="1B2A6B"/>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V × A × PF</a:t>
                      </a:r>
                      <a:endParaRPr lang="en-US" sz="1300" dirty="0">
                        <a:latin typeface="Calibri" charset="0"/>
                        <a:ea typeface="Calibri" charset="0"/>
                        <a:cs typeface="Calibri" charset="0"/>
                      </a:endParaRPr>
                    </a:p>
                  </a:txBody>
                  <a:tcPr>
                    <a:lnL w="6350" cap="flat" cmpd="sng" algn="ctr">
                      <a:solidFill>
                        <a:srgbClr val="C7D2FE"/>
                      </a:solidFill>
                      <a:prstDash val="solid"/>
                      <a:round/>
                      <a:headEnd type="none" w="med" len="med"/>
                      <a:tailEnd type="none" w="med" len="med"/>
                    </a:lnL>
                    <a:lnR w="6350" cap="flat" cmpd="sng" algn="ctr">
                      <a:solidFill>
                        <a:srgbClr val="C7D2FE"/>
                      </a:solidFill>
                      <a:prstDash val="solid"/>
                      <a:round/>
                      <a:headEnd type="none" w="med" len="med"/>
                      <a:tailEnd type="none" w="med" len="med"/>
                    </a:lnR>
                    <a:lnT w="6350" cap="flat" cmpd="sng" algn="ctr">
                      <a:solidFill>
                        <a:srgbClr val="C7D2FE"/>
                      </a:solidFill>
                      <a:prstDash val="solid"/>
                      <a:round/>
                      <a:headEnd type="none" w="med" len="med"/>
                      <a:tailEnd type="none" w="med" len="med"/>
                    </a:lnT>
                    <a:lnB w="6350" cap="flat" cmpd="sng" algn="ctr">
                      <a:solidFill>
                        <a:srgbClr val="C7D2FE"/>
                      </a:solidFill>
                      <a:prstDash val="solid"/>
                      <a:round/>
                      <a:headEnd type="none" w="med" len="med"/>
                      <a:tailEnd type="none" w="med" len="med"/>
                    </a:lnB>
                    <a:solidFill>
                      <a:srgbClr val="1B2A6B"/>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h</a:t>
                      </a:r>
                      <a:endParaRPr lang="en-US" sz="1300" dirty="0">
                        <a:latin typeface="Calibri" charset="0"/>
                        <a:ea typeface="Calibri" charset="0"/>
                        <a:cs typeface="Calibri" charset="0"/>
                      </a:endParaRPr>
                    </a:p>
                  </a:txBody>
                  <a:tcPr>
                    <a:lnL w="6350" cap="flat" cmpd="sng" algn="ctr">
                      <a:solidFill>
                        <a:srgbClr val="C7D2FE"/>
                      </a:solidFill>
                      <a:prstDash val="solid"/>
                      <a:round/>
                      <a:headEnd type="none" w="med" len="med"/>
                      <a:tailEnd type="none" w="med" len="med"/>
                    </a:lnL>
                    <a:lnR w="6350" cap="flat" cmpd="sng" algn="ctr">
                      <a:solidFill>
                        <a:srgbClr val="C7D2FE"/>
                      </a:solidFill>
                      <a:prstDash val="solid"/>
                      <a:round/>
                      <a:headEnd type="none" w="med" len="med"/>
                      <a:tailEnd type="none" w="med" len="med"/>
                    </a:lnR>
                    <a:lnT w="6350" cap="flat" cmpd="sng" algn="ctr">
                      <a:solidFill>
                        <a:srgbClr val="C7D2FE"/>
                      </a:solidFill>
                      <a:prstDash val="solid"/>
                      <a:round/>
                      <a:headEnd type="none" w="med" len="med"/>
                      <a:tailEnd type="none" w="med" len="med"/>
                    </a:lnT>
                    <a:lnB w="6350" cap="flat" cmpd="sng" algn="ctr">
                      <a:solidFill>
                        <a:srgbClr val="C7D2FE"/>
                      </a:solidFill>
                      <a:prstDash val="solid"/>
                      <a:round/>
                      <a:headEnd type="none" w="med" len="med"/>
                      <a:tailEnd type="none" w="med" len="med"/>
                    </a:lnB>
                    <a:solidFill>
                      <a:srgbClr val="1B2A6B"/>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kWh</a:t>
                      </a:r>
                      <a:endParaRPr lang="en-US" sz="1300" dirty="0">
                        <a:latin typeface="Calibri" charset="0"/>
                        <a:ea typeface="Calibri" charset="0"/>
                        <a:cs typeface="Calibri" charset="0"/>
                      </a:endParaRPr>
                    </a:p>
                  </a:txBody>
                  <a:tcPr>
                    <a:lnL w="6350" cap="flat" cmpd="sng" algn="ctr">
                      <a:solidFill>
                        <a:srgbClr val="C7D2FE"/>
                      </a:solidFill>
                      <a:prstDash val="solid"/>
                      <a:round/>
                      <a:headEnd type="none" w="med" len="med"/>
                      <a:tailEnd type="none" w="med" len="med"/>
                    </a:lnL>
                    <a:lnR w="6350" cap="flat" cmpd="sng" algn="ctr">
                      <a:solidFill>
                        <a:srgbClr val="C7D2FE"/>
                      </a:solidFill>
                      <a:prstDash val="solid"/>
                      <a:round/>
                      <a:headEnd type="none" w="med" len="med"/>
                      <a:tailEnd type="none" w="med" len="med"/>
                    </a:lnR>
                    <a:lnT w="6350" cap="flat" cmpd="sng" algn="ctr">
                      <a:solidFill>
                        <a:srgbClr val="C7D2FE"/>
                      </a:solidFill>
                      <a:prstDash val="solid"/>
                      <a:round/>
                      <a:headEnd type="none" w="med" len="med"/>
                      <a:tailEnd type="none" w="med" len="med"/>
                    </a:lnT>
                    <a:lnB w="6350" cap="flat" cmpd="sng" algn="ctr">
                      <a:solidFill>
                        <a:srgbClr val="C7D2FE"/>
                      </a:solidFill>
                      <a:prstDash val="solid"/>
                      <a:round/>
                      <a:headEnd type="none" w="med" len="med"/>
                      <a:tailEnd type="none" w="med" len="med"/>
                    </a:lnB>
                    <a:solidFill>
                      <a:srgbClr val="1B2A6B"/>
                    </a:solidFill>
                  </a:tcPr>
                </a:tc>
                <a:extLst>
                  <a:ext uri="{0D108BD9-81ED-4DB2-BD59-A6C34878D82A}">
                    <a16:rowId xmlns:a16="http://schemas.microsoft.com/office/drawing/2014/main" val="10000"/>
                  </a:ext>
                </a:extLst>
              </a:tr>
              <a:tr h="384048">
                <a:tc>
                  <a:txBody>
                    <a:bodyPr/>
                    <a:lstStyle/>
                    <a:p>
                      <a:pPr marL="0" indent="0">
                        <a:buNone/>
                      </a:pPr>
                      <a:r>
                        <a:rPr lang="en-US" sz="1300" dirty="0">
                          <a:solidFill>
                            <a:srgbClr val="0B1437"/>
                          </a:solidFill>
                          <a:latin typeface="Calibri" pitchFamily="34" charset="0"/>
                          <a:ea typeface="Calibri" pitchFamily="34" charset="-122"/>
                          <a:cs typeface="Calibri" pitchFamily="34" charset="-120"/>
                        </a:rPr>
                        <a:t>Tandoor (highest)</a:t>
                      </a:r>
                      <a:endParaRPr lang="en-US" sz="1300" dirty="0">
                        <a:latin typeface="Calibri" charset="0"/>
                        <a:ea typeface="Calibri" charset="0"/>
                        <a:cs typeface="Calibri" charset="0"/>
                      </a:endParaRPr>
                    </a:p>
                  </a:txBody>
                  <a:tcPr>
                    <a:lnL w="6350" cap="flat" cmpd="sng" algn="ctr">
                      <a:solidFill>
                        <a:srgbClr val="C7D2FE"/>
                      </a:solidFill>
                      <a:prstDash val="solid"/>
                      <a:round/>
                      <a:headEnd type="none" w="med" len="med"/>
                      <a:tailEnd type="none" w="med" len="med"/>
                    </a:lnL>
                    <a:lnR w="6350" cap="flat" cmpd="sng" algn="ctr">
                      <a:solidFill>
                        <a:srgbClr val="C7D2FE"/>
                      </a:solidFill>
                      <a:prstDash val="solid"/>
                      <a:round/>
                      <a:headEnd type="none" w="med" len="med"/>
                      <a:tailEnd type="none" w="med" len="med"/>
                    </a:lnR>
                    <a:lnT w="6350" cap="flat" cmpd="sng" algn="ctr">
                      <a:solidFill>
                        <a:srgbClr val="C7D2FE"/>
                      </a:solidFill>
                      <a:prstDash val="solid"/>
                      <a:round/>
                      <a:headEnd type="none" w="med" len="med"/>
                      <a:tailEnd type="none" w="med" len="med"/>
                    </a:lnT>
                    <a:lnB w="6350" cap="flat" cmpd="sng" algn="ctr">
                      <a:solidFill>
                        <a:srgbClr val="C7D2FE"/>
                      </a:solidFill>
                      <a:prstDash val="solid"/>
                      <a:round/>
                      <a:headEnd type="none" w="med" len="med"/>
                      <a:tailEnd type="none" w="med" len="med"/>
                    </a:lnB>
                    <a:solidFill>
                      <a:srgbClr val="FFFFFF"/>
                    </a:solidFill>
                  </a:tcPr>
                </a:tc>
                <a:tc>
                  <a:txBody>
                    <a:bodyPr/>
                    <a:lstStyle/>
                    <a:p>
                      <a:pPr marL="0" indent="0">
                        <a:buNone/>
                      </a:pPr>
                      <a:r>
                        <a:rPr lang="en-US" sz="1300" dirty="0">
                          <a:solidFill>
                            <a:srgbClr val="0B1437"/>
                          </a:solidFill>
                          <a:latin typeface="Calibri" pitchFamily="34" charset="0"/>
                          <a:ea typeface="Calibri" pitchFamily="34" charset="-122"/>
                          <a:cs typeface="Calibri" pitchFamily="34" charset="-120"/>
                        </a:rPr>
                        <a:t>230 × 8.5 × 1.00</a:t>
                      </a:r>
                      <a:endParaRPr lang="en-US" sz="1300" dirty="0">
                        <a:latin typeface="Calibri" charset="0"/>
                        <a:ea typeface="Calibri" charset="0"/>
                        <a:cs typeface="Calibri" charset="0"/>
                      </a:endParaRPr>
                    </a:p>
                  </a:txBody>
                  <a:tcPr>
                    <a:lnL w="6350" cap="flat" cmpd="sng" algn="ctr">
                      <a:solidFill>
                        <a:srgbClr val="C7D2FE"/>
                      </a:solidFill>
                      <a:prstDash val="solid"/>
                      <a:round/>
                      <a:headEnd type="none" w="med" len="med"/>
                      <a:tailEnd type="none" w="med" len="med"/>
                    </a:lnL>
                    <a:lnR w="6350" cap="flat" cmpd="sng" algn="ctr">
                      <a:solidFill>
                        <a:srgbClr val="C7D2FE"/>
                      </a:solidFill>
                      <a:prstDash val="solid"/>
                      <a:round/>
                      <a:headEnd type="none" w="med" len="med"/>
                      <a:tailEnd type="none" w="med" len="med"/>
                    </a:lnR>
                    <a:lnT w="6350" cap="flat" cmpd="sng" algn="ctr">
                      <a:solidFill>
                        <a:srgbClr val="C7D2FE"/>
                      </a:solidFill>
                      <a:prstDash val="solid"/>
                      <a:round/>
                      <a:headEnd type="none" w="med" len="med"/>
                      <a:tailEnd type="none" w="med" len="med"/>
                    </a:lnT>
                    <a:lnB w="6350" cap="flat" cmpd="sng" algn="ctr">
                      <a:solidFill>
                        <a:srgbClr val="C7D2FE"/>
                      </a:solidFill>
                      <a:prstDash val="solid"/>
                      <a:round/>
                      <a:headEnd type="none" w="med" len="med"/>
                      <a:tailEnd type="none" w="med" len="med"/>
                    </a:lnB>
                    <a:solidFill>
                      <a:srgbClr val="FFFFFF"/>
                    </a:solidFill>
                  </a:tcPr>
                </a:tc>
                <a:tc>
                  <a:txBody>
                    <a:bodyPr/>
                    <a:lstStyle/>
                    <a:p>
                      <a:pPr marL="0" indent="0">
                        <a:buNone/>
                      </a:pPr>
                      <a:r>
                        <a:rPr lang="en-US" sz="1300" dirty="0">
                          <a:solidFill>
                            <a:srgbClr val="0B1437"/>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a:lnL w="6350" cap="flat" cmpd="sng" algn="ctr">
                      <a:solidFill>
                        <a:srgbClr val="C7D2FE"/>
                      </a:solidFill>
                      <a:prstDash val="solid"/>
                      <a:round/>
                      <a:headEnd type="none" w="med" len="med"/>
                      <a:tailEnd type="none" w="med" len="med"/>
                    </a:lnL>
                    <a:lnR w="6350" cap="flat" cmpd="sng" algn="ctr">
                      <a:solidFill>
                        <a:srgbClr val="C7D2FE"/>
                      </a:solidFill>
                      <a:prstDash val="solid"/>
                      <a:round/>
                      <a:headEnd type="none" w="med" len="med"/>
                      <a:tailEnd type="none" w="med" len="med"/>
                    </a:lnR>
                    <a:lnT w="6350" cap="flat" cmpd="sng" algn="ctr">
                      <a:solidFill>
                        <a:srgbClr val="C7D2FE"/>
                      </a:solidFill>
                      <a:prstDash val="solid"/>
                      <a:round/>
                      <a:headEnd type="none" w="med" len="med"/>
                      <a:tailEnd type="none" w="med" len="med"/>
                    </a:lnT>
                    <a:lnB w="6350" cap="flat" cmpd="sng" algn="ctr">
                      <a:solidFill>
                        <a:srgbClr val="C7D2FE"/>
                      </a:solidFill>
                      <a:prstDash val="solid"/>
                      <a:round/>
                      <a:headEnd type="none" w="med" len="med"/>
                      <a:tailEnd type="none" w="med" len="med"/>
                    </a:lnB>
                    <a:solidFill>
                      <a:srgbClr val="FFFFFF"/>
                    </a:solidFill>
                  </a:tcPr>
                </a:tc>
                <a:tc>
                  <a:txBody>
                    <a:bodyPr/>
                    <a:lstStyle/>
                    <a:p>
                      <a:pPr marL="0" indent="0">
                        <a:buNone/>
                      </a:pPr>
                      <a:r>
                        <a:rPr lang="en-US" sz="1300" dirty="0">
                          <a:solidFill>
                            <a:srgbClr val="0B1437"/>
                          </a:solidFill>
                          <a:latin typeface="Calibri" pitchFamily="34" charset="0"/>
                          <a:ea typeface="Calibri" pitchFamily="34" charset="-122"/>
                          <a:cs typeface="Calibri" pitchFamily="34" charset="-120"/>
                        </a:rPr>
                        <a:t>11.73</a:t>
                      </a:r>
                      <a:endParaRPr lang="en-US" sz="1300" dirty="0">
                        <a:latin typeface="Calibri" charset="0"/>
                        <a:ea typeface="Calibri" charset="0"/>
                        <a:cs typeface="Calibri" charset="0"/>
                      </a:endParaRPr>
                    </a:p>
                  </a:txBody>
                  <a:tcPr>
                    <a:lnL w="6350" cap="flat" cmpd="sng" algn="ctr">
                      <a:solidFill>
                        <a:srgbClr val="C7D2FE"/>
                      </a:solidFill>
                      <a:prstDash val="solid"/>
                      <a:round/>
                      <a:headEnd type="none" w="med" len="med"/>
                      <a:tailEnd type="none" w="med" len="med"/>
                    </a:lnL>
                    <a:lnR w="6350" cap="flat" cmpd="sng" algn="ctr">
                      <a:solidFill>
                        <a:srgbClr val="C7D2FE"/>
                      </a:solidFill>
                      <a:prstDash val="solid"/>
                      <a:round/>
                      <a:headEnd type="none" w="med" len="med"/>
                      <a:tailEnd type="none" w="med" len="med"/>
                    </a:lnR>
                    <a:lnT w="6350" cap="flat" cmpd="sng" algn="ctr">
                      <a:solidFill>
                        <a:srgbClr val="C7D2FE"/>
                      </a:solidFill>
                      <a:prstDash val="solid"/>
                      <a:round/>
                      <a:headEnd type="none" w="med" len="med"/>
                      <a:tailEnd type="none" w="med" len="med"/>
                    </a:lnT>
                    <a:lnB w="6350" cap="flat" cmpd="sng" algn="ctr">
                      <a:solidFill>
                        <a:srgbClr val="C7D2F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300" dirty="0">
                          <a:solidFill>
                            <a:srgbClr val="0B1437"/>
                          </a:solidFill>
                          <a:latin typeface="Calibri" pitchFamily="34" charset="0"/>
                          <a:ea typeface="Calibri" pitchFamily="34" charset="-122"/>
                          <a:cs typeface="Calibri" pitchFamily="34" charset="-120"/>
                        </a:rPr>
                        <a:t>Induction</a:t>
                      </a:r>
                      <a:endParaRPr lang="en-US" sz="1300" dirty="0">
                        <a:latin typeface="Calibri" charset="0"/>
                        <a:ea typeface="Calibri" charset="0"/>
                        <a:cs typeface="Calibri" charset="0"/>
                      </a:endParaRPr>
                    </a:p>
                  </a:txBody>
                  <a:tcPr>
                    <a:lnL w="6350" cap="flat" cmpd="sng" algn="ctr">
                      <a:solidFill>
                        <a:srgbClr val="C7D2FE"/>
                      </a:solidFill>
                      <a:prstDash val="solid"/>
                      <a:round/>
                      <a:headEnd type="none" w="med" len="med"/>
                      <a:tailEnd type="none" w="med" len="med"/>
                    </a:lnL>
                    <a:lnR w="6350" cap="flat" cmpd="sng" algn="ctr">
                      <a:solidFill>
                        <a:srgbClr val="C7D2FE"/>
                      </a:solidFill>
                      <a:prstDash val="solid"/>
                      <a:round/>
                      <a:headEnd type="none" w="med" len="med"/>
                      <a:tailEnd type="none" w="med" len="med"/>
                    </a:lnR>
                    <a:lnT w="6350" cap="flat" cmpd="sng" algn="ctr">
                      <a:solidFill>
                        <a:srgbClr val="C7D2FE"/>
                      </a:solidFill>
                      <a:prstDash val="solid"/>
                      <a:round/>
                      <a:headEnd type="none" w="med" len="med"/>
                      <a:tailEnd type="none" w="med" len="med"/>
                    </a:lnT>
                    <a:lnB w="6350" cap="flat" cmpd="sng" algn="ctr">
                      <a:solidFill>
                        <a:srgbClr val="C7D2FE"/>
                      </a:solidFill>
                      <a:prstDash val="solid"/>
                      <a:round/>
                      <a:headEnd type="none" w="med" len="med"/>
                      <a:tailEnd type="none" w="med" len="med"/>
                    </a:lnB>
                    <a:solidFill>
                      <a:srgbClr val="FFFFFF"/>
                    </a:solidFill>
                  </a:tcPr>
                </a:tc>
                <a:tc>
                  <a:txBody>
                    <a:bodyPr/>
                    <a:lstStyle/>
                    <a:p>
                      <a:pPr marL="0" indent="0">
                        <a:buNone/>
                      </a:pPr>
                      <a:r>
                        <a:rPr lang="en-US" sz="1300" dirty="0">
                          <a:solidFill>
                            <a:srgbClr val="0B1437"/>
                          </a:solidFill>
                          <a:latin typeface="Calibri" pitchFamily="34" charset="0"/>
                          <a:ea typeface="Calibri" pitchFamily="34" charset="-122"/>
                          <a:cs typeface="Calibri" pitchFamily="34" charset="-120"/>
                        </a:rPr>
                        <a:t>230 × 9.0 × 0.95</a:t>
                      </a:r>
                      <a:endParaRPr lang="en-US" sz="1300" dirty="0">
                        <a:latin typeface="Calibri" charset="0"/>
                        <a:ea typeface="Calibri" charset="0"/>
                        <a:cs typeface="Calibri" charset="0"/>
                      </a:endParaRPr>
                    </a:p>
                  </a:txBody>
                  <a:tcPr>
                    <a:lnL w="6350" cap="flat" cmpd="sng" algn="ctr">
                      <a:solidFill>
                        <a:srgbClr val="C7D2FE"/>
                      </a:solidFill>
                      <a:prstDash val="solid"/>
                      <a:round/>
                      <a:headEnd type="none" w="med" len="med"/>
                      <a:tailEnd type="none" w="med" len="med"/>
                    </a:lnL>
                    <a:lnR w="6350" cap="flat" cmpd="sng" algn="ctr">
                      <a:solidFill>
                        <a:srgbClr val="C7D2FE"/>
                      </a:solidFill>
                      <a:prstDash val="solid"/>
                      <a:round/>
                      <a:headEnd type="none" w="med" len="med"/>
                      <a:tailEnd type="none" w="med" len="med"/>
                    </a:lnR>
                    <a:lnT w="6350" cap="flat" cmpd="sng" algn="ctr">
                      <a:solidFill>
                        <a:srgbClr val="C7D2FE"/>
                      </a:solidFill>
                      <a:prstDash val="solid"/>
                      <a:round/>
                      <a:headEnd type="none" w="med" len="med"/>
                      <a:tailEnd type="none" w="med" len="med"/>
                    </a:lnT>
                    <a:lnB w="6350" cap="flat" cmpd="sng" algn="ctr">
                      <a:solidFill>
                        <a:srgbClr val="C7D2FE"/>
                      </a:solidFill>
                      <a:prstDash val="solid"/>
                      <a:round/>
                      <a:headEnd type="none" w="med" len="med"/>
                      <a:tailEnd type="none" w="med" len="med"/>
                    </a:lnB>
                    <a:solidFill>
                      <a:srgbClr val="FFFFFF"/>
                    </a:solidFill>
                  </a:tcPr>
                </a:tc>
                <a:tc>
                  <a:txBody>
                    <a:bodyPr/>
                    <a:lstStyle/>
                    <a:p>
                      <a:pPr marL="0" indent="0">
                        <a:buNone/>
                      </a:pPr>
                      <a:r>
                        <a:rPr lang="en-US" sz="1300" dirty="0">
                          <a:solidFill>
                            <a:srgbClr val="0B1437"/>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a:lnL w="6350" cap="flat" cmpd="sng" algn="ctr">
                      <a:solidFill>
                        <a:srgbClr val="C7D2FE"/>
                      </a:solidFill>
                      <a:prstDash val="solid"/>
                      <a:round/>
                      <a:headEnd type="none" w="med" len="med"/>
                      <a:tailEnd type="none" w="med" len="med"/>
                    </a:lnL>
                    <a:lnR w="6350" cap="flat" cmpd="sng" algn="ctr">
                      <a:solidFill>
                        <a:srgbClr val="C7D2FE"/>
                      </a:solidFill>
                      <a:prstDash val="solid"/>
                      <a:round/>
                      <a:headEnd type="none" w="med" len="med"/>
                      <a:tailEnd type="none" w="med" len="med"/>
                    </a:lnR>
                    <a:lnT w="6350" cap="flat" cmpd="sng" algn="ctr">
                      <a:solidFill>
                        <a:srgbClr val="C7D2FE"/>
                      </a:solidFill>
                      <a:prstDash val="solid"/>
                      <a:round/>
                      <a:headEnd type="none" w="med" len="med"/>
                      <a:tailEnd type="none" w="med" len="med"/>
                    </a:lnT>
                    <a:lnB w="6350" cap="flat" cmpd="sng" algn="ctr">
                      <a:solidFill>
                        <a:srgbClr val="C7D2FE"/>
                      </a:solidFill>
                      <a:prstDash val="solid"/>
                      <a:round/>
                      <a:headEnd type="none" w="med" len="med"/>
                      <a:tailEnd type="none" w="med" len="med"/>
                    </a:lnB>
                    <a:solidFill>
                      <a:srgbClr val="FFFFFF"/>
                    </a:solidFill>
                  </a:tcPr>
                </a:tc>
                <a:tc>
                  <a:txBody>
                    <a:bodyPr/>
                    <a:lstStyle/>
                    <a:p>
                      <a:pPr marL="0" indent="0">
                        <a:buNone/>
                      </a:pPr>
                      <a:r>
                        <a:rPr lang="en-US" sz="1300" dirty="0">
                          <a:solidFill>
                            <a:srgbClr val="0B1437"/>
                          </a:solidFill>
                          <a:latin typeface="Calibri" pitchFamily="34" charset="0"/>
                          <a:ea typeface="Calibri" pitchFamily="34" charset="-122"/>
                          <a:cs typeface="Calibri" pitchFamily="34" charset="-120"/>
                        </a:rPr>
                        <a:t>7.87</a:t>
                      </a:r>
                      <a:endParaRPr lang="en-US" sz="1300" dirty="0">
                        <a:latin typeface="Calibri" charset="0"/>
                        <a:ea typeface="Calibri" charset="0"/>
                        <a:cs typeface="Calibri" charset="0"/>
                      </a:endParaRPr>
                    </a:p>
                  </a:txBody>
                  <a:tcPr>
                    <a:lnL w="6350" cap="flat" cmpd="sng" algn="ctr">
                      <a:solidFill>
                        <a:srgbClr val="C7D2FE"/>
                      </a:solidFill>
                      <a:prstDash val="solid"/>
                      <a:round/>
                      <a:headEnd type="none" w="med" len="med"/>
                      <a:tailEnd type="none" w="med" len="med"/>
                    </a:lnL>
                    <a:lnR w="6350" cap="flat" cmpd="sng" algn="ctr">
                      <a:solidFill>
                        <a:srgbClr val="C7D2FE"/>
                      </a:solidFill>
                      <a:prstDash val="solid"/>
                      <a:round/>
                      <a:headEnd type="none" w="med" len="med"/>
                      <a:tailEnd type="none" w="med" len="med"/>
                    </a:lnR>
                    <a:lnT w="6350" cap="flat" cmpd="sng" algn="ctr">
                      <a:solidFill>
                        <a:srgbClr val="C7D2FE"/>
                      </a:solidFill>
                      <a:prstDash val="solid"/>
                      <a:round/>
                      <a:headEnd type="none" w="med" len="med"/>
                      <a:tailEnd type="none" w="med" len="med"/>
                    </a:lnT>
                    <a:lnB w="6350" cap="flat" cmpd="sng" algn="ctr">
                      <a:solidFill>
                        <a:srgbClr val="C7D2F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300" dirty="0">
                          <a:solidFill>
                            <a:srgbClr val="0B1437"/>
                          </a:solidFill>
                          <a:latin typeface="Calibri" pitchFamily="34" charset="0"/>
                          <a:ea typeface="Calibri" pitchFamily="34" charset="-122"/>
                          <a:cs typeface="Calibri" pitchFamily="34" charset="-120"/>
                        </a:rPr>
                        <a:t>Fridge*</a:t>
                      </a:r>
                      <a:endParaRPr lang="en-US" sz="1300" dirty="0">
                        <a:latin typeface="Calibri" charset="0"/>
                        <a:ea typeface="Calibri" charset="0"/>
                        <a:cs typeface="Calibri" charset="0"/>
                      </a:endParaRPr>
                    </a:p>
                  </a:txBody>
                  <a:tcPr>
                    <a:lnL w="6350" cap="flat" cmpd="sng" algn="ctr">
                      <a:solidFill>
                        <a:srgbClr val="C7D2FE"/>
                      </a:solidFill>
                      <a:prstDash val="solid"/>
                      <a:round/>
                      <a:headEnd type="none" w="med" len="med"/>
                      <a:tailEnd type="none" w="med" len="med"/>
                    </a:lnL>
                    <a:lnR w="6350" cap="flat" cmpd="sng" algn="ctr">
                      <a:solidFill>
                        <a:srgbClr val="C7D2FE"/>
                      </a:solidFill>
                      <a:prstDash val="solid"/>
                      <a:round/>
                      <a:headEnd type="none" w="med" len="med"/>
                      <a:tailEnd type="none" w="med" len="med"/>
                    </a:lnR>
                    <a:lnT w="6350" cap="flat" cmpd="sng" algn="ctr">
                      <a:solidFill>
                        <a:srgbClr val="C7D2FE"/>
                      </a:solidFill>
                      <a:prstDash val="solid"/>
                      <a:round/>
                      <a:headEnd type="none" w="med" len="med"/>
                      <a:tailEnd type="none" w="med" len="med"/>
                    </a:lnT>
                    <a:lnB w="6350" cap="flat" cmpd="sng" algn="ctr">
                      <a:solidFill>
                        <a:srgbClr val="C7D2FE"/>
                      </a:solidFill>
                      <a:prstDash val="solid"/>
                      <a:round/>
                      <a:headEnd type="none" w="med" len="med"/>
                      <a:tailEnd type="none" w="med" len="med"/>
                    </a:lnB>
                    <a:solidFill>
                      <a:srgbClr val="FFFFFF"/>
                    </a:solidFill>
                  </a:tcPr>
                </a:tc>
                <a:tc>
                  <a:txBody>
                    <a:bodyPr/>
                    <a:lstStyle/>
                    <a:p>
                      <a:pPr marL="0" indent="0">
                        <a:buNone/>
                      </a:pPr>
                      <a:r>
                        <a:rPr lang="en-US" sz="1300" dirty="0">
                          <a:solidFill>
                            <a:srgbClr val="0B1437"/>
                          </a:solidFill>
                          <a:latin typeface="Calibri" pitchFamily="34" charset="0"/>
                          <a:ea typeface="Calibri" pitchFamily="34" charset="-122"/>
                          <a:cs typeface="Calibri" pitchFamily="34" charset="-120"/>
                        </a:rPr>
                        <a:t>230 × 1.2 × 0.85</a:t>
                      </a:r>
                      <a:endParaRPr lang="en-US" sz="1300" dirty="0">
                        <a:latin typeface="Calibri" charset="0"/>
                        <a:ea typeface="Calibri" charset="0"/>
                        <a:cs typeface="Calibri" charset="0"/>
                      </a:endParaRPr>
                    </a:p>
                  </a:txBody>
                  <a:tcPr>
                    <a:lnL w="6350" cap="flat" cmpd="sng" algn="ctr">
                      <a:solidFill>
                        <a:srgbClr val="C7D2FE"/>
                      </a:solidFill>
                      <a:prstDash val="solid"/>
                      <a:round/>
                      <a:headEnd type="none" w="med" len="med"/>
                      <a:tailEnd type="none" w="med" len="med"/>
                    </a:lnL>
                    <a:lnR w="6350" cap="flat" cmpd="sng" algn="ctr">
                      <a:solidFill>
                        <a:srgbClr val="C7D2FE"/>
                      </a:solidFill>
                      <a:prstDash val="solid"/>
                      <a:round/>
                      <a:headEnd type="none" w="med" len="med"/>
                      <a:tailEnd type="none" w="med" len="med"/>
                    </a:lnR>
                    <a:lnT w="6350" cap="flat" cmpd="sng" algn="ctr">
                      <a:solidFill>
                        <a:srgbClr val="C7D2FE"/>
                      </a:solidFill>
                      <a:prstDash val="solid"/>
                      <a:round/>
                      <a:headEnd type="none" w="med" len="med"/>
                      <a:tailEnd type="none" w="med" len="med"/>
                    </a:lnT>
                    <a:lnB w="6350" cap="flat" cmpd="sng" algn="ctr">
                      <a:solidFill>
                        <a:srgbClr val="C7D2FE"/>
                      </a:solidFill>
                      <a:prstDash val="solid"/>
                      <a:round/>
                      <a:headEnd type="none" w="med" len="med"/>
                      <a:tailEnd type="none" w="med" len="med"/>
                    </a:lnB>
                    <a:solidFill>
                      <a:srgbClr val="FFFFFF"/>
                    </a:solidFill>
                  </a:tcPr>
                </a:tc>
                <a:tc>
                  <a:txBody>
                    <a:bodyPr/>
                    <a:lstStyle/>
                    <a:p>
                      <a:pPr marL="0" indent="0">
                        <a:buNone/>
                      </a:pPr>
                      <a:r>
                        <a:rPr lang="en-US" sz="1300" dirty="0">
                          <a:solidFill>
                            <a:srgbClr val="0B1437"/>
                          </a:solidFill>
                          <a:latin typeface="Calibri" pitchFamily="34" charset="0"/>
                          <a:ea typeface="Calibri" pitchFamily="34" charset="-122"/>
                          <a:cs typeface="Calibri" pitchFamily="34" charset="-120"/>
                        </a:rPr>
                        <a:t>24</a:t>
                      </a:r>
                      <a:endParaRPr lang="en-US" sz="1300" dirty="0">
                        <a:latin typeface="Calibri" charset="0"/>
                        <a:ea typeface="Calibri" charset="0"/>
                        <a:cs typeface="Calibri" charset="0"/>
                      </a:endParaRPr>
                    </a:p>
                  </a:txBody>
                  <a:tcPr>
                    <a:lnL w="6350" cap="flat" cmpd="sng" algn="ctr">
                      <a:solidFill>
                        <a:srgbClr val="C7D2FE"/>
                      </a:solidFill>
                      <a:prstDash val="solid"/>
                      <a:round/>
                      <a:headEnd type="none" w="med" len="med"/>
                      <a:tailEnd type="none" w="med" len="med"/>
                    </a:lnL>
                    <a:lnR w="6350" cap="flat" cmpd="sng" algn="ctr">
                      <a:solidFill>
                        <a:srgbClr val="C7D2FE"/>
                      </a:solidFill>
                      <a:prstDash val="solid"/>
                      <a:round/>
                      <a:headEnd type="none" w="med" len="med"/>
                      <a:tailEnd type="none" w="med" len="med"/>
                    </a:lnR>
                    <a:lnT w="6350" cap="flat" cmpd="sng" algn="ctr">
                      <a:solidFill>
                        <a:srgbClr val="C7D2FE"/>
                      </a:solidFill>
                      <a:prstDash val="solid"/>
                      <a:round/>
                      <a:headEnd type="none" w="med" len="med"/>
                      <a:tailEnd type="none" w="med" len="med"/>
                    </a:lnT>
                    <a:lnB w="6350" cap="flat" cmpd="sng" algn="ctr">
                      <a:solidFill>
                        <a:srgbClr val="C7D2FE"/>
                      </a:solidFill>
                      <a:prstDash val="solid"/>
                      <a:round/>
                      <a:headEnd type="none" w="med" len="med"/>
                      <a:tailEnd type="none" w="med" len="med"/>
                    </a:lnB>
                    <a:solidFill>
                      <a:srgbClr val="FFFFFF"/>
                    </a:solidFill>
                  </a:tcPr>
                </a:tc>
                <a:tc>
                  <a:txBody>
                    <a:bodyPr/>
                    <a:lstStyle/>
                    <a:p>
                      <a:pPr marL="0" indent="0">
                        <a:buNone/>
                      </a:pPr>
                      <a:r>
                        <a:rPr lang="en-US" sz="1300" dirty="0">
                          <a:solidFill>
                            <a:srgbClr val="0B1437"/>
                          </a:solidFill>
                          <a:latin typeface="Calibri" pitchFamily="34" charset="0"/>
                          <a:ea typeface="Calibri" pitchFamily="34" charset="-122"/>
                          <a:cs typeface="Calibri" pitchFamily="34" charset="-120"/>
                        </a:rPr>
                        <a:t>5.63</a:t>
                      </a:r>
                      <a:endParaRPr lang="en-US" sz="1300" dirty="0">
                        <a:latin typeface="Calibri" charset="0"/>
                        <a:ea typeface="Calibri" charset="0"/>
                        <a:cs typeface="Calibri" charset="0"/>
                      </a:endParaRPr>
                    </a:p>
                  </a:txBody>
                  <a:tcPr>
                    <a:lnL w="6350" cap="flat" cmpd="sng" algn="ctr">
                      <a:solidFill>
                        <a:srgbClr val="C7D2FE"/>
                      </a:solidFill>
                      <a:prstDash val="solid"/>
                      <a:round/>
                      <a:headEnd type="none" w="med" len="med"/>
                      <a:tailEnd type="none" w="med" len="med"/>
                    </a:lnL>
                    <a:lnR w="6350" cap="flat" cmpd="sng" algn="ctr">
                      <a:solidFill>
                        <a:srgbClr val="C7D2FE"/>
                      </a:solidFill>
                      <a:prstDash val="solid"/>
                      <a:round/>
                      <a:headEnd type="none" w="med" len="med"/>
                      <a:tailEnd type="none" w="med" len="med"/>
                    </a:lnR>
                    <a:lnT w="6350" cap="flat" cmpd="sng" algn="ctr">
                      <a:solidFill>
                        <a:srgbClr val="C7D2FE"/>
                      </a:solidFill>
                      <a:prstDash val="solid"/>
                      <a:round/>
                      <a:headEnd type="none" w="med" len="med"/>
                      <a:tailEnd type="none" w="med" len="med"/>
                    </a:lnT>
                    <a:lnB w="6350" cap="flat" cmpd="sng" algn="ctr">
                      <a:solidFill>
                        <a:srgbClr val="C7D2F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1300" dirty="0">
                          <a:solidFill>
                            <a:srgbClr val="0B1437"/>
                          </a:solidFill>
                          <a:latin typeface="Calibri" pitchFamily="34" charset="0"/>
                          <a:ea typeface="Calibri" pitchFamily="34" charset="-122"/>
                          <a:cs typeface="Calibri" pitchFamily="34" charset="-120"/>
                        </a:rPr>
                        <a:t>Fan*</a:t>
                      </a:r>
                      <a:endParaRPr lang="en-US" sz="1300" dirty="0">
                        <a:latin typeface="Calibri" charset="0"/>
                        <a:ea typeface="Calibri" charset="0"/>
                        <a:cs typeface="Calibri" charset="0"/>
                      </a:endParaRPr>
                    </a:p>
                  </a:txBody>
                  <a:tcPr>
                    <a:lnL w="6350" cap="flat" cmpd="sng" algn="ctr">
                      <a:solidFill>
                        <a:srgbClr val="C7D2FE"/>
                      </a:solidFill>
                      <a:prstDash val="solid"/>
                      <a:round/>
                      <a:headEnd type="none" w="med" len="med"/>
                      <a:tailEnd type="none" w="med" len="med"/>
                    </a:lnL>
                    <a:lnR w="6350" cap="flat" cmpd="sng" algn="ctr">
                      <a:solidFill>
                        <a:srgbClr val="C7D2FE"/>
                      </a:solidFill>
                      <a:prstDash val="solid"/>
                      <a:round/>
                      <a:headEnd type="none" w="med" len="med"/>
                      <a:tailEnd type="none" w="med" len="med"/>
                    </a:lnR>
                    <a:lnT w="6350" cap="flat" cmpd="sng" algn="ctr">
                      <a:solidFill>
                        <a:srgbClr val="C7D2FE"/>
                      </a:solidFill>
                      <a:prstDash val="solid"/>
                      <a:round/>
                      <a:headEnd type="none" w="med" len="med"/>
                      <a:tailEnd type="none" w="med" len="med"/>
                    </a:lnT>
                    <a:lnB w="6350" cap="flat" cmpd="sng" algn="ctr">
                      <a:solidFill>
                        <a:srgbClr val="C7D2FE"/>
                      </a:solidFill>
                      <a:prstDash val="solid"/>
                      <a:round/>
                      <a:headEnd type="none" w="med" len="med"/>
                      <a:tailEnd type="none" w="med" len="med"/>
                    </a:lnB>
                    <a:solidFill>
                      <a:srgbClr val="FFFFFF"/>
                    </a:solidFill>
                  </a:tcPr>
                </a:tc>
                <a:tc>
                  <a:txBody>
                    <a:bodyPr/>
                    <a:lstStyle/>
                    <a:p>
                      <a:pPr marL="0" indent="0">
                        <a:buNone/>
                      </a:pPr>
                      <a:r>
                        <a:rPr lang="en-US" sz="1300" dirty="0">
                          <a:solidFill>
                            <a:srgbClr val="0B1437"/>
                          </a:solidFill>
                          <a:latin typeface="Calibri" pitchFamily="34" charset="0"/>
                          <a:ea typeface="Calibri" pitchFamily="34" charset="-122"/>
                          <a:cs typeface="Calibri" pitchFamily="34" charset="-120"/>
                        </a:rPr>
                        <a:t>230 × 0.4 × 0.80</a:t>
                      </a:r>
                      <a:endParaRPr lang="en-US" sz="1300" dirty="0">
                        <a:latin typeface="Calibri" charset="0"/>
                        <a:ea typeface="Calibri" charset="0"/>
                        <a:cs typeface="Calibri" charset="0"/>
                      </a:endParaRPr>
                    </a:p>
                  </a:txBody>
                  <a:tcPr>
                    <a:lnL w="6350" cap="flat" cmpd="sng" algn="ctr">
                      <a:solidFill>
                        <a:srgbClr val="C7D2FE"/>
                      </a:solidFill>
                      <a:prstDash val="solid"/>
                      <a:round/>
                      <a:headEnd type="none" w="med" len="med"/>
                      <a:tailEnd type="none" w="med" len="med"/>
                    </a:lnL>
                    <a:lnR w="6350" cap="flat" cmpd="sng" algn="ctr">
                      <a:solidFill>
                        <a:srgbClr val="C7D2FE"/>
                      </a:solidFill>
                      <a:prstDash val="solid"/>
                      <a:round/>
                      <a:headEnd type="none" w="med" len="med"/>
                      <a:tailEnd type="none" w="med" len="med"/>
                    </a:lnR>
                    <a:lnT w="6350" cap="flat" cmpd="sng" algn="ctr">
                      <a:solidFill>
                        <a:srgbClr val="C7D2FE"/>
                      </a:solidFill>
                      <a:prstDash val="solid"/>
                      <a:round/>
                      <a:headEnd type="none" w="med" len="med"/>
                      <a:tailEnd type="none" w="med" len="med"/>
                    </a:lnT>
                    <a:lnB w="6350" cap="flat" cmpd="sng" algn="ctr">
                      <a:solidFill>
                        <a:srgbClr val="C7D2FE"/>
                      </a:solidFill>
                      <a:prstDash val="solid"/>
                      <a:round/>
                      <a:headEnd type="none" w="med" len="med"/>
                      <a:tailEnd type="none" w="med" len="med"/>
                    </a:lnB>
                    <a:solidFill>
                      <a:srgbClr val="FFFFFF"/>
                    </a:solidFill>
                  </a:tcPr>
                </a:tc>
                <a:tc>
                  <a:txBody>
                    <a:bodyPr/>
                    <a:lstStyle/>
                    <a:p>
                      <a:pPr marL="0" indent="0">
                        <a:buNone/>
                      </a:pPr>
                      <a:r>
                        <a:rPr lang="en-US" sz="1300" dirty="0">
                          <a:solidFill>
                            <a:srgbClr val="0B1437"/>
                          </a:solidFill>
                          <a:latin typeface="Calibri" pitchFamily="34" charset="0"/>
                          <a:ea typeface="Calibri" pitchFamily="34" charset="-122"/>
                          <a:cs typeface="Calibri" pitchFamily="34" charset="-120"/>
                        </a:rPr>
                        <a:t>20</a:t>
                      </a:r>
                      <a:endParaRPr lang="en-US" sz="1300" dirty="0">
                        <a:latin typeface="Calibri" charset="0"/>
                        <a:ea typeface="Calibri" charset="0"/>
                        <a:cs typeface="Calibri" charset="0"/>
                      </a:endParaRPr>
                    </a:p>
                  </a:txBody>
                  <a:tcPr>
                    <a:lnL w="6350" cap="flat" cmpd="sng" algn="ctr">
                      <a:solidFill>
                        <a:srgbClr val="C7D2FE"/>
                      </a:solidFill>
                      <a:prstDash val="solid"/>
                      <a:round/>
                      <a:headEnd type="none" w="med" len="med"/>
                      <a:tailEnd type="none" w="med" len="med"/>
                    </a:lnL>
                    <a:lnR w="6350" cap="flat" cmpd="sng" algn="ctr">
                      <a:solidFill>
                        <a:srgbClr val="C7D2FE"/>
                      </a:solidFill>
                      <a:prstDash val="solid"/>
                      <a:round/>
                      <a:headEnd type="none" w="med" len="med"/>
                      <a:tailEnd type="none" w="med" len="med"/>
                    </a:lnR>
                    <a:lnT w="6350" cap="flat" cmpd="sng" algn="ctr">
                      <a:solidFill>
                        <a:srgbClr val="C7D2FE"/>
                      </a:solidFill>
                      <a:prstDash val="solid"/>
                      <a:round/>
                      <a:headEnd type="none" w="med" len="med"/>
                      <a:tailEnd type="none" w="med" len="med"/>
                    </a:lnT>
                    <a:lnB w="6350" cap="flat" cmpd="sng" algn="ctr">
                      <a:solidFill>
                        <a:srgbClr val="C7D2FE"/>
                      </a:solidFill>
                      <a:prstDash val="solid"/>
                      <a:round/>
                      <a:headEnd type="none" w="med" len="med"/>
                      <a:tailEnd type="none" w="med" len="med"/>
                    </a:lnB>
                    <a:solidFill>
                      <a:srgbClr val="FFFFFF"/>
                    </a:solidFill>
                  </a:tcPr>
                </a:tc>
                <a:tc>
                  <a:txBody>
                    <a:bodyPr/>
                    <a:lstStyle/>
                    <a:p>
                      <a:pPr marL="0" indent="0">
                        <a:buNone/>
                      </a:pPr>
                      <a:r>
                        <a:rPr lang="en-US" sz="1300" dirty="0">
                          <a:solidFill>
                            <a:srgbClr val="0B1437"/>
                          </a:solidFill>
                          <a:latin typeface="Calibri" pitchFamily="34" charset="0"/>
                          <a:ea typeface="Calibri" pitchFamily="34" charset="-122"/>
                          <a:cs typeface="Calibri" pitchFamily="34" charset="-120"/>
                        </a:rPr>
                        <a:t>1.47</a:t>
                      </a:r>
                      <a:endParaRPr lang="en-US" sz="1300" dirty="0">
                        <a:latin typeface="Calibri" charset="0"/>
                        <a:ea typeface="Calibri" charset="0"/>
                        <a:cs typeface="Calibri" charset="0"/>
                      </a:endParaRPr>
                    </a:p>
                  </a:txBody>
                  <a:tcPr>
                    <a:lnL w="6350" cap="flat" cmpd="sng" algn="ctr">
                      <a:solidFill>
                        <a:srgbClr val="C7D2FE"/>
                      </a:solidFill>
                      <a:prstDash val="solid"/>
                      <a:round/>
                      <a:headEnd type="none" w="med" len="med"/>
                      <a:tailEnd type="none" w="med" len="med"/>
                    </a:lnL>
                    <a:lnR w="6350" cap="flat" cmpd="sng" algn="ctr">
                      <a:solidFill>
                        <a:srgbClr val="C7D2FE"/>
                      </a:solidFill>
                      <a:prstDash val="solid"/>
                      <a:round/>
                      <a:headEnd type="none" w="med" len="med"/>
                      <a:tailEnd type="none" w="med" len="med"/>
                    </a:lnR>
                    <a:lnT w="6350" cap="flat" cmpd="sng" algn="ctr">
                      <a:solidFill>
                        <a:srgbClr val="C7D2FE"/>
                      </a:solidFill>
                      <a:prstDash val="solid"/>
                      <a:round/>
                      <a:headEnd type="none" w="med" len="med"/>
                      <a:tailEnd type="none" w="med" len="med"/>
                    </a:lnT>
                    <a:lnB w="6350" cap="flat" cmpd="sng" algn="ctr">
                      <a:solidFill>
                        <a:srgbClr val="C7D2F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buNone/>
                      </a:pPr>
                      <a:r>
                        <a:rPr lang="en-US" sz="1300" b="1" dirty="0">
                          <a:solidFill>
                            <a:srgbClr val="0B1437"/>
                          </a:solidFill>
                          <a:latin typeface="Calibri" pitchFamily="34" charset="0"/>
                          <a:ea typeface="Calibri" pitchFamily="34" charset="-122"/>
                          <a:cs typeface="Calibri" pitchFamily="34" charset="-120"/>
                        </a:rPr>
                        <a:t>Total</a:t>
                      </a:r>
                      <a:endParaRPr lang="en-US" sz="1300" dirty="0">
                        <a:latin typeface="Calibri" charset="0"/>
                        <a:ea typeface="Calibri" charset="0"/>
                        <a:cs typeface="Calibri" charset="0"/>
                      </a:endParaRPr>
                    </a:p>
                  </a:txBody>
                  <a:tcPr>
                    <a:lnL w="6350" cap="flat" cmpd="sng" algn="ctr">
                      <a:solidFill>
                        <a:srgbClr val="C7D2FE"/>
                      </a:solidFill>
                      <a:prstDash val="solid"/>
                      <a:round/>
                      <a:headEnd type="none" w="med" len="med"/>
                      <a:tailEnd type="none" w="med" len="med"/>
                    </a:lnL>
                    <a:lnR w="6350" cap="flat" cmpd="sng" algn="ctr">
                      <a:solidFill>
                        <a:srgbClr val="C7D2FE"/>
                      </a:solidFill>
                      <a:prstDash val="solid"/>
                      <a:round/>
                      <a:headEnd type="none" w="med" len="med"/>
                      <a:tailEnd type="none" w="med" len="med"/>
                    </a:lnR>
                    <a:lnT w="6350" cap="flat" cmpd="sng" algn="ctr">
                      <a:solidFill>
                        <a:srgbClr val="C7D2FE"/>
                      </a:solidFill>
                      <a:prstDash val="solid"/>
                      <a:round/>
                      <a:headEnd type="none" w="med" len="med"/>
                      <a:tailEnd type="none" w="med" len="med"/>
                    </a:lnT>
                    <a:lnB w="6350" cap="flat" cmpd="sng" algn="ctr">
                      <a:solidFill>
                        <a:srgbClr val="C7D2FE"/>
                      </a:solidFill>
                      <a:prstDash val="solid"/>
                      <a:round/>
                      <a:headEnd type="none" w="med" len="med"/>
                      <a:tailEnd type="none" w="med" len="med"/>
                    </a:lnB>
                    <a:solidFill>
                      <a:srgbClr val="FFFFFF"/>
                    </a:solidFill>
                  </a:tcPr>
                </a:tc>
                <a:tc>
                  <a:txBody>
                    <a:bodyPr/>
                    <a:lstStyle/>
                    <a:p>
                      <a:pPr marL="0" indent="0">
                        <a:buNone/>
                      </a:pPr>
                      <a:endParaRPr lang="en-US" sz="1300" dirty="0">
                        <a:latin typeface="Calibri" charset="0"/>
                        <a:ea typeface="Calibri" charset="0"/>
                        <a:cs typeface="Calibri" charset="0"/>
                      </a:endParaRPr>
                    </a:p>
                  </a:txBody>
                  <a:tcPr>
                    <a:lnL w="6350" cap="flat" cmpd="sng" algn="ctr">
                      <a:solidFill>
                        <a:srgbClr val="C7D2FE"/>
                      </a:solidFill>
                      <a:prstDash val="solid"/>
                      <a:round/>
                      <a:headEnd type="none" w="med" len="med"/>
                      <a:tailEnd type="none" w="med" len="med"/>
                    </a:lnL>
                    <a:lnR w="6350" cap="flat" cmpd="sng" algn="ctr">
                      <a:solidFill>
                        <a:srgbClr val="C7D2FE"/>
                      </a:solidFill>
                      <a:prstDash val="solid"/>
                      <a:round/>
                      <a:headEnd type="none" w="med" len="med"/>
                      <a:tailEnd type="none" w="med" len="med"/>
                    </a:lnR>
                    <a:lnT w="6350" cap="flat" cmpd="sng" algn="ctr">
                      <a:solidFill>
                        <a:srgbClr val="C7D2FE"/>
                      </a:solidFill>
                      <a:prstDash val="solid"/>
                      <a:round/>
                      <a:headEnd type="none" w="med" len="med"/>
                      <a:tailEnd type="none" w="med" len="med"/>
                    </a:lnT>
                    <a:lnB w="6350" cap="flat" cmpd="sng" algn="ctr">
                      <a:solidFill>
                        <a:srgbClr val="C7D2FE"/>
                      </a:solidFill>
                      <a:prstDash val="solid"/>
                      <a:round/>
                      <a:headEnd type="none" w="med" len="med"/>
                      <a:tailEnd type="none" w="med" len="med"/>
                    </a:lnB>
                    <a:solidFill>
                      <a:srgbClr val="FFFFFF"/>
                    </a:solidFill>
                  </a:tcPr>
                </a:tc>
                <a:tc>
                  <a:txBody>
                    <a:bodyPr/>
                    <a:lstStyle/>
                    <a:p>
                      <a:pPr marL="0" indent="0">
                        <a:buNone/>
                      </a:pPr>
                      <a:endParaRPr lang="en-US" sz="1300" dirty="0">
                        <a:latin typeface="Calibri" charset="0"/>
                        <a:ea typeface="Calibri" charset="0"/>
                        <a:cs typeface="Calibri" charset="0"/>
                      </a:endParaRPr>
                    </a:p>
                  </a:txBody>
                  <a:tcPr>
                    <a:lnL w="6350" cap="flat" cmpd="sng" algn="ctr">
                      <a:solidFill>
                        <a:srgbClr val="C7D2FE"/>
                      </a:solidFill>
                      <a:prstDash val="solid"/>
                      <a:round/>
                      <a:headEnd type="none" w="med" len="med"/>
                      <a:tailEnd type="none" w="med" len="med"/>
                    </a:lnL>
                    <a:lnR w="6350" cap="flat" cmpd="sng" algn="ctr">
                      <a:solidFill>
                        <a:srgbClr val="C7D2FE"/>
                      </a:solidFill>
                      <a:prstDash val="solid"/>
                      <a:round/>
                      <a:headEnd type="none" w="med" len="med"/>
                      <a:tailEnd type="none" w="med" len="med"/>
                    </a:lnR>
                    <a:lnT w="6350" cap="flat" cmpd="sng" algn="ctr">
                      <a:solidFill>
                        <a:srgbClr val="C7D2FE"/>
                      </a:solidFill>
                      <a:prstDash val="solid"/>
                      <a:round/>
                      <a:headEnd type="none" w="med" len="med"/>
                      <a:tailEnd type="none" w="med" len="med"/>
                    </a:lnT>
                    <a:lnB w="6350" cap="flat" cmpd="sng" algn="ctr">
                      <a:solidFill>
                        <a:srgbClr val="C7D2FE"/>
                      </a:solidFill>
                      <a:prstDash val="solid"/>
                      <a:round/>
                      <a:headEnd type="none" w="med" len="med"/>
                      <a:tailEnd type="none" w="med" len="med"/>
                    </a:lnB>
                    <a:solidFill>
                      <a:srgbClr val="FFFFFF"/>
                    </a:solidFill>
                  </a:tcPr>
                </a:tc>
                <a:tc>
                  <a:txBody>
                    <a:bodyPr/>
                    <a:lstStyle/>
                    <a:p>
                      <a:pPr marL="0" indent="0">
                        <a:buNone/>
                      </a:pPr>
                      <a:r>
                        <a:rPr lang="en-US" sz="1300" b="1" dirty="0">
                          <a:solidFill>
                            <a:srgbClr val="0B1437"/>
                          </a:solidFill>
                          <a:latin typeface="Calibri" pitchFamily="34" charset="0"/>
                          <a:ea typeface="Calibri" pitchFamily="34" charset="-122"/>
                          <a:cs typeface="Calibri" pitchFamily="34" charset="-120"/>
                        </a:rPr>
                        <a:t>26.70</a:t>
                      </a:r>
                      <a:endParaRPr lang="en-US" sz="1300" dirty="0">
                        <a:latin typeface="Calibri" charset="0"/>
                        <a:ea typeface="Calibri" charset="0"/>
                        <a:cs typeface="Calibri" charset="0"/>
                      </a:endParaRPr>
                    </a:p>
                  </a:txBody>
                  <a:tcPr>
                    <a:lnL w="6350" cap="flat" cmpd="sng" algn="ctr">
                      <a:solidFill>
                        <a:srgbClr val="C7D2FE"/>
                      </a:solidFill>
                      <a:prstDash val="solid"/>
                      <a:round/>
                      <a:headEnd type="none" w="med" len="med"/>
                      <a:tailEnd type="none" w="med" len="med"/>
                    </a:lnL>
                    <a:lnR w="6350" cap="flat" cmpd="sng" algn="ctr">
                      <a:solidFill>
                        <a:srgbClr val="C7D2FE"/>
                      </a:solidFill>
                      <a:prstDash val="solid"/>
                      <a:round/>
                      <a:headEnd type="none" w="med" len="med"/>
                      <a:tailEnd type="none" w="med" len="med"/>
                    </a:lnR>
                    <a:lnT w="6350" cap="flat" cmpd="sng" algn="ctr">
                      <a:solidFill>
                        <a:srgbClr val="C7D2FE"/>
                      </a:solidFill>
                      <a:prstDash val="solid"/>
                      <a:round/>
                      <a:headEnd type="none" w="med" len="med"/>
                      <a:tailEnd type="none" w="med" len="med"/>
                    </a:lnT>
                    <a:lnB w="6350" cap="flat" cmpd="sng" algn="ctr">
                      <a:solidFill>
                        <a:srgbClr val="C7D2F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7" name="card-269"/>
          <p:cNvSpPr/>
          <p:nvPr/>
        </p:nvSpPr>
        <p:spPr>
          <a:xfrm>
            <a:off x="5943600" y="4434840"/>
            <a:ext cx="5669280" cy="1005840"/>
          </a:xfrm>
          <a:prstGeom prst="roundRect">
            <a:avLst>
              <a:gd name="adj" fmla="val 10909"/>
            </a:avLst>
          </a:prstGeom>
          <a:solidFill>
            <a:srgbClr val="1B2A6B"/>
          </a:solidFill>
          <a:ln w="12700">
            <a:solidFill>
              <a:srgbClr val="1B2A6B"/>
            </a:solidFill>
            <a:prstDash val="solid"/>
          </a:ln>
        </p:spPr>
      </p:sp>
      <p:sp>
        <p:nvSpPr>
          <p:cNvPr id="28" name="text-270"/>
          <p:cNvSpPr txBox="1"/>
          <p:nvPr/>
        </p:nvSpPr>
        <p:spPr>
          <a:xfrm>
            <a:off x="6126480" y="4434840"/>
            <a:ext cx="5394960" cy="1005840"/>
          </a:xfrm>
          <a:prstGeom prst="rect">
            <a:avLst/>
          </a:prstGeom>
          <a:noFill/>
          <a:ln/>
        </p:spPr>
        <p:txBody>
          <a:bodyPr wrap="square" lIns="1016" tIns="1016" rIns="1016" bIns="1016" rtlCol="0" anchor="ctr"/>
          <a:lstStyle/>
          <a:p>
            <a:pPr marL="0" indent="0">
              <a:buNone/>
            </a:pPr>
            <a:r>
              <a:rPr lang="en-US" sz="1400" b="1" dirty="0">
                <a:solidFill>
                  <a:schemeClr val="bg1"/>
                </a:solidFill>
                <a:latin typeface="Calibri" pitchFamily="34" charset="0"/>
                <a:ea typeface="Calibri" pitchFamily="34" charset="-122"/>
                <a:cs typeface="Calibri" pitchFamily="34" charset="-120"/>
              </a:rPr>
              <a:t>20 × Rs.6 + 6.70 × Rs.8 = Rs. 173.60</a:t>
            </a:r>
            <a:endParaRPr lang="en-US" sz="1400" dirty="0"/>
          </a:p>
          <a:p>
            <a:pPr marL="0" indent="0">
              <a:buNone/>
            </a:pPr>
            <a:r>
              <a:rPr lang="en-US" sz="1400" dirty="0">
                <a:solidFill>
                  <a:schemeClr val="bg1"/>
                </a:solidFill>
                <a:latin typeface="Calibri" pitchFamily="34" charset="0"/>
                <a:ea typeface="Calibri" pitchFamily="34" charset="-122"/>
                <a:cs typeface="Calibri" pitchFamily="34" charset="-120"/>
              </a:rPr>
              <a:t>P(W) = V × I × PF;  E(kWh) = P × h ÷ 1000;  sent to M08 report</a:t>
            </a:r>
            <a:endParaRPr lang="en-US" sz="1400" dirty="0"/>
          </a:p>
        </p:txBody>
      </p:sp>
      <p:sp>
        <p:nvSpPr>
          <p:cNvPr id="29" name="text-271"/>
          <p:cNvSpPr txBox="1"/>
          <p:nvPr/>
        </p:nvSpPr>
        <p:spPr>
          <a:xfrm>
            <a:off x="5943600" y="5532120"/>
            <a:ext cx="5669280" cy="548640"/>
          </a:xfrm>
          <a:prstGeom prst="rect">
            <a:avLst/>
          </a:prstGeom>
          <a:noFill/>
          <a:ln/>
        </p:spPr>
        <p:txBody>
          <a:bodyPr wrap="square" lIns="1016" tIns="1016" rIns="1016" bIns="1016"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*Fridge and Fan readings are assumed so the published 5.63 and 1.47 kWh are reproduced.</a:t>
            </a:r>
            <a:endParaRPr lang="en-US" sz="1100" dirty="0"/>
          </a:p>
        </p:txBody>
      </p:sp>
      <p:sp>
        <p:nvSpPr>
          <p:cNvPr id="30"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buNone/>
            </a:pPr>
            <a:r>
              <a:rPr lang="en-US" sz="3400" b="1" dirty="0">
                <a:solidFill>
                  <a:schemeClr val="tx1"/>
                </a:solidFill>
                <a:latin typeface="Arial" pitchFamily="34" charset="0"/>
                <a:ea typeface="Arial" pitchFamily="34" charset="-122"/>
                <a:cs typeface="Arial" pitchFamily="34" charset="-120"/>
              </a:rPr>
              <a:t>Java concepts used (with real code locations)</a:t>
            </a:r>
            <a:endParaRPr lang="en-US" sz="3400" dirty="0"/>
          </a:p>
        </p:txBody>
      </p:sp>
      <p:sp>
        <p:nvSpPr>
          <p:cNvPr id="3" name="card-272"/>
          <p:cNvSpPr/>
          <p:nvPr/>
        </p:nvSpPr>
        <p:spPr>
          <a:xfrm>
            <a:off x="548640" y="1325880"/>
            <a:ext cx="2651760" cy="548640"/>
          </a:xfrm>
          <a:prstGeom prst="roundRect">
            <a:avLst>
              <a:gd name="adj" fmla="val 20000"/>
            </a:avLst>
          </a:prstGeom>
          <a:solidFill>
            <a:srgbClr val="2952E3"/>
          </a:solidFill>
          <a:ln w="12700">
            <a:solidFill>
              <a:srgbClr val="2952E3"/>
            </a:solidFill>
            <a:prstDash val="solid"/>
          </a:ln>
        </p:spPr>
      </p:sp>
      <p:sp>
        <p:nvSpPr>
          <p:cNvPr id="4" name="text-273"/>
          <p:cNvSpPr txBox="1"/>
          <p:nvPr/>
        </p:nvSpPr>
        <p:spPr>
          <a:xfrm>
            <a:off x="640080" y="1325880"/>
            <a:ext cx="2468880" cy="548640"/>
          </a:xfrm>
          <a:prstGeom prst="rect">
            <a:avLst/>
          </a:prstGeom>
          <a:noFill/>
          <a:ln/>
        </p:spPr>
        <p:txBody>
          <a:bodyPr wrap="square" lIns="1016" tIns="1016" rIns="1016" bIns="1016" rtlCol="0" anchor="ctr"/>
          <a:lstStyle/>
          <a:p>
            <a:pPr marL="0" indent="0">
              <a:buNone/>
            </a:pPr>
            <a:r>
              <a:rPr lang="en-US" sz="1500" b="1" dirty="0">
                <a:solidFill>
                  <a:schemeClr val="bg1"/>
                </a:solidFill>
                <a:latin typeface="Calibri" pitchFamily="34" charset="0"/>
                <a:ea typeface="Calibri" pitchFamily="34" charset="-122"/>
                <a:cs typeface="Calibri" pitchFamily="34" charset="-120"/>
              </a:rPr>
              <a:t>Java fundamentals</a:t>
            </a:r>
            <a:endParaRPr lang="en-US" sz="1500" dirty="0"/>
          </a:p>
        </p:txBody>
      </p:sp>
      <p:sp>
        <p:nvSpPr>
          <p:cNvPr id="5" name="card-274"/>
          <p:cNvSpPr/>
          <p:nvPr/>
        </p:nvSpPr>
        <p:spPr>
          <a:xfrm>
            <a:off x="548640" y="2011680"/>
            <a:ext cx="2651760" cy="749808"/>
          </a:xfrm>
          <a:prstGeom prst="roundRect">
            <a:avLst>
              <a:gd name="adj" fmla="val 14634"/>
            </a:avLst>
          </a:prstGeom>
          <a:solidFill>
            <a:srgbClr val="EAF1FF"/>
          </a:solidFill>
          <a:ln w="12700">
            <a:solidFill>
              <a:srgbClr val="EAF1FF"/>
            </a:solidFill>
            <a:prstDash val="solid"/>
          </a:ln>
        </p:spPr>
      </p:sp>
      <p:sp>
        <p:nvSpPr>
          <p:cNvPr id="6" name="text-275"/>
          <p:cNvSpPr txBox="1"/>
          <p:nvPr/>
        </p:nvSpPr>
        <p:spPr>
          <a:xfrm>
            <a:off x="640080" y="2011680"/>
            <a:ext cx="2514600" cy="749808"/>
          </a:xfrm>
          <a:prstGeom prst="rect">
            <a:avLst/>
          </a:prstGeom>
          <a:noFill/>
          <a:ln/>
        </p:spPr>
        <p:txBody>
          <a:bodyPr wrap="square" lIns="1016" tIns="1016" rIns="1016" bIns="1016" rtlCol="0" anchor="ctr"/>
          <a:lstStyle/>
          <a:p>
            <a:pPr marL="0" indent="0">
              <a:buNone/>
            </a:pPr>
            <a:r>
              <a:rPr lang="en-US" sz="1300" b="1" dirty="0">
                <a:solidFill>
                  <a:schemeClr val="tx1"/>
                </a:solidFill>
                <a:latin typeface="Calibri" pitchFamily="34" charset="0"/>
                <a:ea typeface="Calibri" pitchFamily="34" charset="-122"/>
                <a:cs typeface="Calibri" pitchFamily="34" charset="-120"/>
              </a:rPr>
              <a:t>✓ Data types, operators, bitwise</a:t>
            </a:r>
            <a:endParaRPr lang="en-US" sz="1400" dirty="0"/>
          </a:p>
          <a:p>
            <a:pPr marL="0" indent="0">
              <a:buNone/>
            </a:pPr>
            <a:r>
              <a:rPr lang="en-US" sz="1100" dirty="0">
                <a:solidFill>
                  <a:srgbClr val="4B5563"/>
                </a:solidFill>
                <a:latin typeface="Courier New" pitchFamily="34" charset="0"/>
                <a:ea typeface="Courier New" pitchFamily="34" charset="-122"/>
                <a:cs typeface="Courier New" pitchFamily="34" charset="-120"/>
              </a:rPr>
              <a:t>TableRegister.allocate</a:t>
            </a:r>
            <a:endParaRPr lang="en-US" sz="1400" dirty="0"/>
          </a:p>
        </p:txBody>
      </p:sp>
      <p:sp>
        <p:nvSpPr>
          <p:cNvPr id="7" name="card-276"/>
          <p:cNvSpPr/>
          <p:nvPr/>
        </p:nvSpPr>
        <p:spPr>
          <a:xfrm>
            <a:off x="548640" y="2852928"/>
            <a:ext cx="2651760" cy="749808"/>
          </a:xfrm>
          <a:prstGeom prst="roundRect">
            <a:avLst>
              <a:gd name="adj" fmla="val 14634"/>
            </a:avLst>
          </a:prstGeom>
          <a:solidFill>
            <a:srgbClr val="EAF1FF"/>
          </a:solidFill>
          <a:ln w="12700">
            <a:solidFill>
              <a:srgbClr val="EAF1FF"/>
            </a:solidFill>
            <a:prstDash val="solid"/>
          </a:ln>
        </p:spPr>
      </p:sp>
      <p:sp>
        <p:nvSpPr>
          <p:cNvPr id="8" name="text-277"/>
          <p:cNvSpPr txBox="1"/>
          <p:nvPr/>
        </p:nvSpPr>
        <p:spPr>
          <a:xfrm>
            <a:off x="640080" y="2852928"/>
            <a:ext cx="2514600" cy="749808"/>
          </a:xfrm>
          <a:prstGeom prst="rect">
            <a:avLst/>
          </a:prstGeom>
          <a:noFill/>
          <a:ln/>
        </p:spPr>
        <p:txBody>
          <a:bodyPr wrap="square" lIns="1016" tIns="1016" rIns="1016" bIns="1016" rtlCol="0" anchor="ctr"/>
          <a:lstStyle/>
          <a:p>
            <a:pPr marL="0" indent="0">
              <a:buNone/>
            </a:pPr>
            <a:r>
              <a:rPr lang="en-US" sz="1300" b="1" dirty="0">
                <a:solidFill>
                  <a:schemeClr val="tx1"/>
                </a:solidFill>
                <a:latin typeface="Calibri" pitchFamily="34" charset="0"/>
                <a:ea typeface="Calibri" pitchFamily="34" charset="-122"/>
                <a:cs typeface="Calibri" pitchFamily="34" charset="-120"/>
              </a:rPr>
              <a:t>✓ Scanner, console I/O</a:t>
            </a:r>
            <a:endParaRPr lang="en-US" sz="1400" dirty="0"/>
          </a:p>
          <a:p>
            <a:pPr marL="0" indent="0">
              <a:buNone/>
            </a:pPr>
            <a:r>
              <a:rPr lang="en-US" sz="1100" dirty="0">
                <a:solidFill>
                  <a:srgbClr val="4B5563"/>
                </a:solidFill>
                <a:latin typeface="Courier New" pitchFamily="34" charset="0"/>
                <a:ea typeface="Courier New" pitchFamily="34" charset="-122"/>
                <a:cs typeface="Courier New" pitchFamily="34" charset="-120"/>
              </a:rPr>
              <a:t>Main.main, InputHelper</a:t>
            </a:r>
            <a:endParaRPr lang="en-US" sz="1400" dirty="0"/>
          </a:p>
        </p:txBody>
      </p:sp>
      <p:sp>
        <p:nvSpPr>
          <p:cNvPr id="9" name="card-278"/>
          <p:cNvSpPr/>
          <p:nvPr/>
        </p:nvSpPr>
        <p:spPr>
          <a:xfrm>
            <a:off x="548640" y="3694176"/>
            <a:ext cx="2651760" cy="749808"/>
          </a:xfrm>
          <a:prstGeom prst="roundRect">
            <a:avLst>
              <a:gd name="adj" fmla="val 14634"/>
            </a:avLst>
          </a:prstGeom>
          <a:solidFill>
            <a:srgbClr val="EAF1FF"/>
          </a:solidFill>
          <a:ln w="12700">
            <a:solidFill>
              <a:srgbClr val="EAF1FF"/>
            </a:solidFill>
            <a:prstDash val="solid"/>
          </a:ln>
        </p:spPr>
      </p:sp>
      <p:sp>
        <p:nvSpPr>
          <p:cNvPr id="10" name="text-279"/>
          <p:cNvSpPr txBox="1"/>
          <p:nvPr/>
        </p:nvSpPr>
        <p:spPr>
          <a:xfrm>
            <a:off x="640080" y="3694176"/>
            <a:ext cx="2514600" cy="749808"/>
          </a:xfrm>
          <a:prstGeom prst="rect">
            <a:avLst/>
          </a:prstGeom>
          <a:noFill/>
          <a:ln/>
        </p:spPr>
        <p:txBody>
          <a:bodyPr wrap="square" lIns="1016" tIns="1016" rIns="1016" bIns="1016" rtlCol="0" anchor="ctr"/>
          <a:lstStyle/>
          <a:p>
            <a:pPr marL="0" indent="0">
              <a:buNone/>
            </a:pPr>
            <a:r>
              <a:rPr lang="en-US" sz="1300" b="1" dirty="0">
                <a:solidFill>
                  <a:schemeClr val="tx1"/>
                </a:solidFill>
                <a:latin typeface="Calibri" pitchFamily="34" charset="0"/>
                <a:ea typeface="Calibri" pitchFamily="34" charset="-122"/>
                <a:cs typeface="Calibri" pitchFamily="34" charset="-120"/>
              </a:rPr>
              <a:t>✓ if / switch / loops</a:t>
            </a:r>
            <a:endParaRPr lang="en-US" sz="1400" dirty="0"/>
          </a:p>
          <a:p>
            <a:pPr marL="0" indent="0">
              <a:buNone/>
            </a:pPr>
            <a:r>
              <a:rPr lang="en-US" sz="1100" dirty="0">
                <a:solidFill>
                  <a:srgbClr val="4B5563"/>
                </a:solidFill>
                <a:latin typeface="Courier New" pitchFamily="34" charset="0"/>
                <a:ea typeface="Courier New" pitchFamily="34" charset="-122"/>
                <a:cs typeface="Courier New" pitchFamily="34" charset="-120"/>
              </a:rPr>
              <a:t>Main menus, loginScreen</a:t>
            </a:r>
            <a:endParaRPr lang="en-US" sz="1400" dirty="0"/>
          </a:p>
        </p:txBody>
      </p:sp>
      <p:sp>
        <p:nvSpPr>
          <p:cNvPr id="11" name="card-280"/>
          <p:cNvSpPr/>
          <p:nvPr/>
        </p:nvSpPr>
        <p:spPr>
          <a:xfrm>
            <a:off x="548640" y="4535424"/>
            <a:ext cx="2651760" cy="749808"/>
          </a:xfrm>
          <a:prstGeom prst="roundRect">
            <a:avLst>
              <a:gd name="adj" fmla="val 14634"/>
            </a:avLst>
          </a:prstGeom>
          <a:solidFill>
            <a:srgbClr val="EAF1FF"/>
          </a:solidFill>
          <a:ln w="12700">
            <a:solidFill>
              <a:srgbClr val="EAF1FF"/>
            </a:solidFill>
            <a:prstDash val="solid"/>
          </a:ln>
        </p:spPr>
      </p:sp>
      <p:sp>
        <p:nvSpPr>
          <p:cNvPr id="12" name="text-281"/>
          <p:cNvSpPr txBox="1"/>
          <p:nvPr/>
        </p:nvSpPr>
        <p:spPr>
          <a:xfrm>
            <a:off x="640080" y="4535424"/>
            <a:ext cx="2514600" cy="749808"/>
          </a:xfrm>
          <a:prstGeom prst="rect">
            <a:avLst/>
          </a:prstGeom>
          <a:noFill/>
          <a:ln/>
        </p:spPr>
        <p:txBody>
          <a:bodyPr wrap="square" lIns="1016" tIns="1016" rIns="1016" bIns="1016" rtlCol="0" anchor="ctr"/>
          <a:lstStyle/>
          <a:p>
            <a:pPr marL="0" indent="0">
              <a:buNone/>
            </a:pPr>
            <a:r>
              <a:rPr lang="en-US" sz="1300" b="1" dirty="0">
                <a:solidFill>
                  <a:schemeClr val="tx1"/>
                </a:solidFill>
                <a:latin typeface="Calibri" pitchFamily="34" charset="0"/>
                <a:ea typeface="Calibri" pitchFamily="34" charset="-122"/>
                <a:cs typeface="Calibri" pitchFamily="34" charset="-120"/>
              </a:rPr>
              <a:t>✓ Type casting</a:t>
            </a:r>
            <a:endParaRPr lang="en-US" sz="1400" dirty="0"/>
          </a:p>
          <a:p>
            <a:pPr marL="0" indent="0">
              <a:buNone/>
            </a:pPr>
            <a:r>
              <a:rPr lang="en-US" sz="1100" dirty="0">
                <a:solidFill>
                  <a:srgbClr val="4B5563"/>
                </a:solidFill>
                <a:latin typeface="Courier New" pitchFamily="34" charset="0"/>
                <a:ea typeface="Courier New" pitchFamily="34" charset="-122"/>
                <a:cs typeface="Courier New" pitchFamily="34" charset="-120"/>
              </a:rPr>
              <a:t>getAverageRating</a:t>
            </a:r>
            <a:endParaRPr lang="en-US" sz="1400" dirty="0"/>
          </a:p>
        </p:txBody>
      </p:sp>
      <p:sp>
        <p:nvSpPr>
          <p:cNvPr id="13" name="card-282"/>
          <p:cNvSpPr/>
          <p:nvPr/>
        </p:nvSpPr>
        <p:spPr>
          <a:xfrm>
            <a:off x="3364992" y="1325880"/>
            <a:ext cx="2651760" cy="548640"/>
          </a:xfrm>
          <a:prstGeom prst="roundRect">
            <a:avLst>
              <a:gd name="adj" fmla="val 20000"/>
            </a:avLst>
          </a:prstGeom>
          <a:solidFill>
            <a:srgbClr val="0597B8"/>
          </a:solidFill>
          <a:ln w="12700">
            <a:solidFill>
              <a:srgbClr val="0597B8"/>
            </a:solidFill>
            <a:prstDash val="solid"/>
          </a:ln>
        </p:spPr>
      </p:sp>
      <p:sp>
        <p:nvSpPr>
          <p:cNvPr id="14" name="text-283"/>
          <p:cNvSpPr txBox="1"/>
          <p:nvPr/>
        </p:nvSpPr>
        <p:spPr>
          <a:xfrm>
            <a:off x="3456432" y="1325880"/>
            <a:ext cx="2468880" cy="548640"/>
          </a:xfrm>
          <a:prstGeom prst="rect">
            <a:avLst/>
          </a:prstGeom>
          <a:noFill/>
          <a:ln/>
        </p:spPr>
        <p:txBody>
          <a:bodyPr wrap="square" lIns="1016" tIns="1016" rIns="1016" bIns="1016" rtlCol="0" anchor="ctr"/>
          <a:lstStyle/>
          <a:p>
            <a:pPr marL="0" indent="0">
              <a:buNone/>
            </a:pPr>
            <a:r>
              <a:rPr lang="en-US" sz="1500" b="1" dirty="0">
                <a:solidFill>
                  <a:schemeClr val="bg1"/>
                </a:solidFill>
                <a:latin typeface="Calibri" pitchFamily="34" charset="0"/>
                <a:ea typeface="Calibri" pitchFamily="34" charset="-122"/>
                <a:cs typeface="Calibri" pitchFamily="34" charset="-120"/>
              </a:rPr>
              <a:t>Methods and arrays</a:t>
            </a:r>
            <a:endParaRPr lang="en-US" sz="1500" dirty="0"/>
          </a:p>
        </p:txBody>
      </p:sp>
      <p:sp>
        <p:nvSpPr>
          <p:cNvPr id="15" name="card-284"/>
          <p:cNvSpPr/>
          <p:nvPr/>
        </p:nvSpPr>
        <p:spPr>
          <a:xfrm>
            <a:off x="3364992" y="2011680"/>
            <a:ext cx="2651760" cy="749808"/>
          </a:xfrm>
          <a:prstGeom prst="roundRect">
            <a:avLst>
              <a:gd name="adj" fmla="val 14634"/>
            </a:avLst>
          </a:prstGeom>
          <a:solidFill>
            <a:srgbClr val="EAF1FF"/>
          </a:solidFill>
          <a:ln w="12700">
            <a:solidFill>
              <a:srgbClr val="EAF1FF"/>
            </a:solidFill>
            <a:prstDash val="solid"/>
          </a:ln>
        </p:spPr>
      </p:sp>
      <p:sp>
        <p:nvSpPr>
          <p:cNvPr id="16" name="text-285"/>
          <p:cNvSpPr txBox="1"/>
          <p:nvPr/>
        </p:nvSpPr>
        <p:spPr>
          <a:xfrm>
            <a:off x="3456432" y="2011680"/>
            <a:ext cx="2514600" cy="749808"/>
          </a:xfrm>
          <a:prstGeom prst="rect">
            <a:avLst/>
          </a:prstGeom>
          <a:noFill/>
          <a:ln/>
        </p:spPr>
        <p:txBody>
          <a:bodyPr wrap="square" lIns="1016" tIns="1016" rIns="1016" bIns="1016" rtlCol="0" anchor="ctr"/>
          <a:lstStyle/>
          <a:p>
            <a:pPr marL="0" indent="0">
              <a:buNone/>
            </a:pPr>
            <a:r>
              <a:rPr lang="en-US" sz="1300" b="1" dirty="0">
                <a:solidFill>
                  <a:schemeClr val="tx1"/>
                </a:solidFill>
                <a:latin typeface="Calibri" pitchFamily="34" charset="0"/>
                <a:ea typeface="Calibri" pitchFamily="34" charset="-122"/>
                <a:cs typeface="Calibri" pitchFamily="34" charset="-120"/>
              </a:rPr>
              <a:t>✓ User-defined methods</a:t>
            </a:r>
            <a:endParaRPr lang="en-US" sz="1400" dirty="0"/>
          </a:p>
          <a:p>
            <a:pPr marL="0" indent="0">
              <a:buNone/>
            </a:pPr>
            <a:r>
              <a:rPr lang="en-US" sz="1100" dirty="0">
                <a:solidFill>
                  <a:srgbClr val="4B5563"/>
                </a:solidFill>
                <a:latin typeface="Courier New" pitchFamily="34" charset="0"/>
                <a:ea typeface="Courier New" pitchFamily="34" charset="-122"/>
                <a:cs typeface="Courier New" pitchFamily="34" charset="-120"/>
              </a:rPr>
              <a:t>calculateEta, checkDigit</a:t>
            </a:r>
            <a:endParaRPr lang="en-US" sz="1400" dirty="0"/>
          </a:p>
        </p:txBody>
      </p:sp>
      <p:sp>
        <p:nvSpPr>
          <p:cNvPr id="17" name="card-286"/>
          <p:cNvSpPr/>
          <p:nvPr/>
        </p:nvSpPr>
        <p:spPr>
          <a:xfrm>
            <a:off x="3364992" y="2852928"/>
            <a:ext cx="2651760" cy="749808"/>
          </a:xfrm>
          <a:prstGeom prst="roundRect">
            <a:avLst>
              <a:gd name="adj" fmla="val 14634"/>
            </a:avLst>
          </a:prstGeom>
          <a:solidFill>
            <a:srgbClr val="EAF1FF"/>
          </a:solidFill>
          <a:ln w="12700">
            <a:solidFill>
              <a:srgbClr val="EAF1FF"/>
            </a:solidFill>
            <a:prstDash val="solid"/>
          </a:ln>
        </p:spPr>
      </p:sp>
      <p:sp>
        <p:nvSpPr>
          <p:cNvPr id="18" name="text-287"/>
          <p:cNvSpPr txBox="1"/>
          <p:nvPr/>
        </p:nvSpPr>
        <p:spPr>
          <a:xfrm>
            <a:off x="3456432" y="2852928"/>
            <a:ext cx="2514600" cy="749808"/>
          </a:xfrm>
          <a:prstGeom prst="rect">
            <a:avLst/>
          </a:prstGeom>
          <a:noFill/>
          <a:ln/>
        </p:spPr>
        <p:txBody>
          <a:bodyPr wrap="square" lIns="1016" tIns="1016" rIns="1016" bIns="1016" rtlCol="0" anchor="ctr"/>
          <a:lstStyle/>
          <a:p>
            <a:pPr marL="0" indent="0">
              <a:buNone/>
            </a:pPr>
            <a:r>
              <a:rPr lang="en-US" sz="1300" b="1" dirty="0">
                <a:solidFill>
                  <a:schemeClr val="tx1"/>
                </a:solidFill>
                <a:latin typeface="Calibri" pitchFamily="34" charset="0"/>
                <a:ea typeface="Calibri" pitchFamily="34" charset="-122"/>
                <a:cs typeface="Calibri" pitchFamily="34" charset="-120"/>
              </a:rPr>
              <a:t>✓ Recursion</a:t>
            </a:r>
            <a:endParaRPr lang="en-US" sz="1400" dirty="0"/>
          </a:p>
          <a:p>
            <a:pPr marL="0" indent="0">
              <a:buNone/>
            </a:pPr>
            <a:r>
              <a:rPr lang="en-US" sz="1100" dirty="0">
                <a:solidFill>
                  <a:srgbClr val="4B5563"/>
                </a:solidFill>
                <a:latin typeface="Courier New" pitchFamily="34" charset="0"/>
                <a:ea typeface="Courier New" pitchFamily="34" charset="-122"/>
                <a:cs typeface="Courier New" pitchFamily="34" charset="-120"/>
              </a:rPr>
              <a:t>weightedSum</a:t>
            </a:r>
            <a:endParaRPr lang="en-US" sz="1400" dirty="0"/>
          </a:p>
        </p:txBody>
      </p:sp>
      <p:sp>
        <p:nvSpPr>
          <p:cNvPr id="19" name="card-288"/>
          <p:cNvSpPr/>
          <p:nvPr/>
        </p:nvSpPr>
        <p:spPr>
          <a:xfrm>
            <a:off x="3364992" y="3694176"/>
            <a:ext cx="2651760" cy="749808"/>
          </a:xfrm>
          <a:prstGeom prst="roundRect">
            <a:avLst>
              <a:gd name="adj" fmla="val 14634"/>
            </a:avLst>
          </a:prstGeom>
          <a:solidFill>
            <a:srgbClr val="EAF1FF"/>
          </a:solidFill>
          <a:ln w="12700">
            <a:solidFill>
              <a:srgbClr val="EAF1FF"/>
            </a:solidFill>
            <a:prstDash val="solid"/>
          </a:ln>
        </p:spPr>
      </p:sp>
      <p:sp>
        <p:nvSpPr>
          <p:cNvPr id="20" name="text-289"/>
          <p:cNvSpPr txBox="1"/>
          <p:nvPr/>
        </p:nvSpPr>
        <p:spPr>
          <a:xfrm>
            <a:off x="3456432" y="3694176"/>
            <a:ext cx="2514600" cy="749808"/>
          </a:xfrm>
          <a:prstGeom prst="rect">
            <a:avLst/>
          </a:prstGeom>
          <a:noFill/>
          <a:ln/>
        </p:spPr>
        <p:txBody>
          <a:bodyPr wrap="square" lIns="1016" tIns="1016" rIns="1016" bIns="1016" rtlCol="0" anchor="ctr"/>
          <a:lstStyle/>
          <a:p>
            <a:pPr marL="0" indent="0">
              <a:buNone/>
            </a:pPr>
            <a:r>
              <a:rPr lang="en-US" sz="1300" b="1" dirty="0">
                <a:solidFill>
                  <a:schemeClr val="tx1"/>
                </a:solidFill>
                <a:latin typeface="Calibri" pitchFamily="34" charset="0"/>
                <a:ea typeface="Calibri" pitchFamily="34" charset="-122"/>
                <a:cs typeface="Calibri" pitchFamily="34" charset="-120"/>
              </a:rPr>
              <a:t>✓ 1-D / 2-D arrays</a:t>
            </a:r>
            <a:endParaRPr lang="en-US" sz="1400" dirty="0"/>
          </a:p>
          <a:p>
            <a:pPr marL="0" indent="0">
              <a:buNone/>
            </a:pPr>
            <a:r>
              <a:rPr lang="en-US" sz="1100" dirty="0">
                <a:solidFill>
                  <a:srgbClr val="4B5563"/>
                </a:solidFill>
                <a:latin typeface="Courier New" pitchFamily="34" charset="0"/>
                <a:ea typeface="Courier New" pitchFamily="34" charset="-122"/>
                <a:cs typeface="Courier New" pitchFamily="34" charset="-120"/>
              </a:rPr>
              <a:t>MenuItem[], String[10][3]</a:t>
            </a:r>
            <a:endParaRPr lang="en-US" sz="1400" dirty="0"/>
          </a:p>
        </p:txBody>
      </p:sp>
      <p:sp>
        <p:nvSpPr>
          <p:cNvPr id="21" name="card-290"/>
          <p:cNvSpPr/>
          <p:nvPr/>
        </p:nvSpPr>
        <p:spPr>
          <a:xfrm>
            <a:off x="3364992" y="4535424"/>
            <a:ext cx="2651760" cy="749808"/>
          </a:xfrm>
          <a:prstGeom prst="roundRect">
            <a:avLst>
              <a:gd name="adj" fmla="val 14634"/>
            </a:avLst>
          </a:prstGeom>
          <a:solidFill>
            <a:srgbClr val="EAF1FF"/>
          </a:solidFill>
          <a:ln w="12700">
            <a:solidFill>
              <a:srgbClr val="EAF1FF"/>
            </a:solidFill>
            <a:prstDash val="solid"/>
          </a:ln>
        </p:spPr>
      </p:sp>
      <p:sp>
        <p:nvSpPr>
          <p:cNvPr id="22" name="text-291"/>
          <p:cNvSpPr txBox="1"/>
          <p:nvPr/>
        </p:nvSpPr>
        <p:spPr>
          <a:xfrm>
            <a:off x="3456432" y="4535424"/>
            <a:ext cx="2514600" cy="749808"/>
          </a:xfrm>
          <a:prstGeom prst="rect">
            <a:avLst/>
          </a:prstGeom>
          <a:noFill/>
          <a:ln/>
        </p:spPr>
        <p:txBody>
          <a:bodyPr wrap="square" lIns="1016" tIns="1016" rIns="1016" bIns="1016" rtlCol="0" anchor="ctr"/>
          <a:lstStyle/>
          <a:p>
            <a:pPr marL="0" indent="0">
              <a:buNone/>
            </a:pPr>
            <a:r>
              <a:rPr lang="en-US" sz="1300" b="1" dirty="0">
                <a:solidFill>
                  <a:schemeClr val="tx1"/>
                </a:solidFill>
                <a:latin typeface="Calibri" pitchFamily="34" charset="0"/>
                <a:ea typeface="Calibri" pitchFamily="34" charset="-122"/>
                <a:cs typeface="Calibri" pitchFamily="34" charset="-120"/>
              </a:rPr>
              <a:t>✓ Searching, sorting</a:t>
            </a:r>
            <a:endParaRPr lang="en-US" sz="1400" dirty="0"/>
          </a:p>
          <a:p>
            <a:pPr marL="0" indent="0">
              <a:buNone/>
            </a:pPr>
            <a:r>
              <a:rPr lang="en-US" sz="1100" dirty="0">
                <a:solidFill>
                  <a:srgbClr val="4B5563"/>
                </a:solidFill>
                <a:latin typeface="Courier New" pitchFamily="34" charset="0"/>
                <a:ea typeface="Courier New" pitchFamily="34" charset="-122"/>
                <a:cs typeface="Courier New" pitchFamily="34" charset="-120"/>
              </a:rPr>
              <a:t>binarySearch, Collections.sort</a:t>
            </a:r>
            <a:endParaRPr lang="en-US" sz="1400" dirty="0"/>
          </a:p>
        </p:txBody>
      </p:sp>
      <p:sp>
        <p:nvSpPr>
          <p:cNvPr id="23" name="card-292"/>
          <p:cNvSpPr/>
          <p:nvPr/>
        </p:nvSpPr>
        <p:spPr>
          <a:xfrm>
            <a:off x="6181344" y="1325880"/>
            <a:ext cx="2651760" cy="548640"/>
          </a:xfrm>
          <a:prstGeom prst="roundRect">
            <a:avLst>
              <a:gd name="adj" fmla="val 20000"/>
            </a:avLst>
          </a:prstGeom>
          <a:solidFill>
            <a:srgbClr val="6E45CF"/>
          </a:solidFill>
          <a:ln w="12700">
            <a:solidFill>
              <a:srgbClr val="6E45CF"/>
            </a:solidFill>
            <a:prstDash val="solid"/>
          </a:ln>
        </p:spPr>
      </p:sp>
      <p:sp>
        <p:nvSpPr>
          <p:cNvPr id="24" name="text-293"/>
          <p:cNvSpPr txBox="1"/>
          <p:nvPr/>
        </p:nvSpPr>
        <p:spPr>
          <a:xfrm>
            <a:off x="6272784" y="1325880"/>
            <a:ext cx="2468880" cy="548640"/>
          </a:xfrm>
          <a:prstGeom prst="rect">
            <a:avLst/>
          </a:prstGeom>
          <a:noFill/>
          <a:ln/>
        </p:spPr>
        <p:txBody>
          <a:bodyPr wrap="square" lIns="1016" tIns="1016" rIns="1016" bIns="1016" rtlCol="0" anchor="ctr"/>
          <a:lstStyle/>
          <a:p>
            <a:pPr marL="0" indent="0">
              <a:buNone/>
            </a:pPr>
            <a:r>
              <a:rPr lang="en-US" sz="1500" b="1" dirty="0">
                <a:solidFill>
                  <a:schemeClr val="bg1"/>
                </a:solidFill>
                <a:latin typeface="Calibri" pitchFamily="34" charset="0"/>
                <a:ea typeface="Calibri" pitchFamily="34" charset="-122"/>
                <a:cs typeface="Calibri" pitchFamily="34" charset="-120"/>
              </a:rPr>
              <a:t>Object-oriented</a:t>
            </a:r>
            <a:endParaRPr lang="en-US" sz="1500" dirty="0"/>
          </a:p>
        </p:txBody>
      </p:sp>
      <p:sp>
        <p:nvSpPr>
          <p:cNvPr id="25" name="card-294"/>
          <p:cNvSpPr/>
          <p:nvPr/>
        </p:nvSpPr>
        <p:spPr>
          <a:xfrm>
            <a:off x="6181344" y="2011680"/>
            <a:ext cx="2651760" cy="749808"/>
          </a:xfrm>
          <a:prstGeom prst="roundRect">
            <a:avLst>
              <a:gd name="adj" fmla="val 14634"/>
            </a:avLst>
          </a:prstGeom>
          <a:solidFill>
            <a:srgbClr val="EAF1FF"/>
          </a:solidFill>
          <a:ln w="12700">
            <a:solidFill>
              <a:srgbClr val="EAF1FF"/>
            </a:solidFill>
            <a:prstDash val="solid"/>
          </a:ln>
        </p:spPr>
      </p:sp>
      <p:sp>
        <p:nvSpPr>
          <p:cNvPr id="26" name="text-295"/>
          <p:cNvSpPr txBox="1"/>
          <p:nvPr/>
        </p:nvSpPr>
        <p:spPr>
          <a:xfrm>
            <a:off x="6272784" y="2011680"/>
            <a:ext cx="2514600" cy="749808"/>
          </a:xfrm>
          <a:prstGeom prst="rect">
            <a:avLst/>
          </a:prstGeom>
          <a:noFill/>
          <a:ln/>
        </p:spPr>
        <p:txBody>
          <a:bodyPr wrap="square" lIns="1016" tIns="1016" rIns="1016" bIns="1016" rtlCol="0" anchor="ctr"/>
          <a:lstStyle/>
          <a:p>
            <a:pPr marL="0" indent="0">
              <a:buNone/>
            </a:pPr>
            <a:r>
              <a:rPr lang="en-US" sz="1300" b="1" dirty="0">
                <a:solidFill>
                  <a:schemeClr val="tx1"/>
                </a:solidFill>
                <a:latin typeface="Calibri" pitchFamily="34" charset="0"/>
                <a:ea typeface="Calibri" pitchFamily="34" charset="-122"/>
                <a:cs typeface="Calibri" pitchFamily="34" charset="-120"/>
              </a:rPr>
              <a:t>✓ Classes, constructors, this</a:t>
            </a:r>
            <a:endParaRPr lang="en-US" sz="1400" dirty="0"/>
          </a:p>
          <a:p>
            <a:pPr marL="0" indent="0">
              <a:buNone/>
            </a:pPr>
            <a:r>
              <a:rPr lang="en-US" sz="1100" dirty="0">
                <a:solidFill>
                  <a:srgbClr val="4B5563"/>
                </a:solidFill>
                <a:latin typeface="Courier New" pitchFamily="34" charset="0"/>
                <a:ea typeface="Courier New" pitchFamily="34" charset="-122"/>
                <a:cs typeface="Courier New" pitchFamily="34" charset="-120"/>
              </a:rPr>
              <a:t>Customer(...) chaining</a:t>
            </a:r>
            <a:endParaRPr lang="en-US" sz="1400" dirty="0"/>
          </a:p>
        </p:txBody>
      </p:sp>
      <p:sp>
        <p:nvSpPr>
          <p:cNvPr id="27" name="card-296"/>
          <p:cNvSpPr/>
          <p:nvPr/>
        </p:nvSpPr>
        <p:spPr>
          <a:xfrm>
            <a:off x="6181344" y="2852928"/>
            <a:ext cx="2651760" cy="749808"/>
          </a:xfrm>
          <a:prstGeom prst="roundRect">
            <a:avLst>
              <a:gd name="adj" fmla="val 14634"/>
            </a:avLst>
          </a:prstGeom>
          <a:solidFill>
            <a:srgbClr val="EAF1FF"/>
          </a:solidFill>
          <a:ln w="12700">
            <a:solidFill>
              <a:srgbClr val="EAF1FF"/>
            </a:solidFill>
            <a:prstDash val="solid"/>
          </a:ln>
        </p:spPr>
      </p:sp>
      <p:sp>
        <p:nvSpPr>
          <p:cNvPr id="28" name="text-297"/>
          <p:cNvSpPr txBox="1"/>
          <p:nvPr/>
        </p:nvSpPr>
        <p:spPr>
          <a:xfrm>
            <a:off x="6272784" y="2852928"/>
            <a:ext cx="2514600" cy="749808"/>
          </a:xfrm>
          <a:prstGeom prst="rect">
            <a:avLst/>
          </a:prstGeom>
          <a:noFill/>
          <a:ln/>
        </p:spPr>
        <p:txBody>
          <a:bodyPr wrap="square" lIns="1016" tIns="1016" rIns="1016" bIns="1016" rtlCol="0" anchor="ctr"/>
          <a:lstStyle/>
          <a:p>
            <a:pPr marL="0" indent="0">
              <a:buNone/>
            </a:pPr>
            <a:r>
              <a:rPr lang="en-US" sz="1300" b="1" dirty="0">
                <a:solidFill>
                  <a:schemeClr val="tx1"/>
                </a:solidFill>
                <a:latin typeface="Calibri" pitchFamily="34" charset="0"/>
                <a:ea typeface="Calibri" pitchFamily="34" charset="-122"/>
                <a:cs typeface="Calibri" pitchFamily="34" charset="-120"/>
              </a:rPr>
              <a:t>✓ Encapsulation</a:t>
            </a:r>
            <a:endParaRPr lang="en-US" sz="1400" dirty="0"/>
          </a:p>
          <a:p>
            <a:pPr marL="0" indent="0">
              <a:buNone/>
            </a:pPr>
            <a:r>
              <a:rPr lang="en-US" sz="1100" dirty="0">
                <a:solidFill>
                  <a:srgbClr val="4B5563"/>
                </a:solidFill>
                <a:latin typeface="Courier New" pitchFamily="34" charset="0"/>
                <a:ea typeface="Courier New" pitchFamily="34" charset="-122"/>
                <a:cs typeface="Courier New" pitchFamily="34" charset="-120"/>
              </a:rPr>
              <a:t>private fields, Order.setStatus</a:t>
            </a:r>
            <a:endParaRPr lang="en-US" sz="1400" dirty="0"/>
          </a:p>
        </p:txBody>
      </p:sp>
      <p:sp>
        <p:nvSpPr>
          <p:cNvPr id="29" name="card-298"/>
          <p:cNvSpPr/>
          <p:nvPr/>
        </p:nvSpPr>
        <p:spPr>
          <a:xfrm>
            <a:off x="6181344" y="3694176"/>
            <a:ext cx="2651760" cy="749808"/>
          </a:xfrm>
          <a:prstGeom prst="roundRect">
            <a:avLst>
              <a:gd name="adj" fmla="val 14634"/>
            </a:avLst>
          </a:prstGeom>
          <a:solidFill>
            <a:srgbClr val="EAF1FF"/>
          </a:solidFill>
          <a:ln w="12700">
            <a:solidFill>
              <a:srgbClr val="EAF1FF"/>
            </a:solidFill>
            <a:prstDash val="solid"/>
          </a:ln>
        </p:spPr>
      </p:sp>
      <p:sp>
        <p:nvSpPr>
          <p:cNvPr id="30" name="text-299"/>
          <p:cNvSpPr txBox="1"/>
          <p:nvPr/>
        </p:nvSpPr>
        <p:spPr>
          <a:xfrm>
            <a:off x="6272784" y="3694176"/>
            <a:ext cx="2514600" cy="749808"/>
          </a:xfrm>
          <a:prstGeom prst="rect">
            <a:avLst/>
          </a:prstGeom>
          <a:noFill/>
          <a:ln/>
        </p:spPr>
        <p:txBody>
          <a:bodyPr wrap="square" lIns="1016" tIns="1016" rIns="1016" bIns="1016" rtlCol="0" anchor="ctr"/>
          <a:lstStyle/>
          <a:p>
            <a:pPr marL="0" indent="0">
              <a:buNone/>
            </a:pPr>
            <a:r>
              <a:rPr lang="en-US" sz="1300" b="1" dirty="0">
                <a:solidFill>
                  <a:schemeClr val="tx1"/>
                </a:solidFill>
                <a:latin typeface="Calibri" pitchFamily="34" charset="0"/>
                <a:ea typeface="Calibri" pitchFamily="34" charset="-122"/>
                <a:cs typeface="Calibri" pitchFamily="34" charset="-120"/>
              </a:rPr>
              <a:t>✓ Inheritance, abstract</a:t>
            </a:r>
            <a:endParaRPr lang="en-US" sz="1400" dirty="0"/>
          </a:p>
          <a:p>
            <a:pPr marL="0" indent="0">
              <a:buNone/>
            </a:pPr>
            <a:r>
              <a:rPr lang="en-US" sz="1100" dirty="0">
                <a:solidFill>
                  <a:srgbClr val="4B5563"/>
                </a:solidFill>
                <a:latin typeface="Courier New" pitchFamily="34" charset="0"/>
                <a:ea typeface="Courier New" pitchFamily="34" charset="-122"/>
                <a:cs typeface="Courier New" pitchFamily="34" charset="-120"/>
              </a:rPr>
              <a:t>Person, MenuItem, KitchenSensor</a:t>
            </a:r>
            <a:endParaRPr lang="en-US" sz="1400" dirty="0"/>
          </a:p>
        </p:txBody>
      </p:sp>
      <p:sp>
        <p:nvSpPr>
          <p:cNvPr id="31" name="card-300"/>
          <p:cNvSpPr/>
          <p:nvPr/>
        </p:nvSpPr>
        <p:spPr>
          <a:xfrm>
            <a:off x="6181344" y="4535424"/>
            <a:ext cx="2651760" cy="749808"/>
          </a:xfrm>
          <a:prstGeom prst="roundRect">
            <a:avLst>
              <a:gd name="adj" fmla="val 14634"/>
            </a:avLst>
          </a:prstGeom>
          <a:solidFill>
            <a:srgbClr val="EAF1FF"/>
          </a:solidFill>
          <a:ln w="12700">
            <a:solidFill>
              <a:srgbClr val="EAF1FF"/>
            </a:solidFill>
            <a:prstDash val="solid"/>
          </a:ln>
        </p:spPr>
      </p:sp>
      <p:sp>
        <p:nvSpPr>
          <p:cNvPr id="32" name="text-301"/>
          <p:cNvSpPr txBox="1"/>
          <p:nvPr/>
        </p:nvSpPr>
        <p:spPr>
          <a:xfrm>
            <a:off x="6272784" y="4535424"/>
            <a:ext cx="2514600" cy="749808"/>
          </a:xfrm>
          <a:prstGeom prst="rect">
            <a:avLst/>
          </a:prstGeom>
          <a:noFill/>
          <a:ln/>
        </p:spPr>
        <p:txBody>
          <a:bodyPr wrap="square" lIns="1016" tIns="1016" rIns="1016" bIns="1016" rtlCol="0" anchor="ctr"/>
          <a:lstStyle/>
          <a:p>
            <a:pPr marL="0" indent="0">
              <a:buNone/>
            </a:pPr>
            <a:r>
              <a:rPr lang="en-US" sz="1300" b="1" dirty="0">
                <a:solidFill>
                  <a:schemeClr val="tx1"/>
                </a:solidFill>
                <a:latin typeface="Calibri" pitchFamily="34" charset="0"/>
                <a:ea typeface="Calibri" pitchFamily="34" charset="-122"/>
                <a:cs typeface="Calibri" pitchFamily="34" charset="-120"/>
              </a:rPr>
              <a:t>✓ Overloading / overriding</a:t>
            </a:r>
            <a:endParaRPr lang="en-US" sz="1400" dirty="0"/>
          </a:p>
          <a:p>
            <a:pPr marL="0" indent="0">
              <a:buNone/>
            </a:pPr>
            <a:r>
              <a:rPr lang="en-US" sz="1100" dirty="0">
                <a:solidFill>
                  <a:srgbClr val="4B5563"/>
                </a:solidFill>
                <a:latin typeface="Courier New" pitchFamily="34" charset="0"/>
                <a:ea typeface="Courier New" pitchFamily="34" charset="-122"/>
                <a:cs typeface="Courier New" pitchFamily="34" charset="-120"/>
              </a:rPr>
              <a:t>pay(...) ×3 / isVegFriendly</a:t>
            </a:r>
            <a:endParaRPr lang="en-US" sz="1400" dirty="0"/>
          </a:p>
        </p:txBody>
      </p:sp>
      <p:sp>
        <p:nvSpPr>
          <p:cNvPr id="33" name="card-302"/>
          <p:cNvSpPr/>
          <p:nvPr/>
        </p:nvSpPr>
        <p:spPr>
          <a:xfrm>
            <a:off x="6181344" y="5376672"/>
            <a:ext cx="2651760" cy="749808"/>
          </a:xfrm>
          <a:prstGeom prst="roundRect">
            <a:avLst>
              <a:gd name="adj" fmla="val 14634"/>
            </a:avLst>
          </a:prstGeom>
          <a:solidFill>
            <a:srgbClr val="EAF1FF"/>
          </a:solidFill>
          <a:ln w="12700">
            <a:solidFill>
              <a:srgbClr val="EAF1FF"/>
            </a:solidFill>
            <a:prstDash val="solid"/>
          </a:ln>
        </p:spPr>
      </p:sp>
      <p:sp>
        <p:nvSpPr>
          <p:cNvPr id="34" name="text-303"/>
          <p:cNvSpPr txBox="1"/>
          <p:nvPr/>
        </p:nvSpPr>
        <p:spPr>
          <a:xfrm>
            <a:off x="6272784" y="5376672"/>
            <a:ext cx="2514600" cy="749808"/>
          </a:xfrm>
          <a:prstGeom prst="rect">
            <a:avLst/>
          </a:prstGeom>
          <a:noFill/>
          <a:ln/>
        </p:spPr>
        <p:txBody>
          <a:bodyPr wrap="square" lIns="1016" tIns="1016" rIns="1016" bIns="1016" rtlCol="0" anchor="ctr"/>
          <a:lstStyle/>
          <a:p>
            <a:pPr marL="0" indent="0">
              <a:buNone/>
            </a:pPr>
            <a:r>
              <a:rPr lang="en-US" sz="1300" b="1" dirty="0">
                <a:solidFill>
                  <a:schemeClr val="tx1"/>
                </a:solidFill>
                <a:latin typeface="Calibri" pitchFamily="34" charset="0"/>
                <a:ea typeface="Calibri" pitchFamily="34" charset="-122"/>
                <a:cs typeface="Calibri" pitchFamily="34" charset="-120"/>
              </a:rPr>
              <a:t>✓ Interfaces, polymorphism</a:t>
            </a:r>
            <a:endParaRPr lang="en-US" sz="1400" dirty="0"/>
          </a:p>
          <a:p>
            <a:pPr marL="0" indent="0">
              <a:buNone/>
            </a:pPr>
            <a:r>
              <a:rPr lang="en-US" sz="1100" dirty="0">
                <a:solidFill>
                  <a:srgbClr val="4B5563"/>
                </a:solidFill>
                <a:latin typeface="Courier New" pitchFamily="34" charset="0"/>
                <a:ea typeface="Courier New" pitchFamily="34" charset="-122"/>
                <a:cs typeface="Courier New" pitchFamily="34" charset="-120"/>
              </a:rPr>
              <a:t>Billable, Sensor[]</a:t>
            </a:r>
            <a:endParaRPr lang="en-US" sz="1400" dirty="0"/>
          </a:p>
        </p:txBody>
      </p:sp>
      <p:sp>
        <p:nvSpPr>
          <p:cNvPr id="35" name="card-304"/>
          <p:cNvSpPr/>
          <p:nvPr/>
        </p:nvSpPr>
        <p:spPr>
          <a:xfrm>
            <a:off x="8997696" y="1325880"/>
            <a:ext cx="2651760" cy="548640"/>
          </a:xfrm>
          <a:prstGeom prst="roundRect">
            <a:avLst>
              <a:gd name="adj" fmla="val 20000"/>
            </a:avLst>
          </a:prstGeom>
          <a:solidFill>
            <a:srgbClr val="1B2A6B"/>
          </a:solidFill>
          <a:ln w="12700">
            <a:solidFill>
              <a:srgbClr val="1B2A6B"/>
            </a:solidFill>
            <a:prstDash val="solid"/>
          </a:ln>
        </p:spPr>
      </p:sp>
      <p:sp>
        <p:nvSpPr>
          <p:cNvPr id="36" name="text-305"/>
          <p:cNvSpPr txBox="1"/>
          <p:nvPr/>
        </p:nvSpPr>
        <p:spPr>
          <a:xfrm>
            <a:off x="9089136" y="1325880"/>
            <a:ext cx="2468880" cy="548640"/>
          </a:xfrm>
          <a:prstGeom prst="rect">
            <a:avLst/>
          </a:prstGeom>
          <a:noFill/>
          <a:ln/>
        </p:spPr>
        <p:txBody>
          <a:bodyPr wrap="square" lIns="1016" tIns="1016" rIns="1016" bIns="1016" rtlCol="0" anchor="ctr"/>
          <a:lstStyle/>
          <a:p>
            <a:pPr marL="0" indent="0">
              <a:buNone/>
            </a:pPr>
            <a:r>
              <a:rPr lang="en-US" sz="1500" b="1" dirty="0">
                <a:solidFill>
                  <a:schemeClr val="bg1"/>
                </a:solidFill>
                <a:latin typeface="Calibri" pitchFamily="34" charset="0"/>
                <a:ea typeface="Calibri" pitchFamily="34" charset="-122"/>
                <a:cs typeface="Calibri" pitchFamily="34" charset="-120"/>
              </a:rPr>
              <a:t>Further curriculum</a:t>
            </a:r>
            <a:endParaRPr lang="en-US" sz="1500" dirty="0"/>
          </a:p>
        </p:txBody>
      </p:sp>
      <p:sp>
        <p:nvSpPr>
          <p:cNvPr id="37" name="card-306"/>
          <p:cNvSpPr/>
          <p:nvPr/>
        </p:nvSpPr>
        <p:spPr>
          <a:xfrm>
            <a:off x="8997696" y="2011680"/>
            <a:ext cx="2651760" cy="749808"/>
          </a:xfrm>
          <a:prstGeom prst="roundRect">
            <a:avLst>
              <a:gd name="adj" fmla="val 14634"/>
            </a:avLst>
          </a:prstGeom>
          <a:solidFill>
            <a:srgbClr val="EAF1FF"/>
          </a:solidFill>
          <a:ln w="12700">
            <a:solidFill>
              <a:srgbClr val="EAF1FF"/>
            </a:solidFill>
            <a:prstDash val="solid"/>
          </a:ln>
        </p:spPr>
      </p:sp>
      <p:sp>
        <p:nvSpPr>
          <p:cNvPr id="38" name="text-307"/>
          <p:cNvSpPr txBox="1"/>
          <p:nvPr/>
        </p:nvSpPr>
        <p:spPr>
          <a:xfrm>
            <a:off x="9089136" y="2011680"/>
            <a:ext cx="2514600" cy="749808"/>
          </a:xfrm>
          <a:prstGeom prst="rect">
            <a:avLst/>
          </a:prstGeom>
          <a:noFill/>
          <a:ln/>
        </p:spPr>
        <p:txBody>
          <a:bodyPr wrap="square" lIns="1016" tIns="1016" rIns="1016" bIns="1016" rtlCol="0" anchor="ctr"/>
          <a:lstStyle/>
          <a:p>
            <a:pPr marL="0" indent="0">
              <a:buNone/>
            </a:pPr>
            <a:r>
              <a:rPr lang="en-US" sz="1300" b="1" dirty="0">
                <a:solidFill>
                  <a:schemeClr val="tx1"/>
                </a:solidFill>
                <a:latin typeface="Calibri" pitchFamily="34" charset="0"/>
                <a:ea typeface="Calibri" pitchFamily="34" charset="-122"/>
                <a:cs typeface="Calibri" pitchFamily="34" charset="-120"/>
              </a:rPr>
              <a:t>✓ Strings, StringBuilder</a:t>
            </a:r>
            <a:endParaRPr lang="en-US" sz="1400" dirty="0"/>
          </a:p>
          <a:p>
            <a:pPr marL="0" indent="0">
              <a:buNone/>
            </a:pPr>
            <a:r>
              <a:rPr lang="en-US" sz="1100" dirty="0">
                <a:solidFill>
                  <a:srgbClr val="4B5563"/>
                </a:solidFill>
                <a:latin typeface="Courier New" pitchFamily="34" charset="0"/>
                <a:ea typeface="Courier New" pitchFamily="34" charset="-122"/>
                <a:cs typeface="Courier New" pitchFamily="34" charset="-120"/>
              </a:rPr>
              <a:t>verifyBillId, receiptText</a:t>
            </a:r>
            <a:endParaRPr lang="en-US" sz="1400" dirty="0"/>
          </a:p>
        </p:txBody>
      </p:sp>
      <p:sp>
        <p:nvSpPr>
          <p:cNvPr id="39" name="card-308"/>
          <p:cNvSpPr/>
          <p:nvPr/>
        </p:nvSpPr>
        <p:spPr>
          <a:xfrm>
            <a:off x="8997696" y="2852928"/>
            <a:ext cx="2651760" cy="749808"/>
          </a:xfrm>
          <a:prstGeom prst="roundRect">
            <a:avLst>
              <a:gd name="adj" fmla="val 14634"/>
            </a:avLst>
          </a:prstGeom>
          <a:solidFill>
            <a:srgbClr val="EAF1FF"/>
          </a:solidFill>
          <a:ln w="12700">
            <a:solidFill>
              <a:srgbClr val="EAF1FF"/>
            </a:solidFill>
            <a:prstDash val="solid"/>
          </a:ln>
        </p:spPr>
      </p:sp>
      <p:sp>
        <p:nvSpPr>
          <p:cNvPr id="40" name="text-309"/>
          <p:cNvSpPr txBox="1"/>
          <p:nvPr/>
        </p:nvSpPr>
        <p:spPr>
          <a:xfrm>
            <a:off x="9089136" y="2852928"/>
            <a:ext cx="2514600" cy="749808"/>
          </a:xfrm>
          <a:prstGeom prst="rect">
            <a:avLst/>
          </a:prstGeom>
          <a:noFill/>
          <a:ln/>
        </p:spPr>
        <p:txBody>
          <a:bodyPr wrap="square" lIns="1016" tIns="1016" rIns="1016" bIns="1016" rtlCol="0" anchor="ctr"/>
          <a:lstStyle/>
          <a:p>
            <a:pPr marL="0" indent="0">
              <a:buNone/>
            </a:pPr>
            <a:r>
              <a:rPr lang="en-US" sz="1300" b="1" dirty="0">
                <a:solidFill>
                  <a:schemeClr val="tx1"/>
                </a:solidFill>
                <a:latin typeface="Calibri" pitchFamily="34" charset="0"/>
                <a:ea typeface="Calibri" pitchFamily="34" charset="-122"/>
                <a:cs typeface="Calibri" pitchFamily="34" charset="-120"/>
              </a:rPr>
              <a:t>✓ Exceptions (35 checked)</a:t>
            </a:r>
            <a:endParaRPr lang="en-US" sz="1400" dirty="0"/>
          </a:p>
          <a:p>
            <a:pPr marL="0" indent="0">
              <a:buNone/>
            </a:pPr>
            <a:r>
              <a:rPr lang="en-US" sz="1100" dirty="0">
                <a:solidFill>
                  <a:srgbClr val="4B5563"/>
                </a:solidFill>
                <a:latin typeface="Courier New" pitchFamily="34" charset="0"/>
                <a:ea typeface="Courier New" pitchFamily="34" charset="-122"/>
                <a:cs typeface="Courier New" pitchFamily="34" charset="-120"/>
              </a:rPr>
              <a:t>every screen method</a:t>
            </a:r>
            <a:endParaRPr lang="en-US" sz="1400" dirty="0"/>
          </a:p>
        </p:txBody>
      </p:sp>
      <p:sp>
        <p:nvSpPr>
          <p:cNvPr id="41" name="card-310"/>
          <p:cNvSpPr/>
          <p:nvPr/>
        </p:nvSpPr>
        <p:spPr>
          <a:xfrm>
            <a:off x="8997696" y="3694176"/>
            <a:ext cx="2651760" cy="749808"/>
          </a:xfrm>
          <a:prstGeom prst="roundRect">
            <a:avLst>
              <a:gd name="adj" fmla="val 14634"/>
            </a:avLst>
          </a:prstGeom>
          <a:solidFill>
            <a:srgbClr val="EAF1FF"/>
          </a:solidFill>
          <a:ln w="12700">
            <a:solidFill>
              <a:srgbClr val="EAF1FF"/>
            </a:solidFill>
            <a:prstDash val="solid"/>
          </a:ln>
        </p:spPr>
      </p:sp>
      <p:sp>
        <p:nvSpPr>
          <p:cNvPr id="42" name="text-311"/>
          <p:cNvSpPr txBox="1"/>
          <p:nvPr/>
        </p:nvSpPr>
        <p:spPr>
          <a:xfrm>
            <a:off x="9089136" y="3694176"/>
            <a:ext cx="2514600" cy="749808"/>
          </a:xfrm>
          <a:prstGeom prst="rect">
            <a:avLst/>
          </a:prstGeom>
          <a:noFill/>
          <a:ln/>
        </p:spPr>
        <p:txBody>
          <a:bodyPr wrap="square" lIns="1016" tIns="1016" rIns="1016" bIns="1016" rtlCol="0" anchor="ctr"/>
          <a:lstStyle/>
          <a:p>
            <a:pPr marL="0" indent="0">
              <a:buNone/>
            </a:pPr>
            <a:r>
              <a:rPr lang="en-US" sz="1300" b="1" dirty="0">
                <a:solidFill>
                  <a:schemeClr val="tx1"/>
                </a:solidFill>
                <a:latin typeface="Calibri" pitchFamily="34" charset="0"/>
                <a:ea typeface="Calibri" pitchFamily="34" charset="-122"/>
                <a:cs typeface="Calibri" pitchFamily="34" charset="-120"/>
              </a:rPr>
              <a:t>✓ File I/O, try-with-resources</a:t>
            </a:r>
            <a:endParaRPr lang="en-US" sz="1400" dirty="0"/>
          </a:p>
          <a:p>
            <a:pPr marL="0" indent="0">
              <a:buNone/>
            </a:pPr>
            <a:r>
              <a:rPr lang="en-US" sz="1100" dirty="0">
                <a:solidFill>
                  <a:srgbClr val="4B5563"/>
                </a:solidFill>
                <a:latin typeface="Courier New" pitchFamily="34" charset="0"/>
                <a:ea typeface="Courier New" pitchFamily="34" charset="-122"/>
                <a:cs typeface="Courier New" pitchFamily="34" charset="-120"/>
              </a:rPr>
              <a:t>saveBillToFile</a:t>
            </a:r>
            <a:endParaRPr lang="en-US" sz="1400" dirty="0"/>
          </a:p>
        </p:txBody>
      </p:sp>
      <p:sp>
        <p:nvSpPr>
          <p:cNvPr id="43" name="card-312"/>
          <p:cNvSpPr/>
          <p:nvPr/>
        </p:nvSpPr>
        <p:spPr>
          <a:xfrm>
            <a:off x="8997696" y="4535424"/>
            <a:ext cx="2651760" cy="749808"/>
          </a:xfrm>
          <a:prstGeom prst="roundRect">
            <a:avLst>
              <a:gd name="adj" fmla="val 14634"/>
            </a:avLst>
          </a:prstGeom>
          <a:solidFill>
            <a:srgbClr val="EAF1FF"/>
          </a:solidFill>
          <a:ln w="12700">
            <a:solidFill>
              <a:srgbClr val="EAF1FF"/>
            </a:solidFill>
            <a:prstDash val="solid"/>
          </a:ln>
        </p:spPr>
      </p:sp>
      <p:sp>
        <p:nvSpPr>
          <p:cNvPr id="44" name="text-313"/>
          <p:cNvSpPr txBox="1"/>
          <p:nvPr/>
        </p:nvSpPr>
        <p:spPr>
          <a:xfrm>
            <a:off x="9089136" y="4535424"/>
            <a:ext cx="2514600" cy="749808"/>
          </a:xfrm>
          <a:prstGeom prst="rect">
            <a:avLst/>
          </a:prstGeom>
          <a:noFill/>
          <a:ln/>
        </p:spPr>
        <p:txBody>
          <a:bodyPr wrap="square" lIns="1016" tIns="1016" rIns="1016" bIns="1016" rtlCol="0" anchor="ctr"/>
          <a:lstStyle/>
          <a:p>
            <a:pPr marL="0" indent="0">
              <a:buNone/>
            </a:pPr>
            <a:r>
              <a:rPr lang="en-US" sz="1300" b="1" dirty="0">
                <a:solidFill>
                  <a:schemeClr val="tx1"/>
                </a:solidFill>
                <a:latin typeface="Calibri" pitchFamily="34" charset="0"/>
                <a:ea typeface="Calibri" pitchFamily="34" charset="-122"/>
                <a:cs typeface="Calibri" pitchFamily="34" charset="-120"/>
              </a:rPr>
              <a:t>✓ Collections, generics</a:t>
            </a:r>
            <a:endParaRPr lang="en-US" sz="1400" dirty="0"/>
          </a:p>
          <a:p>
            <a:pPr marL="0" indent="0">
              <a:buNone/>
            </a:pPr>
            <a:r>
              <a:rPr lang="en-US" sz="1100" dirty="0">
                <a:solidFill>
                  <a:srgbClr val="4B5563"/>
                </a:solidFill>
                <a:latin typeface="Courier New" pitchFamily="34" charset="0"/>
                <a:ea typeface="Courier New" pitchFamily="34" charset="-122"/>
                <a:cs typeface="Courier New" pitchFamily="34" charset="-120"/>
              </a:rPr>
              <a:t>HashMap, HashSet, TreeMap</a:t>
            </a:r>
            <a:endParaRPr lang="en-US" sz="1400" dirty="0"/>
          </a:p>
        </p:txBody>
      </p:sp>
      <p:sp>
        <p:nvSpPr>
          <p:cNvPr id="45" name="card-314"/>
          <p:cNvSpPr/>
          <p:nvPr/>
        </p:nvSpPr>
        <p:spPr>
          <a:xfrm>
            <a:off x="8997696" y="5376672"/>
            <a:ext cx="2651760" cy="749808"/>
          </a:xfrm>
          <a:prstGeom prst="roundRect">
            <a:avLst>
              <a:gd name="adj" fmla="val 14634"/>
            </a:avLst>
          </a:prstGeom>
          <a:solidFill>
            <a:srgbClr val="EAF1FF"/>
          </a:solidFill>
          <a:ln w="12700">
            <a:solidFill>
              <a:srgbClr val="EAF1FF"/>
            </a:solidFill>
            <a:prstDash val="solid"/>
          </a:ln>
        </p:spPr>
      </p:sp>
      <p:sp>
        <p:nvSpPr>
          <p:cNvPr id="46" name="text-315"/>
          <p:cNvSpPr txBox="1"/>
          <p:nvPr/>
        </p:nvSpPr>
        <p:spPr>
          <a:xfrm>
            <a:off x="9089136" y="5376672"/>
            <a:ext cx="2514600" cy="749808"/>
          </a:xfrm>
          <a:prstGeom prst="rect">
            <a:avLst/>
          </a:prstGeom>
          <a:noFill/>
          <a:ln/>
        </p:spPr>
        <p:txBody>
          <a:bodyPr wrap="square" lIns="1016" tIns="1016" rIns="1016" bIns="1016" rtlCol="0" anchor="ctr"/>
          <a:lstStyle/>
          <a:p>
            <a:pPr marL="0" indent="0">
              <a:buNone/>
            </a:pPr>
            <a:r>
              <a:rPr lang="en-US" sz="1300" b="1" dirty="0">
                <a:solidFill>
                  <a:schemeClr val="tx1"/>
                </a:solidFill>
                <a:latin typeface="Calibri" pitchFamily="34" charset="0"/>
                <a:ea typeface="Calibri" pitchFamily="34" charset="-122"/>
                <a:cs typeface="Calibri" pitchFamily="34" charset="-120"/>
              </a:rPr>
              <a:t>✓ Lambdas, streams</a:t>
            </a:r>
            <a:endParaRPr lang="en-US" sz="1400" dirty="0"/>
          </a:p>
          <a:p>
            <a:pPr marL="0" indent="0">
              <a:buNone/>
            </a:pPr>
            <a:r>
              <a:rPr lang="en-US" sz="1100" dirty="0">
                <a:solidFill>
                  <a:srgbClr val="4B5563"/>
                </a:solidFill>
                <a:latin typeface="Courier New" pitchFamily="34" charset="0"/>
                <a:ea typeface="Courier New" pitchFamily="34" charset="-122"/>
                <a:cs typeface="Courier New" pitchFamily="34" charset="-120"/>
              </a:rPr>
              <a:t>getOrderMenu, reports</a:t>
            </a:r>
            <a:endParaRPr lang="en-US" sz="1400" dirty="0"/>
          </a:p>
        </p:txBody>
      </p:sp>
      <p:sp>
        <p:nvSpPr>
          <p:cNvPr id="47"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74320"/>
          </a:xfrm>
          <a:prstGeom prst="rect">
            <a:avLst/>
          </a:prstGeom>
          <a:noFill/>
          <a:ln/>
        </p:spPr>
        <p:txBody>
          <a:bodyPr wrap="square" lIns="0" tIns="0" rIns="0" bIns="0" rtlCol="0"/>
          <a:lstStyle/>
          <a:p>
            <a:pPr marL="0" indent="0">
              <a:buNone/>
            </a:pPr>
            <a:r>
              <a:rPr lang="en-US" sz="1200" b="1" kern="0" spc="200" dirty="0">
                <a:solidFill>
                  <a:schemeClr val="accent1"/>
                </a:solidFill>
              </a:rPr>
              <a:t>FRONT DESK</a:t>
            </a:r>
            <a:endParaRPr lang="en-US" sz="1200" dirty="0"/>
          </a:p>
        </p:txBody>
      </p:sp>
      <p:sp>
        <p:nvSpPr>
          <p:cNvPr id="3" name="Text 1"/>
          <p:cNvSpPr>
            <a:spLocks noGrp="1"/>
          </p:cNvSpPr>
          <p:nvPr>
            <p:ph type="title" idx="102" hasCustomPrompt="1"/>
          </p:nvPr>
        </p:nvSpPr>
        <p:spPr>
          <a:xfrm>
            <a:off x="548640" y="548640"/>
            <a:ext cx="11064240" cy="685800"/>
          </a:xfrm>
          <a:prstGeom prst="rect">
            <a:avLst/>
          </a:prstGeom>
          <a:noFill/>
          <a:ln/>
        </p:spPr>
        <p:txBody>
          <a:bodyPr wrap="square" lIns="0" tIns="0" rIns="0" bIns="0" rtlCol="0" anchor="ctr"/>
          <a:lstStyle/>
          <a:p>
            <a:pPr marL="0" indent="0" algn="l">
              <a:buNone/>
            </a:pPr>
            <a:r>
              <a:rPr lang="en-US" sz="3200" b="1" dirty="0">
                <a:solidFill>
                  <a:schemeClr val="tx1"/>
                </a:solidFill>
              </a:rPr>
              <a:t>Staff log in, set the menu and greet the customer</a:t>
            </a:r>
            <a:endParaRPr lang="en-US" sz="3200" dirty="0"/>
          </a:p>
        </p:txBody>
      </p:sp>
      <p:sp>
        <p:nvSpPr>
          <p:cNvPr id="4" name="track-86"/>
          <p:cNvSpPr/>
          <p:nvPr/>
        </p:nvSpPr>
        <p:spPr>
          <a:xfrm>
            <a:off x="7543800" y="274320"/>
            <a:ext cx="960120" cy="274320"/>
          </a:xfrm>
          <a:prstGeom prst="roundRect">
            <a:avLst>
              <a:gd name="adj" fmla="val 50000"/>
            </a:avLst>
          </a:prstGeom>
          <a:solidFill>
            <a:schemeClr val="accent1"/>
          </a:solidFill>
          <a:ln/>
        </p:spPr>
      </p:sp>
      <p:sp>
        <p:nvSpPr>
          <p:cNvPr id="5" name="txt-87"/>
          <p:cNvSpPr txBox="1"/>
          <p:nvPr/>
        </p:nvSpPr>
        <p:spPr>
          <a:xfrm>
            <a:off x="7543800" y="274320"/>
            <a:ext cx="960120" cy="274320"/>
          </a:xfrm>
          <a:prstGeom prst="rect">
            <a:avLst/>
          </a:prstGeom>
          <a:noFill/>
          <a:ln/>
        </p:spPr>
        <p:txBody>
          <a:bodyPr wrap="square" lIns="0" tIns="0" rIns="0" bIns="0" rtlCol="0" anchor="ctr"/>
          <a:lstStyle/>
          <a:p>
            <a:pPr marL="0" indent="0" algn="ctr">
              <a:buNone/>
            </a:pPr>
            <a:r>
              <a:rPr lang="en-US" sz="1000" b="1" dirty="0">
                <a:solidFill>
                  <a:schemeClr val="bg1"/>
                </a:solidFill>
              </a:rPr>
              <a:t>Front desk</a:t>
            </a:r>
            <a:endParaRPr lang="en-US" sz="1000" dirty="0"/>
          </a:p>
        </p:txBody>
      </p:sp>
      <p:sp>
        <p:nvSpPr>
          <p:cNvPr id="6" name="track-88"/>
          <p:cNvSpPr/>
          <p:nvPr/>
        </p:nvSpPr>
        <p:spPr>
          <a:xfrm>
            <a:off x="8577072" y="274320"/>
            <a:ext cx="960120" cy="274320"/>
          </a:xfrm>
          <a:prstGeom prst="roundRect">
            <a:avLst>
              <a:gd name="adj" fmla="val 50000"/>
            </a:avLst>
          </a:prstGeom>
          <a:solidFill>
            <a:schemeClr val="bg2"/>
          </a:solidFill>
          <a:ln/>
        </p:spPr>
      </p:sp>
      <p:sp>
        <p:nvSpPr>
          <p:cNvPr id="7" name="txt-89"/>
          <p:cNvSpPr txBox="1"/>
          <p:nvPr/>
        </p:nvSpPr>
        <p:spPr>
          <a:xfrm>
            <a:off x="8577072" y="274320"/>
            <a:ext cx="960120" cy="274320"/>
          </a:xfrm>
          <a:prstGeom prst="rect">
            <a:avLst/>
          </a:prstGeom>
          <a:noFill/>
          <a:ln/>
        </p:spPr>
        <p:txBody>
          <a:bodyPr wrap="square" lIns="0" tIns="0" rIns="0" bIns="0" rtlCol="0" anchor="ctr"/>
          <a:lstStyle/>
          <a:p>
            <a:pPr marL="0" indent="0" algn="ctr">
              <a:buNone/>
            </a:pPr>
            <a:r>
              <a:rPr lang="en-US" sz="1000" dirty="0">
                <a:solidFill>
                  <a:schemeClr val="tx2"/>
                </a:solidFill>
              </a:rPr>
              <a:t>Kitchen</a:t>
            </a:r>
            <a:endParaRPr lang="en-US" sz="1000" dirty="0"/>
          </a:p>
        </p:txBody>
      </p:sp>
      <p:sp>
        <p:nvSpPr>
          <p:cNvPr id="8" name="track-90"/>
          <p:cNvSpPr/>
          <p:nvPr/>
        </p:nvSpPr>
        <p:spPr>
          <a:xfrm>
            <a:off x="9610344" y="274320"/>
            <a:ext cx="960120" cy="274320"/>
          </a:xfrm>
          <a:prstGeom prst="roundRect">
            <a:avLst>
              <a:gd name="adj" fmla="val 50000"/>
            </a:avLst>
          </a:prstGeom>
          <a:solidFill>
            <a:schemeClr val="bg2"/>
          </a:solidFill>
          <a:ln/>
        </p:spPr>
      </p:sp>
      <p:sp>
        <p:nvSpPr>
          <p:cNvPr id="9" name="txt-91"/>
          <p:cNvSpPr txBox="1"/>
          <p:nvPr/>
        </p:nvSpPr>
        <p:spPr>
          <a:xfrm>
            <a:off x="9610344" y="274320"/>
            <a:ext cx="960120" cy="274320"/>
          </a:xfrm>
          <a:prstGeom prst="rect">
            <a:avLst/>
          </a:prstGeom>
          <a:noFill/>
          <a:ln/>
        </p:spPr>
        <p:txBody>
          <a:bodyPr wrap="square" lIns="0" tIns="0" rIns="0" bIns="0" rtlCol="0" anchor="ctr"/>
          <a:lstStyle/>
          <a:p>
            <a:pPr marL="0" indent="0" algn="ctr">
              <a:buNone/>
            </a:pPr>
            <a:r>
              <a:rPr lang="en-US" sz="1000" dirty="0">
                <a:solidFill>
                  <a:schemeClr val="tx2"/>
                </a:solidFill>
              </a:rPr>
              <a:t>Billing</a:t>
            </a:r>
            <a:endParaRPr lang="en-US" sz="1000" dirty="0"/>
          </a:p>
        </p:txBody>
      </p:sp>
      <p:sp>
        <p:nvSpPr>
          <p:cNvPr id="10" name="track-92"/>
          <p:cNvSpPr/>
          <p:nvPr/>
        </p:nvSpPr>
        <p:spPr>
          <a:xfrm>
            <a:off x="10643616" y="274320"/>
            <a:ext cx="960120" cy="274320"/>
          </a:xfrm>
          <a:prstGeom prst="roundRect">
            <a:avLst>
              <a:gd name="adj" fmla="val 50000"/>
            </a:avLst>
          </a:prstGeom>
          <a:solidFill>
            <a:schemeClr val="bg2"/>
          </a:solidFill>
          <a:ln/>
        </p:spPr>
      </p:sp>
      <p:sp>
        <p:nvSpPr>
          <p:cNvPr id="11" name="txt-93"/>
          <p:cNvSpPr txBox="1"/>
          <p:nvPr/>
        </p:nvSpPr>
        <p:spPr>
          <a:xfrm>
            <a:off x="10643616" y="274320"/>
            <a:ext cx="960120" cy="274320"/>
          </a:xfrm>
          <a:prstGeom prst="rect">
            <a:avLst/>
          </a:prstGeom>
          <a:noFill/>
          <a:ln/>
        </p:spPr>
        <p:txBody>
          <a:bodyPr wrap="square" lIns="0" tIns="0" rIns="0" bIns="0" rtlCol="0" anchor="ctr"/>
          <a:lstStyle/>
          <a:p>
            <a:pPr marL="0" indent="0" algn="ctr">
              <a:buNone/>
            </a:pPr>
            <a:r>
              <a:rPr lang="en-US" sz="1000" dirty="0">
                <a:solidFill>
                  <a:schemeClr val="tx2"/>
                </a:solidFill>
              </a:rPr>
              <a:t>Monitoring</a:t>
            </a:r>
            <a:endParaRPr lang="en-US" sz="1000" dirty="0"/>
          </a:p>
        </p:txBody>
      </p:sp>
      <p:sp>
        <p:nvSpPr>
          <p:cNvPr id="12" name="card-94"/>
          <p:cNvSpPr/>
          <p:nvPr/>
        </p:nvSpPr>
        <p:spPr>
          <a:xfrm>
            <a:off x="640080" y="1371600"/>
            <a:ext cx="2583180" cy="4846320"/>
          </a:xfrm>
          <a:prstGeom prst="roundRect">
            <a:avLst>
              <a:gd name="adj" fmla="val 4248"/>
            </a:avLst>
          </a:prstGeom>
          <a:solidFill>
            <a:schemeClr val="bg2"/>
          </a:solidFill>
          <a:ln/>
        </p:spPr>
      </p:sp>
      <p:pic>
        <p:nvPicPr>
          <p:cNvPr id="13" name="screen-95" descr="preencoded.png"/>
          <p:cNvPicPr>
            <a:picLocks noChangeAspect="1"/>
          </p:cNvPicPr>
          <p:nvPr/>
        </p:nvPicPr>
        <p:blipFill>
          <a:blip r:embed="rId3"/>
          <a:stretch>
            <a:fillRect/>
          </a:stretch>
        </p:blipFill>
        <p:spPr>
          <a:xfrm>
            <a:off x="942664" y="1463040"/>
            <a:ext cx="1978011" cy="3977640"/>
          </a:xfrm>
          <a:prstGeom prst="rect">
            <a:avLst/>
          </a:prstGeom>
        </p:spPr>
      </p:pic>
      <p:sp>
        <p:nvSpPr>
          <p:cNvPr id="14" name="chip-96"/>
          <p:cNvSpPr/>
          <p:nvPr/>
        </p:nvSpPr>
        <p:spPr>
          <a:xfrm>
            <a:off x="822960" y="5559552"/>
            <a:ext cx="621792" cy="292608"/>
          </a:xfrm>
          <a:prstGeom prst="roundRect">
            <a:avLst>
              <a:gd name="adj" fmla="val 50000"/>
            </a:avLst>
          </a:prstGeom>
          <a:solidFill>
            <a:schemeClr val="accent1"/>
          </a:solidFill>
          <a:ln/>
        </p:spPr>
      </p:sp>
      <p:sp>
        <p:nvSpPr>
          <p:cNvPr id="15" name="txt-97"/>
          <p:cNvSpPr txBox="1"/>
          <p:nvPr/>
        </p:nvSpPr>
        <p:spPr>
          <a:xfrm>
            <a:off x="822960" y="5559552"/>
            <a:ext cx="621792" cy="292608"/>
          </a:xfrm>
          <a:prstGeom prst="rect">
            <a:avLst/>
          </a:prstGeom>
          <a:noFill/>
          <a:ln/>
        </p:spPr>
        <p:txBody>
          <a:bodyPr wrap="square" lIns="0" tIns="0" rIns="0" bIns="0" rtlCol="0" anchor="ctr"/>
          <a:lstStyle/>
          <a:p>
            <a:pPr marL="0" indent="0" algn="ctr">
              <a:buNone/>
            </a:pPr>
            <a:r>
              <a:rPr lang="en-US" sz="1100" b="1" dirty="0">
                <a:solidFill>
                  <a:schemeClr val="bg1"/>
                </a:solidFill>
              </a:rPr>
              <a:t>M01</a:t>
            </a:r>
            <a:endParaRPr lang="en-US" sz="1100" dirty="0"/>
          </a:p>
        </p:txBody>
      </p:sp>
      <p:sp>
        <p:nvSpPr>
          <p:cNvPr id="16" name="txt-98"/>
          <p:cNvSpPr txBox="1"/>
          <p:nvPr/>
        </p:nvSpPr>
        <p:spPr>
          <a:xfrm>
            <a:off x="1536192" y="5522976"/>
            <a:ext cx="1531620" cy="365760"/>
          </a:xfrm>
          <a:prstGeom prst="rect">
            <a:avLst/>
          </a:prstGeom>
          <a:noFill/>
          <a:ln/>
        </p:spPr>
        <p:txBody>
          <a:bodyPr wrap="square" lIns="0" tIns="0" rIns="0" bIns="0" rtlCol="0" anchor="ctr"/>
          <a:lstStyle/>
          <a:p>
            <a:pPr marL="0" indent="0">
              <a:buNone/>
            </a:pPr>
            <a:r>
              <a:rPr lang="en-US" sz="1500" b="1" dirty="0">
                <a:solidFill>
                  <a:schemeClr val="tx1"/>
                </a:solidFill>
              </a:rPr>
              <a:t>Staff login</a:t>
            </a:r>
            <a:endParaRPr lang="en-US" sz="1500" dirty="0"/>
          </a:p>
        </p:txBody>
      </p:sp>
      <p:sp>
        <p:nvSpPr>
          <p:cNvPr id="17" name="txt-99"/>
          <p:cNvSpPr txBox="1"/>
          <p:nvPr/>
        </p:nvSpPr>
        <p:spPr>
          <a:xfrm>
            <a:off x="822960" y="5870448"/>
            <a:ext cx="2217420" cy="310896"/>
          </a:xfrm>
          <a:prstGeom prst="rect">
            <a:avLst/>
          </a:prstGeom>
          <a:noFill/>
          <a:ln/>
        </p:spPr>
        <p:txBody>
          <a:bodyPr wrap="square" lIns="0" tIns="0" rIns="0" bIns="0" rtlCol="0" anchor="t"/>
          <a:lstStyle/>
          <a:p>
            <a:pPr marL="0" indent="0">
              <a:buNone/>
            </a:pPr>
            <a:r>
              <a:rPr lang="en-US" sz="1200" dirty="0">
                <a:solidFill>
                  <a:schemeClr val="tx2"/>
                </a:solidFill>
              </a:rPr>
              <a:t>Locks after 3 wrong PINs</a:t>
            </a:r>
            <a:endParaRPr lang="en-US" sz="1200" dirty="0"/>
          </a:p>
        </p:txBody>
      </p:sp>
      <p:sp>
        <p:nvSpPr>
          <p:cNvPr id="18" name="card-100"/>
          <p:cNvSpPr/>
          <p:nvPr/>
        </p:nvSpPr>
        <p:spPr>
          <a:xfrm>
            <a:off x="3406140" y="1371600"/>
            <a:ext cx="2583180" cy="4846320"/>
          </a:xfrm>
          <a:prstGeom prst="roundRect">
            <a:avLst>
              <a:gd name="adj" fmla="val 4248"/>
            </a:avLst>
          </a:prstGeom>
          <a:solidFill>
            <a:schemeClr val="bg2"/>
          </a:solidFill>
          <a:ln/>
        </p:spPr>
      </p:sp>
      <p:pic>
        <p:nvPicPr>
          <p:cNvPr id="19" name="screen-101" descr="preencoded.png"/>
          <p:cNvPicPr>
            <a:picLocks noChangeAspect="1"/>
          </p:cNvPicPr>
          <p:nvPr/>
        </p:nvPicPr>
        <p:blipFill>
          <a:blip r:embed="rId4"/>
          <a:stretch>
            <a:fillRect/>
          </a:stretch>
        </p:blipFill>
        <p:spPr>
          <a:xfrm>
            <a:off x="3708724" y="1463040"/>
            <a:ext cx="1978011" cy="3977640"/>
          </a:xfrm>
          <a:prstGeom prst="rect">
            <a:avLst/>
          </a:prstGeom>
        </p:spPr>
      </p:pic>
      <p:sp>
        <p:nvSpPr>
          <p:cNvPr id="20" name="chip-102"/>
          <p:cNvSpPr/>
          <p:nvPr/>
        </p:nvSpPr>
        <p:spPr>
          <a:xfrm>
            <a:off x="3589020" y="5559552"/>
            <a:ext cx="621792" cy="292608"/>
          </a:xfrm>
          <a:prstGeom prst="roundRect">
            <a:avLst>
              <a:gd name="adj" fmla="val 50000"/>
            </a:avLst>
          </a:prstGeom>
          <a:solidFill>
            <a:schemeClr val="accent1"/>
          </a:solidFill>
          <a:ln/>
        </p:spPr>
      </p:sp>
      <p:sp>
        <p:nvSpPr>
          <p:cNvPr id="21" name="txt-103"/>
          <p:cNvSpPr txBox="1"/>
          <p:nvPr/>
        </p:nvSpPr>
        <p:spPr>
          <a:xfrm>
            <a:off x="3589020" y="5559552"/>
            <a:ext cx="621792" cy="292608"/>
          </a:xfrm>
          <a:prstGeom prst="rect">
            <a:avLst/>
          </a:prstGeom>
          <a:noFill/>
          <a:ln/>
        </p:spPr>
        <p:txBody>
          <a:bodyPr wrap="square" lIns="0" tIns="0" rIns="0" bIns="0" rtlCol="0" anchor="ctr"/>
          <a:lstStyle/>
          <a:p>
            <a:pPr marL="0" indent="0" algn="ctr">
              <a:buNone/>
            </a:pPr>
            <a:r>
              <a:rPr lang="en-US" sz="1100" b="1" dirty="0">
                <a:solidFill>
                  <a:schemeClr val="bg1"/>
                </a:solidFill>
              </a:rPr>
              <a:t>M02</a:t>
            </a:r>
            <a:endParaRPr lang="en-US" sz="1100" dirty="0"/>
          </a:p>
        </p:txBody>
      </p:sp>
      <p:sp>
        <p:nvSpPr>
          <p:cNvPr id="22" name="txt-104"/>
          <p:cNvSpPr txBox="1"/>
          <p:nvPr/>
        </p:nvSpPr>
        <p:spPr>
          <a:xfrm>
            <a:off x="4302252" y="5522976"/>
            <a:ext cx="1531620" cy="365760"/>
          </a:xfrm>
          <a:prstGeom prst="rect">
            <a:avLst/>
          </a:prstGeom>
          <a:noFill/>
          <a:ln/>
        </p:spPr>
        <p:txBody>
          <a:bodyPr wrap="square" lIns="0" tIns="0" rIns="0" bIns="0" rtlCol="0" anchor="ctr"/>
          <a:lstStyle/>
          <a:p>
            <a:pPr marL="0" indent="0">
              <a:buNone/>
            </a:pPr>
            <a:r>
              <a:rPr lang="en-US" sz="1500" b="1" dirty="0">
                <a:solidFill>
                  <a:schemeClr val="tx1"/>
                </a:solidFill>
              </a:rPr>
              <a:t>Menu</a:t>
            </a:r>
            <a:endParaRPr lang="en-US" sz="1500" dirty="0"/>
          </a:p>
        </p:txBody>
      </p:sp>
      <p:sp>
        <p:nvSpPr>
          <p:cNvPr id="23" name="txt-105"/>
          <p:cNvSpPr txBox="1"/>
          <p:nvPr/>
        </p:nvSpPr>
        <p:spPr>
          <a:xfrm>
            <a:off x="3589020" y="5870448"/>
            <a:ext cx="2217420" cy="310896"/>
          </a:xfrm>
          <a:prstGeom prst="rect">
            <a:avLst/>
          </a:prstGeom>
          <a:noFill/>
          <a:ln/>
        </p:spPr>
        <p:txBody>
          <a:bodyPr wrap="square" lIns="0" tIns="0" rIns="0" bIns="0" rtlCol="0" anchor="t"/>
          <a:lstStyle/>
          <a:p>
            <a:pPr marL="0" indent="0">
              <a:buNone/>
            </a:pPr>
            <a:r>
              <a:rPr lang="en-US" sz="1200" dirty="0">
                <a:solidFill>
                  <a:schemeClr val="tx2"/>
                </a:solidFill>
              </a:rPr>
              <a:t>Add, reprice or hide dishes</a:t>
            </a:r>
            <a:endParaRPr lang="en-US" sz="1200" dirty="0"/>
          </a:p>
        </p:txBody>
      </p:sp>
      <p:sp>
        <p:nvSpPr>
          <p:cNvPr id="24" name="card-106"/>
          <p:cNvSpPr/>
          <p:nvPr/>
        </p:nvSpPr>
        <p:spPr>
          <a:xfrm>
            <a:off x="6172200" y="1371600"/>
            <a:ext cx="2583180" cy="4846320"/>
          </a:xfrm>
          <a:prstGeom prst="roundRect">
            <a:avLst>
              <a:gd name="adj" fmla="val 4248"/>
            </a:avLst>
          </a:prstGeom>
          <a:solidFill>
            <a:schemeClr val="bg2"/>
          </a:solidFill>
          <a:ln/>
        </p:spPr>
      </p:sp>
      <p:pic>
        <p:nvPicPr>
          <p:cNvPr id="25" name="screen-107" descr="preencoded.png"/>
          <p:cNvPicPr>
            <a:picLocks noChangeAspect="1"/>
          </p:cNvPicPr>
          <p:nvPr/>
        </p:nvPicPr>
        <p:blipFill>
          <a:blip r:embed="rId5"/>
          <a:stretch>
            <a:fillRect/>
          </a:stretch>
        </p:blipFill>
        <p:spPr>
          <a:xfrm>
            <a:off x="6474784" y="1463040"/>
            <a:ext cx="1978011" cy="3977640"/>
          </a:xfrm>
          <a:prstGeom prst="rect">
            <a:avLst/>
          </a:prstGeom>
        </p:spPr>
      </p:pic>
      <p:sp>
        <p:nvSpPr>
          <p:cNvPr id="26" name="chip-108"/>
          <p:cNvSpPr/>
          <p:nvPr/>
        </p:nvSpPr>
        <p:spPr>
          <a:xfrm>
            <a:off x="6355080" y="5559552"/>
            <a:ext cx="621792" cy="292608"/>
          </a:xfrm>
          <a:prstGeom prst="roundRect">
            <a:avLst>
              <a:gd name="adj" fmla="val 50000"/>
            </a:avLst>
          </a:prstGeom>
          <a:solidFill>
            <a:schemeClr val="accent1"/>
          </a:solidFill>
          <a:ln/>
        </p:spPr>
      </p:sp>
      <p:sp>
        <p:nvSpPr>
          <p:cNvPr id="27" name="txt-109"/>
          <p:cNvSpPr txBox="1"/>
          <p:nvPr/>
        </p:nvSpPr>
        <p:spPr>
          <a:xfrm>
            <a:off x="6355080" y="5559552"/>
            <a:ext cx="621792" cy="292608"/>
          </a:xfrm>
          <a:prstGeom prst="rect">
            <a:avLst/>
          </a:prstGeom>
          <a:noFill/>
          <a:ln/>
        </p:spPr>
        <p:txBody>
          <a:bodyPr wrap="square" lIns="0" tIns="0" rIns="0" bIns="0" rtlCol="0" anchor="ctr"/>
          <a:lstStyle/>
          <a:p>
            <a:pPr marL="0" indent="0" algn="ctr">
              <a:buNone/>
            </a:pPr>
            <a:r>
              <a:rPr lang="en-US" sz="1100" b="1" dirty="0">
                <a:solidFill>
                  <a:schemeClr val="bg1"/>
                </a:solidFill>
              </a:rPr>
              <a:t>M03</a:t>
            </a:r>
            <a:endParaRPr lang="en-US" sz="1100" dirty="0"/>
          </a:p>
        </p:txBody>
      </p:sp>
      <p:sp>
        <p:nvSpPr>
          <p:cNvPr id="28" name="txt-110"/>
          <p:cNvSpPr txBox="1"/>
          <p:nvPr/>
        </p:nvSpPr>
        <p:spPr>
          <a:xfrm>
            <a:off x="7068312" y="5522976"/>
            <a:ext cx="1531620" cy="365760"/>
          </a:xfrm>
          <a:prstGeom prst="rect">
            <a:avLst/>
          </a:prstGeom>
          <a:noFill/>
          <a:ln/>
        </p:spPr>
        <p:txBody>
          <a:bodyPr wrap="square" lIns="0" tIns="0" rIns="0" bIns="0" rtlCol="0" anchor="ctr"/>
          <a:lstStyle/>
          <a:p>
            <a:pPr marL="0" indent="0">
              <a:buNone/>
            </a:pPr>
            <a:r>
              <a:rPr lang="en-US" sz="1500" b="1" dirty="0">
                <a:solidFill>
                  <a:schemeClr val="tx1"/>
                </a:solidFill>
              </a:rPr>
              <a:t>Customer</a:t>
            </a:r>
            <a:endParaRPr lang="en-US" sz="1500" dirty="0"/>
          </a:p>
        </p:txBody>
      </p:sp>
      <p:sp>
        <p:nvSpPr>
          <p:cNvPr id="29" name="txt-111"/>
          <p:cNvSpPr txBox="1"/>
          <p:nvPr/>
        </p:nvSpPr>
        <p:spPr>
          <a:xfrm>
            <a:off x="6355080" y="5870448"/>
            <a:ext cx="2217420" cy="310896"/>
          </a:xfrm>
          <a:prstGeom prst="rect">
            <a:avLst/>
          </a:prstGeom>
          <a:noFill/>
          <a:ln/>
        </p:spPr>
        <p:txBody>
          <a:bodyPr wrap="square" lIns="0" tIns="0" rIns="0" bIns="0" rtlCol="0" anchor="t"/>
          <a:lstStyle/>
          <a:p>
            <a:pPr marL="0" indent="0">
              <a:buNone/>
            </a:pPr>
            <a:r>
              <a:rPr lang="en-US" sz="1200" dirty="0">
                <a:solidFill>
                  <a:schemeClr val="tx2"/>
                </a:solidFill>
              </a:rPr>
              <a:t>Every 7th visit gets 10% off</a:t>
            </a:r>
            <a:endParaRPr lang="en-US" sz="1200" dirty="0"/>
          </a:p>
        </p:txBody>
      </p:sp>
      <p:sp>
        <p:nvSpPr>
          <p:cNvPr id="30" name="card-112"/>
          <p:cNvSpPr/>
          <p:nvPr/>
        </p:nvSpPr>
        <p:spPr>
          <a:xfrm>
            <a:off x="8938260" y="1371600"/>
            <a:ext cx="2583180" cy="4846320"/>
          </a:xfrm>
          <a:prstGeom prst="roundRect">
            <a:avLst>
              <a:gd name="adj" fmla="val 4248"/>
            </a:avLst>
          </a:prstGeom>
          <a:solidFill>
            <a:schemeClr val="bg2"/>
          </a:solidFill>
          <a:ln/>
        </p:spPr>
      </p:sp>
      <p:pic>
        <p:nvPicPr>
          <p:cNvPr id="31" name="screen-113" descr="preencoded.png"/>
          <p:cNvPicPr>
            <a:picLocks noChangeAspect="1"/>
          </p:cNvPicPr>
          <p:nvPr/>
        </p:nvPicPr>
        <p:blipFill>
          <a:blip r:embed="rId6"/>
          <a:stretch>
            <a:fillRect/>
          </a:stretch>
        </p:blipFill>
        <p:spPr>
          <a:xfrm>
            <a:off x="9240844" y="1463040"/>
            <a:ext cx="1978011" cy="3977640"/>
          </a:xfrm>
          <a:prstGeom prst="rect">
            <a:avLst/>
          </a:prstGeom>
        </p:spPr>
      </p:pic>
      <p:sp>
        <p:nvSpPr>
          <p:cNvPr id="32" name="chip-114"/>
          <p:cNvSpPr/>
          <p:nvPr/>
        </p:nvSpPr>
        <p:spPr>
          <a:xfrm>
            <a:off x="9121140" y="5559552"/>
            <a:ext cx="621792" cy="292608"/>
          </a:xfrm>
          <a:prstGeom prst="roundRect">
            <a:avLst>
              <a:gd name="adj" fmla="val 50000"/>
            </a:avLst>
          </a:prstGeom>
          <a:solidFill>
            <a:schemeClr val="accent1"/>
          </a:solidFill>
          <a:ln/>
        </p:spPr>
      </p:sp>
      <p:sp>
        <p:nvSpPr>
          <p:cNvPr id="33" name="txt-115"/>
          <p:cNvSpPr txBox="1"/>
          <p:nvPr/>
        </p:nvSpPr>
        <p:spPr>
          <a:xfrm>
            <a:off x="9121140" y="5559552"/>
            <a:ext cx="621792" cy="292608"/>
          </a:xfrm>
          <a:prstGeom prst="rect">
            <a:avLst/>
          </a:prstGeom>
          <a:noFill/>
          <a:ln/>
        </p:spPr>
        <p:txBody>
          <a:bodyPr wrap="square" lIns="0" tIns="0" rIns="0" bIns="0" rtlCol="0" anchor="ctr"/>
          <a:lstStyle/>
          <a:p>
            <a:pPr marL="0" indent="0" algn="ctr">
              <a:buNone/>
            </a:pPr>
            <a:r>
              <a:rPr lang="en-US" sz="1100" b="1" dirty="0">
                <a:solidFill>
                  <a:schemeClr val="bg1"/>
                </a:solidFill>
              </a:rPr>
              <a:t>M04</a:t>
            </a:r>
            <a:endParaRPr lang="en-US" sz="1100" dirty="0"/>
          </a:p>
        </p:txBody>
      </p:sp>
      <p:sp>
        <p:nvSpPr>
          <p:cNvPr id="34" name="txt-116"/>
          <p:cNvSpPr txBox="1"/>
          <p:nvPr/>
        </p:nvSpPr>
        <p:spPr>
          <a:xfrm>
            <a:off x="9834372" y="5522976"/>
            <a:ext cx="1531620" cy="365760"/>
          </a:xfrm>
          <a:prstGeom prst="rect">
            <a:avLst/>
          </a:prstGeom>
          <a:noFill/>
          <a:ln/>
        </p:spPr>
        <p:txBody>
          <a:bodyPr wrap="square" lIns="0" tIns="0" rIns="0" bIns="0" rtlCol="0" anchor="ctr"/>
          <a:lstStyle/>
          <a:p>
            <a:pPr marL="0" indent="0">
              <a:buNone/>
            </a:pPr>
            <a:r>
              <a:rPr lang="en-US" sz="1500" b="1" dirty="0">
                <a:solidFill>
                  <a:schemeClr val="tx1"/>
                </a:solidFill>
              </a:rPr>
              <a:t>New order</a:t>
            </a:r>
            <a:endParaRPr lang="en-US" sz="1500" dirty="0"/>
          </a:p>
        </p:txBody>
      </p:sp>
      <p:sp>
        <p:nvSpPr>
          <p:cNvPr id="35" name="txt-117"/>
          <p:cNvSpPr txBox="1"/>
          <p:nvPr/>
        </p:nvSpPr>
        <p:spPr>
          <a:xfrm>
            <a:off x="9121140" y="5870448"/>
            <a:ext cx="2217420" cy="310896"/>
          </a:xfrm>
          <a:prstGeom prst="rect">
            <a:avLst/>
          </a:prstGeom>
          <a:noFill/>
          <a:ln/>
        </p:spPr>
        <p:txBody>
          <a:bodyPr wrap="square" lIns="0" tIns="0" rIns="0" bIns="0" rtlCol="0" anchor="t"/>
          <a:lstStyle/>
          <a:p>
            <a:pPr marL="0" indent="0">
              <a:buNone/>
            </a:pPr>
            <a:r>
              <a:rPr lang="en-US" sz="1200" dirty="0">
                <a:solidFill>
                  <a:schemeClr val="tx2"/>
                </a:solidFill>
              </a:rPr>
              <a:t>Veg-only, favourites first</a:t>
            </a:r>
            <a:endParaRPr lang="en-US" sz="1200" dirty="0"/>
          </a:p>
        </p:txBody>
      </p:sp>
      <p:sp>
        <p:nvSpPr>
          <p:cNvPr id="36" name="txt-118"/>
          <p:cNvSpPr txBox="1"/>
          <p:nvPr/>
        </p:nvSpPr>
        <p:spPr>
          <a:xfrm>
            <a:off x="6126480" y="6400800"/>
            <a:ext cx="5029200" cy="274320"/>
          </a:xfrm>
          <a:prstGeom prst="rect">
            <a:avLst/>
          </a:prstGeom>
          <a:noFill/>
          <a:ln/>
        </p:spPr>
        <p:txBody>
          <a:bodyPr wrap="square" lIns="0" tIns="0" rIns="0" bIns="0" rtlCol="0" anchor="ctr"/>
          <a:lstStyle/>
          <a:p>
            <a:pPr marL="0" indent="0" algn="r">
              <a:buNone/>
            </a:pPr>
            <a:r>
              <a:rPr lang="en-US" sz="1000" i="1" dirty="0">
                <a:solidFill>
                  <a:schemeClr val="tx2"/>
                </a:solidFill>
              </a:rPr>
              <a:t>Screens: app concept designs from the DineSync project document</a:t>
            </a:r>
            <a:endParaRPr lang="en-US" sz="1000" dirty="0"/>
          </a:p>
        </p:txBody>
      </p:sp>
      <p:sp>
        <p:nvSpPr>
          <p:cNvPr id="37" name="Slide Number Placeholder 0"/>
          <p:cNvSpPr>
            <a:spLocks noGrp="1"/>
          </p:cNvSpPr>
          <p:nvPr>
            <p:ph type="sldNum" sz="quarter" idx="4294967295"/>
          </p:nvPr>
        </p:nvSpPr>
        <p:spPr>
          <a:xfrm>
            <a:off x="1129284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74320"/>
          </a:xfrm>
          <a:prstGeom prst="rect">
            <a:avLst/>
          </a:prstGeom>
          <a:noFill/>
          <a:ln/>
        </p:spPr>
        <p:txBody>
          <a:bodyPr wrap="square" lIns="0" tIns="0" rIns="0" bIns="0" rtlCol="0"/>
          <a:lstStyle/>
          <a:p>
            <a:pPr marL="0" indent="0">
              <a:buNone/>
            </a:pPr>
            <a:r>
              <a:rPr lang="en-US" sz="1200" b="1" kern="0" spc="200" dirty="0">
                <a:solidFill>
                  <a:schemeClr val="accent1"/>
                </a:solidFill>
              </a:rPr>
              <a:t>TABLES &amp; KITCHEN</a:t>
            </a:r>
            <a:endParaRPr lang="en-US" sz="1200" dirty="0"/>
          </a:p>
        </p:txBody>
      </p:sp>
      <p:sp>
        <p:nvSpPr>
          <p:cNvPr id="3" name="Text 1"/>
          <p:cNvSpPr>
            <a:spLocks noGrp="1"/>
          </p:cNvSpPr>
          <p:nvPr>
            <p:ph type="title" idx="102" hasCustomPrompt="1"/>
          </p:nvPr>
        </p:nvSpPr>
        <p:spPr>
          <a:xfrm>
            <a:off x="548640" y="548640"/>
            <a:ext cx="11064240" cy="685800"/>
          </a:xfrm>
          <a:prstGeom prst="rect">
            <a:avLst/>
          </a:prstGeom>
          <a:noFill/>
          <a:ln/>
        </p:spPr>
        <p:txBody>
          <a:bodyPr wrap="square" lIns="0" tIns="0" rIns="0" bIns="0" rtlCol="0" anchor="ctr"/>
          <a:lstStyle/>
          <a:p>
            <a:pPr marL="0" indent="0" algn="l">
              <a:buNone/>
            </a:pPr>
            <a:r>
              <a:rPr lang="en-US" sz="3200" b="1" dirty="0">
                <a:solidFill>
                  <a:schemeClr val="tx1"/>
                </a:solidFill>
              </a:rPr>
              <a:t>The right table, a clear queue and a ready token</a:t>
            </a:r>
            <a:endParaRPr lang="en-US" sz="3200" dirty="0"/>
          </a:p>
        </p:txBody>
      </p:sp>
      <p:sp>
        <p:nvSpPr>
          <p:cNvPr id="4" name="track-119"/>
          <p:cNvSpPr/>
          <p:nvPr/>
        </p:nvSpPr>
        <p:spPr>
          <a:xfrm>
            <a:off x="7543800" y="274320"/>
            <a:ext cx="960120" cy="274320"/>
          </a:xfrm>
          <a:prstGeom prst="roundRect">
            <a:avLst>
              <a:gd name="adj" fmla="val 50000"/>
            </a:avLst>
          </a:prstGeom>
          <a:solidFill>
            <a:schemeClr val="bg2"/>
          </a:solidFill>
          <a:ln/>
        </p:spPr>
      </p:sp>
      <p:sp>
        <p:nvSpPr>
          <p:cNvPr id="5" name="txt-120"/>
          <p:cNvSpPr txBox="1"/>
          <p:nvPr/>
        </p:nvSpPr>
        <p:spPr>
          <a:xfrm>
            <a:off x="7543800" y="274320"/>
            <a:ext cx="960120" cy="274320"/>
          </a:xfrm>
          <a:prstGeom prst="rect">
            <a:avLst/>
          </a:prstGeom>
          <a:noFill/>
          <a:ln/>
        </p:spPr>
        <p:txBody>
          <a:bodyPr wrap="square" lIns="0" tIns="0" rIns="0" bIns="0" rtlCol="0" anchor="ctr"/>
          <a:lstStyle/>
          <a:p>
            <a:pPr marL="0" indent="0" algn="ctr">
              <a:buNone/>
            </a:pPr>
            <a:r>
              <a:rPr lang="en-US" sz="1000" dirty="0">
                <a:solidFill>
                  <a:schemeClr val="tx2"/>
                </a:solidFill>
              </a:rPr>
              <a:t>Front desk</a:t>
            </a:r>
            <a:endParaRPr lang="en-US" sz="1000" dirty="0"/>
          </a:p>
        </p:txBody>
      </p:sp>
      <p:sp>
        <p:nvSpPr>
          <p:cNvPr id="6" name="track-121"/>
          <p:cNvSpPr/>
          <p:nvPr/>
        </p:nvSpPr>
        <p:spPr>
          <a:xfrm>
            <a:off x="8577072" y="274320"/>
            <a:ext cx="960120" cy="274320"/>
          </a:xfrm>
          <a:prstGeom prst="roundRect">
            <a:avLst>
              <a:gd name="adj" fmla="val 50000"/>
            </a:avLst>
          </a:prstGeom>
          <a:solidFill>
            <a:schemeClr val="accent2"/>
          </a:solidFill>
          <a:ln/>
        </p:spPr>
      </p:sp>
      <p:sp>
        <p:nvSpPr>
          <p:cNvPr id="7" name="txt-122"/>
          <p:cNvSpPr txBox="1"/>
          <p:nvPr/>
        </p:nvSpPr>
        <p:spPr>
          <a:xfrm>
            <a:off x="8577072" y="274320"/>
            <a:ext cx="960120" cy="274320"/>
          </a:xfrm>
          <a:prstGeom prst="rect">
            <a:avLst/>
          </a:prstGeom>
          <a:noFill/>
          <a:ln/>
        </p:spPr>
        <p:txBody>
          <a:bodyPr wrap="square" lIns="0" tIns="0" rIns="0" bIns="0" rtlCol="0" anchor="ctr"/>
          <a:lstStyle/>
          <a:p>
            <a:pPr marL="0" indent="0" algn="ctr">
              <a:buNone/>
            </a:pPr>
            <a:r>
              <a:rPr lang="en-US" sz="1000" b="1" dirty="0">
                <a:solidFill>
                  <a:schemeClr val="bg1"/>
                </a:solidFill>
              </a:rPr>
              <a:t>Kitchen</a:t>
            </a:r>
            <a:endParaRPr lang="en-US" sz="1000" dirty="0"/>
          </a:p>
        </p:txBody>
      </p:sp>
      <p:sp>
        <p:nvSpPr>
          <p:cNvPr id="8" name="track-123"/>
          <p:cNvSpPr/>
          <p:nvPr/>
        </p:nvSpPr>
        <p:spPr>
          <a:xfrm>
            <a:off x="9610344" y="274320"/>
            <a:ext cx="960120" cy="274320"/>
          </a:xfrm>
          <a:prstGeom prst="roundRect">
            <a:avLst>
              <a:gd name="adj" fmla="val 50000"/>
            </a:avLst>
          </a:prstGeom>
          <a:solidFill>
            <a:schemeClr val="bg2"/>
          </a:solidFill>
          <a:ln/>
        </p:spPr>
      </p:sp>
      <p:sp>
        <p:nvSpPr>
          <p:cNvPr id="9" name="txt-124"/>
          <p:cNvSpPr txBox="1"/>
          <p:nvPr/>
        </p:nvSpPr>
        <p:spPr>
          <a:xfrm>
            <a:off x="9610344" y="274320"/>
            <a:ext cx="960120" cy="274320"/>
          </a:xfrm>
          <a:prstGeom prst="rect">
            <a:avLst/>
          </a:prstGeom>
          <a:noFill/>
          <a:ln/>
        </p:spPr>
        <p:txBody>
          <a:bodyPr wrap="square" lIns="0" tIns="0" rIns="0" bIns="0" rtlCol="0" anchor="ctr"/>
          <a:lstStyle/>
          <a:p>
            <a:pPr marL="0" indent="0" algn="ctr">
              <a:buNone/>
            </a:pPr>
            <a:r>
              <a:rPr lang="en-US" sz="1000" dirty="0">
                <a:solidFill>
                  <a:schemeClr val="tx2"/>
                </a:solidFill>
              </a:rPr>
              <a:t>Billing</a:t>
            </a:r>
            <a:endParaRPr lang="en-US" sz="1000" dirty="0"/>
          </a:p>
        </p:txBody>
      </p:sp>
      <p:sp>
        <p:nvSpPr>
          <p:cNvPr id="10" name="track-125"/>
          <p:cNvSpPr/>
          <p:nvPr/>
        </p:nvSpPr>
        <p:spPr>
          <a:xfrm>
            <a:off x="10643616" y="274320"/>
            <a:ext cx="960120" cy="274320"/>
          </a:xfrm>
          <a:prstGeom prst="roundRect">
            <a:avLst>
              <a:gd name="adj" fmla="val 50000"/>
            </a:avLst>
          </a:prstGeom>
          <a:solidFill>
            <a:schemeClr val="bg2"/>
          </a:solidFill>
          <a:ln/>
        </p:spPr>
      </p:sp>
      <p:sp>
        <p:nvSpPr>
          <p:cNvPr id="11" name="txt-126"/>
          <p:cNvSpPr txBox="1"/>
          <p:nvPr/>
        </p:nvSpPr>
        <p:spPr>
          <a:xfrm>
            <a:off x="10643616" y="274320"/>
            <a:ext cx="960120" cy="274320"/>
          </a:xfrm>
          <a:prstGeom prst="rect">
            <a:avLst/>
          </a:prstGeom>
          <a:noFill/>
          <a:ln/>
        </p:spPr>
        <p:txBody>
          <a:bodyPr wrap="square" lIns="0" tIns="0" rIns="0" bIns="0" rtlCol="0" anchor="ctr"/>
          <a:lstStyle/>
          <a:p>
            <a:pPr marL="0" indent="0" algn="ctr">
              <a:buNone/>
            </a:pPr>
            <a:r>
              <a:rPr lang="en-US" sz="1000" dirty="0">
                <a:solidFill>
                  <a:schemeClr val="tx2"/>
                </a:solidFill>
              </a:rPr>
              <a:t>Monitoring</a:t>
            </a:r>
            <a:endParaRPr lang="en-US" sz="1000" dirty="0"/>
          </a:p>
        </p:txBody>
      </p:sp>
      <p:sp>
        <p:nvSpPr>
          <p:cNvPr id="12" name="card-127"/>
          <p:cNvSpPr/>
          <p:nvPr/>
        </p:nvSpPr>
        <p:spPr>
          <a:xfrm>
            <a:off x="640080" y="1371600"/>
            <a:ext cx="3505200" cy="4846320"/>
          </a:xfrm>
          <a:prstGeom prst="roundRect">
            <a:avLst>
              <a:gd name="adj" fmla="val 3130"/>
            </a:avLst>
          </a:prstGeom>
          <a:solidFill>
            <a:schemeClr val="bg2"/>
          </a:solidFill>
          <a:ln/>
        </p:spPr>
      </p:sp>
      <p:pic>
        <p:nvPicPr>
          <p:cNvPr id="13" name="screen-128" descr="preencoded.png"/>
          <p:cNvPicPr>
            <a:picLocks noChangeAspect="1"/>
          </p:cNvPicPr>
          <p:nvPr/>
        </p:nvPicPr>
        <p:blipFill>
          <a:blip r:embed="rId3"/>
          <a:stretch>
            <a:fillRect/>
          </a:stretch>
        </p:blipFill>
        <p:spPr>
          <a:xfrm>
            <a:off x="1380939" y="1463040"/>
            <a:ext cx="2023483" cy="4069080"/>
          </a:xfrm>
          <a:prstGeom prst="rect">
            <a:avLst/>
          </a:prstGeom>
        </p:spPr>
      </p:pic>
      <p:sp>
        <p:nvSpPr>
          <p:cNvPr id="14" name="chip-129"/>
          <p:cNvSpPr/>
          <p:nvPr/>
        </p:nvSpPr>
        <p:spPr>
          <a:xfrm>
            <a:off x="822960" y="5559552"/>
            <a:ext cx="621792" cy="292608"/>
          </a:xfrm>
          <a:prstGeom prst="roundRect">
            <a:avLst>
              <a:gd name="adj" fmla="val 50000"/>
            </a:avLst>
          </a:prstGeom>
          <a:solidFill>
            <a:schemeClr val="accent2"/>
          </a:solidFill>
          <a:ln/>
        </p:spPr>
      </p:sp>
      <p:sp>
        <p:nvSpPr>
          <p:cNvPr id="15" name="txt-130"/>
          <p:cNvSpPr txBox="1"/>
          <p:nvPr/>
        </p:nvSpPr>
        <p:spPr>
          <a:xfrm>
            <a:off x="822960" y="5559552"/>
            <a:ext cx="621792" cy="292608"/>
          </a:xfrm>
          <a:prstGeom prst="rect">
            <a:avLst/>
          </a:prstGeom>
          <a:noFill/>
          <a:ln/>
        </p:spPr>
        <p:txBody>
          <a:bodyPr wrap="square" lIns="0" tIns="0" rIns="0" bIns="0" rtlCol="0" anchor="ctr"/>
          <a:lstStyle/>
          <a:p>
            <a:pPr marL="0" indent="0" algn="ctr">
              <a:buNone/>
            </a:pPr>
            <a:r>
              <a:rPr lang="en-US" sz="1100" b="1" dirty="0">
                <a:solidFill>
                  <a:schemeClr val="bg1"/>
                </a:solidFill>
              </a:rPr>
              <a:t>M09</a:t>
            </a:r>
            <a:endParaRPr lang="en-US" sz="1100" dirty="0"/>
          </a:p>
        </p:txBody>
      </p:sp>
      <p:sp>
        <p:nvSpPr>
          <p:cNvPr id="16" name="txt-131"/>
          <p:cNvSpPr txBox="1"/>
          <p:nvPr/>
        </p:nvSpPr>
        <p:spPr>
          <a:xfrm>
            <a:off x="1536192" y="5522976"/>
            <a:ext cx="2453640" cy="365760"/>
          </a:xfrm>
          <a:prstGeom prst="rect">
            <a:avLst/>
          </a:prstGeom>
          <a:noFill/>
          <a:ln/>
        </p:spPr>
        <p:txBody>
          <a:bodyPr wrap="square" lIns="0" tIns="0" rIns="0" bIns="0" rtlCol="0" anchor="ctr"/>
          <a:lstStyle/>
          <a:p>
            <a:pPr marL="0" indent="0">
              <a:buNone/>
            </a:pPr>
            <a:r>
              <a:rPr lang="en-US" sz="1500" b="1" dirty="0">
                <a:solidFill>
                  <a:schemeClr val="tx1"/>
                </a:solidFill>
              </a:rPr>
              <a:t>Table allocation</a:t>
            </a:r>
            <a:endParaRPr lang="en-US" sz="1500" dirty="0"/>
          </a:p>
        </p:txBody>
      </p:sp>
      <p:sp>
        <p:nvSpPr>
          <p:cNvPr id="17" name="txt-132"/>
          <p:cNvSpPr txBox="1"/>
          <p:nvPr/>
        </p:nvSpPr>
        <p:spPr>
          <a:xfrm>
            <a:off x="822960" y="5870448"/>
            <a:ext cx="3139440" cy="310896"/>
          </a:xfrm>
          <a:prstGeom prst="rect">
            <a:avLst/>
          </a:prstGeom>
          <a:noFill/>
          <a:ln/>
        </p:spPr>
        <p:txBody>
          <a:bodyPr wrap="square" lIns="0" tIns="0" rIns="0" bIns="0" rtlCol="0" anchor="t"/>
          <a:lstStyle/>
          <a:p>
            <a:pPr marL="0" indent="0">
              <a:buNone/>
            </a:pPr>
            <a:r>
              <a:rPr lang="en-US" sz="1200" dirty="0">
                <a:solidFill>
                  <a:schemeClr val="tx2"/>
                </a:solidFill>
              </a:rPr>
              <a:t>Smallest free table that fits: T6 for 5</a:t>
            </a:r>
            <a:endParaRPr lang="en-US" sz="1200" dirty="0"/>
          </a:p>
        </p:txBody>
      </p:sp>
      <p:sp>
        <p:nvSpPr>
          <p:cNvPr id="18" name="card-133"/>
          <p:cNvSpPr/>
          <p:nvPr/>
        </p:nvSpPr>
        <p:spPr>
          <a:xfrm>
            <a:off x="4328160" y="1371600"/>
            <a:ext cx="3505200" cy="4846320"/>
          </a:xfrm>
          <a:prstGeom prst="roundRect">
            <a:avLst>
              <a:gd name="adj" fmla="val 3130"/>
            </a:avLst>
          </a:prstGeom>
          <a:solidFill>
            <a:schemeClr val="bg2"/>
          </a:solidFill>
          <a:ln/>
        </p:spPr>
      </p:sp>
      <p:pic>
        <p:nvPicPr>
          <p:cNvPr id="19" name="screen-134" descr="preencoded.png"/>
          <p:cNvPicPr>
            <a:picLocks noChangeAspect="1"/>
          </p:cNvPicPr>
          <p:nvPr/>
        </p:nvPicPr>
        <p:blipFill>
          <a:blip r:embed="rId4"/>
          <a:stretch>
            <a:fillRect/>
          </a:stretch>
        </p:blipFill>
        <p:spPr>
          <a:xfrm>
            <a:off x="5069019" y="1463040"/>
            <a:ext cx="2023483" cy="4069080"/>
          </a:xfrm>
          <a:prstGeom prst="rect">
            <a:avLst/>
          </a:prstGeom>
        </p:spPr>
      </p:pic>
      <p:sp>
        <p:nvSpPr>
          <p:cNvPr id="20" name="chip-135"/>
          <p:cNvSpPr/>
          <p:nvPr/>
        </p:nvSpPr>
        <p:spPr>
          <a:xfrm>
            <a:off x="4511040" y="5559552"/>
            <a:ext cx="621792" cy="292608"/>
          </a:xfrm>
          <a:prstGeom prst="roundRect">
            <a:avLst>
              <a:gd name="adj" fmla="val 50000"/>
            </a:avLst>
          </a:prstGeom>
          <a:solidFill>
            <a:schemeClr val="accent2"/>
          </a:solidFill>
          <a:ln/>
        </p:spPr>
      </p:sp>
      <p:sp>
        <p:nvSpPr>
          <p:cNvPr id="21" name="txt-136"/>
          <p:cNvSpPr txBox="1"/>
          <p:nvPr/>
        </p:nvSpPr>
        <p:spPr>
          <a:xfrm>
            <a:off x="4511040" y="5559552"/>
            <a:ext cx="621792" cy="292608"/>
          </a:xfrm>
          <a:prstGeom prst="rect">
            <a:avLst/>
          </a:prstGeom>
          <a:noFill/>
          <a:ln/>
        </p:spPr>
        <p:txBody>
          <a:bodyPr wrap="square" lIns="0" tIns="0" rIns="0" bIns="0" rtlCol="0" anchor="ctr"/>
          <a:lstStyle/>
          <a:p>
            <a:pPr marL="0" indent="0" algn="ctr">
              <a:buNone/>
            </a:pPr>
            <a:r>
              <a:rPr lang="en-US" sz="1100" b="1" dirty="0">
                <a:solidFill>
                  <a:schemeClr val="bg1"/>
                </a:solidFill>
              </a:rPr>
              <a:t>M05</a:t>
            </a:r>
            <a:endParaRPr lang="en-US" sz="1100" dirty="0"/>
          </a:p>
        </p:txBody>
      </p:sp>
      <p:sp>
        <p:nvSpPr>
          <p:cNvPr id="22" name="txt-137"/>
          <p:cNvSpPr txBox="1"/>
          <p:nvPr/>
        </p:nvSpPr>
        <p:spPr>
          <a:xfrm>
            <a:off x="5224272" y="5522976"/>
            <a:ext cx="2453640" cy="365760"/>
          </a:xfrm>
          <a:prstGeom prst="rect">
            <a:avLst/>
          </a:prstGeom>
          <a:noFill/>
          <a:ln/>
        </p:spPr>
        <p:txBody>
          <a:bodyPr wrap="square" lIns="0" tIns="0" rIns="0" bIns="0" rtlCol="0" anchor="ctr"/>
          <a:lstStyle/>
          <a:p>
            <a:pPr marL="0" indent="0">
              <a:buNone/>
            </a:pPr>
            <a:r>
              <a:rPr lang="en-US" sz="1500" b="1" dirty="0">
                <a:solidFill>
                  <a:schemeClr val="tx1"/>
                </a:solidFill>
              </a:rPr>
              <a:t>Kitchen queue</a:t>
            </a:r>
            <a:endParaRPr lang="en-US" sz="1500" dirty="0"/>
          </a:p>
        </p:txBody>
      </p:sp>
      <p:sp>
        <p:nvSpPr>
          <p:cNvPr id="23" name="txt-138"/>
          <p:cNvSpPr txBox="1"/>
          <p:nvPr/>
        </p:nvSpPr>
        <p:spPr>
          <a:xfrm>
            <a:off x="4511040" y="5870448"/>
            <a:ext cx="3139440" cy="310896"/>
          </a:xfrm>
          <a:prstGeom prst="rect">
            <a:avLst/>
          </a:prstGeom>
          <a:noFill/>
          <a:ln/>
        </p:spPr>
        <p:txBody>
          <a:bodyPr wrap="square" lIns="0" tIns="0" rIns="0" bIns="0" rtlCol="0" anchor="t"/>
          <a:lstStyle/>
          <a:p>
            <a:pPr marL="0" indent="0">
              <a:buNone/>
            </a:pPr>
            <a:r>
              <a:rPr lang="en-US" sz="1200" dirty="0">
                <a:solidFill>
                  <a:schemeClr val="tx2"/>
                </a:solidFill>
              </a:rPr>
              <a:t>Urgent orders first; ETA 24 min</a:t>
            </a:r>
            <a:endParaRPr lang="en-US" sz="1200" dirty="0"/>
          </a:p>
        </p:txBody>
      </p:sp>
      <p:sp>
        <p:nvSpPr>
          <p:cNvPr id="24" name="card-139"/>
          <p:cNvSpPr/>
          <p:nvPr/>
        </p:nvSpPr>
        <p:spPr>
          <a:xfrm>
            <a:off x="8016240" y="1371600"/>
            <a:ext cx="3505200" cy="4846320"/>
          </a:xfrm>
          <a:prstGeom prst="roundRect">
            <a:avLst>
              <a:gd name="adj" fmla="val 3130"/>
            </a:avLst>
          </a:prstGeom>
          <a:solidFill>
            <a:schemeClr val="bg2"/>
          </a:solidFill>
          <a:ln/>
        </p:spPr>
      </p:sp>
      <p:pic>
        <p:nvPicPr>
          <p:cNvPr id="25" name="screen-140" descr="preencoded.png"/>
          <p:cNvPicPr>
            <a:picLocks noChangeAspect="1"/>
          </p:cNvPicPr>
          <p:nvPr/>
        </p:nvPicPr>
        <p:blipFill>
          <a:blip r:embed="rId5"/>
          <a:stretch>
            <a:fillRect/>
          </a:stretch>
        </p:blipFill>
        <p:spPr>
          <a:xfrm>
            <a:off x="8757099" y="1463040"/>
            <a:ext cx="2023483" cy="4069080"/>
          </a:xfrm>
          <a:prstGeom prst="rect">
            <a:avLst/>
          </a:prstGeom>
        </p:spPr>
      </p:pic>
      <p:sp>
        <p:nvSpPr>
          <p:cNvPr id="26" name="chip-141"/>
          <p:cNvSpPr/>
          <p:nvPr/>
        </p:nvSpPr>
        <p:spPr>
          <a:xfrm>
            <a:off x="8199120" y="5559552"/>
            <a:ext cx="621792" cy="292608"/>
          </a:xfrm>
          <a:prstGeom prst="roundRect">
            <a:avLst>
              <a:gd name="adj" fmla="val 50000"/>
            </a:avLst>
          </a:prstGeom>
          <a:solidFill>
            <a:schemeClr val="accent2"/>
          </a:solidFill>
          <a:ln/>
        </p:spPr>
      </p:sp>
      <p:sp>
        <p:nvSpPr>
          <p:cNvPr id="27" name="txt-142"/>
          <p:cNvSpPr txBox="1"/>
          <p:nvPr/>
        </p:nvSpPr>
        <p:spPr>
          <a:xfrm>
            <a:off x="8199120" y="5559552"/>
            <a:ext cx="621792" cy="292608"/>
          </a:xfrm>
          <a:prstGeom prst="rect">
            <a:avLst/>
          </a:prstGeom>
          <a:noFill/>
          <a:ln/>
        </p:spPr>
        <p:txBody>
          <a:bodyPr wrap="square" lIns="0" tIns="0" rIns="0" bIns="0" rtlCol="0" anchor="ctr"/>
          <a:lstStyle/>
          <a:p>
            <a:pPr marL="0" indent="0" algn="ctr">
              <a:buNone/>
            </a:pPr>
            <a:r>
              <a:rPr lang="en-US" sz="1100" b="1" dirty="0">
                <a:solidFill>
                  <a:schemeClr val="bg1"/>
                </a:solidFill>
              </a:rPr>
              <a:t>M11</a:t>
            </a:r>
            <a:endParaRPr lang="en-US" sz="1100" dirty="0"/>
          </a:p>
        </p:txBody>
      </p:sp>
      <p:sp>
        <p:nvSpPr>
          <p:cNvPr id="28" name="txt-143"/>
          <p:cNvSpPr txBox="1"/>
          <p:nvPr/>
        </p:nvSpPr>
        <p:spPr>
          <a:xfrm>
            <a:off x="8912352" y="5522976"/>
            <a:ext cx="2453640" cy="365760"/>
          </a:xfrm>
          <a:prstGeom prst="rect">
            <a:avLst/>
          </a:prstGeom>
          <a:noFill/>
          <a:ln/>
        </p:spPr>
        <p:txBody>
          <a:bodyPr wrap="square" lIns="0" tIns="0" rIns="0" bIns="0" rtlCol="0" anchor="ctr"/>
          <a:lstStyle/>
          <a:p>
            <a:pPr marL="0" indent="0">
              <a:buNone/>
            </a:pPr>
            <a:r>
              <a:rPr lang="en-US" sz="1500" b="1" dirty="0">
                <a:solidFill>
                  <a:schemeClr val="tx1"/>
                </a:solidFill>
              </a:rPr>
              <a:t>Token display</a:t>
            </a:r>
            <a:endParaRPr lang="en-US" sz="1500" dirty="0"/>
          </a:p>
        </p:txBody>
      </p:sp>
      <p:sp>
        <p:nvSpPr>
          <p:cNvPr id="29" name="txt-144"/>
          <p:cNvSpPr txBox="1"/>
          <p:nvPr/>
        </p:nvSpPr>
        <p:spPr>
          <a:xfrm>
            <a:off x="8199120" y="5870448"/>
            <a:ext cx="3139440" cy="310896"/>
          </a:xfrm>
          <a:prstGeom prst="rect">
            <a:avLst/>
          </a:prstGeom>
          <a:noFill/>
          <a:ln/>
        </p:spPr>
        <p:txBody>
          <a:bodyPr wrap="square" lIns="0" tIns="0" rIns="0" bIns="0" rtlCol="0" anchor="t"/>
          <a:lstStyle/>
          <a:p>
            <a:pPr marL="0" indent="0">
              <a:buNone/>
            </a:pPr>
            <a:r>
              <a:rPr lang="en-US" sz="1200" dirty="0">
                <a:solidFill>
                  <a:schemeClr val="tx2"/>
                </a:solidFill>
              </a:rPr>
              <a:t>Ready order shown as 107</a:t>
            </a:r>
            <a:endParaRPr lang="en-US" sz="1200" dirty="0"/>
          </a:p>
        </p:txBody>
      </p:sp>
      <p:sp>
        <p:nvSpPr>
          <p:cNvPr id="30" name="txt-145"/>
          <p:cNvSpPr txBox="1"/>
          <p:nvPr/>
        </p:nvSpPr>
        <p:spPr>
          <a:xfrm>
            <a:off x="6126480" y="6400800"/>
            <a:ext cx="5029200" cy="274320"/>
          </a:xfrm>
          <a:prstGeom prst="rect">
            <a:avLst/>
          </a:prstGeom>
          <a:noFill/>
          <a:ln/>
        </p:spPr>
        <p:txBody>
          <a:bodyPr wrap="square" lIns="0" tIns="0" rIns="0" bIns="0" rtlCol="0" anchor="ctr"/>
          <a:lstStyle/>
          <a:p>
            <a:pPr marL="0" indent="0" algn="r">
              <a:buNone/>
            </a:pPr>
            <a:r>
              <a:rPr lang="en-US" sz="1000" i="1" dirty="0">
                <a:solidFill>
                  <a:schemeClr val="tx2"/>
                </a:solidFill>
              </a:rPr>
              <a:t>Screens: app concept designs from the DineSync project document</a:t>
            </a:r>
            <a:endParaRPr lang="en-US" sz="1000" dirty="0"/>
          </a:p>
        </p:txBody>
      </p:sp>
      <p:sp>
        <p:nvSpPr>
          <p:cNvPr id="31" name="Slide Number Placeholder 0"/>
          <p:cNvSpPr>
            <a:spLocks noGrp="1"/>
          </p:cNvSpPr>
          <p:nvPr>
            <p:ph type="sldNum" sz="quarter" idx="4294967295"/>
          </p:nvPr>
        </p:nvSpPr>
        <p:spPr>
          <a:xfrm>
            <a:off x="1129284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74320"/>
          </a:xfrm>
          <a:prstGeom prst="rect">
            <a:avLst/>
          </a:prstGeom>
          <a:noFill/>
          <a:ln/>
        </p:spPr>
        <p:txBody>
          <a:bodyPr wrap="square" lIns="0" tIns="0" rIns="0" bIns="0" rtlCol="0"/>
          <a:lstStyle/>
          <a:p>
            <a:pPr marL="0" indent="0">
              <a:buNone/>
            </a:pPr>
            <a:r>
              <a:rPr lang="en-US" sz="1200" b="1" kern="0" spc="200" dirty="0">
                <a:solidFill>
                  <a:schemeClr val="accent1"/>
                </a:solidFill>
              </a:rPr>
              <a:t>BILLING &amp; FEEDBACK</a:t>
            </a:r>
            <a:endParaRPr lang="en-US" sz="1200" dirty="0"/>
          </a:p>
        </p:txBody>
      </p:sp>
      <p:sp>
        <p:nvSpPr>
          <p:cNvPr id="3" name="Text 1"/>
          <p:cNvSpPr>
            <a:spLocks noGrp="1"/>
          </p:cNvSpPr>
          <p:nvPr>
            <p:ph type="title" idx="102" hasCustomPrompt="1"/>
          </p:nvPr>
        </p:nvSpPr>
        <p:spPr>
          <a:xfrm>
            <a:off x="548640" y="548640"/>
            <a:ext cx="11064240" cy="685800"/>
          </a:xfrm>
          <a:prstGeom prst="rect">
            <a:avLst/>
          </a:prstGeom>
          <a:noFill/>
          <a:ln/>
        </p:spPr>
        <p:txBody>
          <a:bodyPr wrap="square" lIns="0" tIns="0" rIns="0" bIns="0" rtlCol="0" anchor="ctr"/>
          <a:lstStyle/>
          <a:p>
            <a:pPr marL="0" indent="0" algn="l">
              <a:buNone/>
            </a:pPr>
            <a:r>
              <a:rPr lang="en-US" sz="3200" b="1" dirty="0">
                <a:solidFill>
                  <a:schemeClr val="tx1"/>
                </a:solidFill>
              </a:rPr>
              <a:t>Accurate bills, verified IDs and honest ratings</a:t>
            </a:r>
            <a:endParaRPr lang="en-US" sz="3200" dirty="0"/>
          </a:p>
        </p:txBody>
      </p:sp>
      <p:sp>
        <p:nvSpPr>
          <p:cNvPr id="4" name="track-146"/>
          <p:cNvSpPr/>
          <p:nvPr/>
        </p:nvSpPr>
        <p:spPr>
          <a:xfrm>
            <a:off x="7543800" y="274320"/>
            <a:ext cx="960120" cy="274320"/>
          </a:xfrm>
          <a:prstGeom prst="roundRect">
            <a:avLst>
              <a:gd name="adj" fmla="val 50000"/>
            </a:avLst>
          </a:prstGeom>
          <a:solidFill>
            <a:schemeClr val="bg2"/>
          </a:solidFill>
          <a:ln/>
        </p:spPr>
      </p:sp>
      <p:sp>
        <p:nvSpPr>
          <p:cNvPr id="5" name="txt-147"/>
          <p:cNvSpPr txBox="1"/>
          <p:nvPr/>
        </p:nvSpPr>
        <p:spPr>
          <a:xfrm>
            <a:off x="7543800" y="274320"/>
            <a:ext cx="960120" cy="274320"/>
          </a:xfrm>
          <a:prstGeom prst="rect">
            <a:avLst/>
          </a:prstGeom>
          <a:noFill/>
          <a:ln/>
        </p:spPr>
        <p:txBody>
          <a:bodyPr wrap="square" lIns="0" tIns="0" rIns="0" bIns="0" rtlCol="0" anchor="ctr"/>
          <a:lstStyle/>
          <a:p>
            <a:pPr marL="0" indent="0" algn="ctr">
              <a:buNone/>
            </a:pPr>
            <a:r>
              <a:rPr lang="en-US" sz="1000" dirty="0">
                <a:solidFill>
                  <a:schemeClr val="tx2"/>
                </a:solidFill>
              </a:rPr>
              <a:t>Front desk</a:t>
            </a:r>
            <a:endParaRPr lang="en-US" sz="1000" dirty="0"/>
          </a:p>
        </p:txBody>
      </p:sp>
      <p:sp>
        <p:nvSpPr>
          <p:cNvPr id="6" name="track-148"/>
          <p:cNvSpPr/>
          <p:nvPr/>
        </p:nvSpPr>
        <p:spPr>
          <a:xfrm>
            <a:off x="8577072" y="274320"/>
            <a:ext cx="960120" cy="274320"/>
          </a:xfrm>
          <a:prstGeom prst="roundRect">
            <a:avLst>
              <a:gd name="adj" fmla="val 50000"/>
            </a:avLst>
          </a:prstGeom>
          <a:solidFill>
            <a:schemeClr val="bg2"/>
          </a:solidFill>
          <a:ln/>
        </p:spPr>
      </p:sp>
      <p:sp>
        <p:nvSpPr>
          <p:cNvPr id="7" name="txt-149"/>
          <p:cNvSpPr txBox="1"/>
          <p:nvPr/>
        </p:nvSpPr>
        <p:spPr>
          <a:xfrm>
            <a:off x="8577072" y="274320"/>
            <a:ext cx="960120" cy="274320"/>
          </a:xfrm>
          <a:prstGeom prst="rect">
            <a:avLst/>
          </a:prstGeom>
          <a:noFill/>
          <a:ln/>
        </p:spPr>
        <p:txBody>
          <a:bodyPr wrap="square" lIns="0" tIns="0" rIns="0" bIns="0" rtlCol="0" anchor="ctr"/>
          <a:lstStyle/>
          <a:p>
            <a:pPr marL="0" indent="0" algn="ctr">
              <a:buNone/>
            </a:pPr>
            <a:r>
              <a:rPr lang="en-US" sz="1000" dirty="0">
                <a:solidFill>
                  <a:schemeClr val="tx2"/>
                </a:solidFill>
              </a:rPr>
              <a:t>Kitchen</a:t>
            </a:r>
            <a:endParaRPr lang="en-US" sz="1000" dirty="0"/>
          </a:p>
        </p:txBody>
      </p:sp>
      <p:sp>
        <p:nvSpPr>
          <p:cNvPr id="8" name="track-150"/>
          <p:cNvSpPr/>
          <p:nvPr/>
        </p:nvSpPr>
        <p:spPr>
          <a:xfrm>
            <a:off x="9610344" y="274320"/>
            <a:ext cx="960120" cy="274320"/>
          </a:xfrm>
          <a:prstGeom prst="roundRect">
            <a:avLst>
              <a:gd name="adj" fmla="val 50000"/>
            </a:avLst>
          </a:prstGeom>
          <a:solidFill>
            <a:schemeClr val="accent3"/>
          </a:solidFill>
          <a:ln/>
        </p:spPr>
      </p:sp>
      <p:sp>
        <p:nvSpPr>
          <p:cNvPr id="9" name="txt-151"/>
          <p:cNvSpPr txBox="1"/>
          <p:nvPr/>
        </p:nvSpPr>
        <p:spPr>
          <a:xfrm>
            <a:off x="9610344" y="274320"/>
            <a:ext cx="960120" cy="274320"/>
          </a:xfrm>
          <a:prstGeom prst="rect">
            <a:avLst/>
          </a:prstGeom>
          <a:noFill/>
          <a:ln/>
        </p:spPr>
        <p:txBody>
          <a:bodyPr wrap="square" lIns="0" tIns="0" rIns="0" bIns="0" rtlCol="0" anchor="ctr"/>
          <a:lstStyle/>
          <a:p>
            <a:pPr marL="0" indent="0" algn="ctr">
              <a:buNone/>
            </a:pPr>
            <a:r>
              <a:rPr lang="en-US" sz="1000" b="1" dirty="0">
                <a:solidFill>
                  <a:schemeClr val="bg1"/>
                </a:solidFill>
              </a:rPr>
              <a:t>Billing</a:t>
            </a:r>
            <a:endParaRPr lang="en-US" sz="1000" dirty="0"/>
          </a:p>
        </p:txBody>
      </p:sp>
      <p:sp>
        <p:nvSpPr>
          <p:cNvPr id="10" name="track-152"/>
          <p:cNvSpPr/>
          <p:nvPr/>
        </p:nvSpPr>
        <p:spPr>
          <a:xfrm>
            <a:off x="10643616" y="274320"/>
            <a:ext cx="960120" cy="274320"/>
          </a:xfrm>
          <a:prstGeom prst="roundRect">
            <a:avLst>
              <a:gd name="adj" fmla="val 50000"/>
            </a:avLst>
          </a:prstGeom>
          <a:solidFill>
            <a:schemeClr val="bg2"/>
          </a:solidFill>
          <a:ln/>
        </p:spPr>
      </p:sp>
      <p:sp>
        <p:nvSpPr>
          <p:cNvPr id="11" name="txt-153"/>
          <p:cNvSpPr txBox="1"/>
          <p:nvPr/>
        </p:nvSpPr>
        <p:spPr>
          <a:xfrm>
            <a:off x="10643616" y="274320"/>
            <a:ext cx="960120" cy="274320"/>
          </a:xfrm>
          <a:prstGeom prst="rect">
            <a:avLst/>
          </a:prstGeom>
          <a:noFill/>
          <a:ln/>
        </p:spPr>
        <p:txBody>
          <a:bodyPr wrap="square" lIns="0" tIns="0" rIns="0" bIns="0" rtlCol="0" anchor="ctr"/>
          <a:lstStyle/>
          <a:p>
            <a:pPr marL="0" indent="0" algn="ctr">
              <a:buNone/>
            </a:pPr>
            <a:r>
              <a:rPr lang="en-US" sz="1000" dirty="0">
                <a:solidFill>
                  <a:schemeClr val="tx2"/>
                </a:solidFill>
              </a:rPr>
              <a:t>Monitoring</a:t>
            </a:r>
            <a:endParaRPr lang="en-US" sz="1000" dirty="0"/>
          </a:p>
        </p:txBody>
      </p:sp>
      <p:sp>
        <p:nvSpPr>
          <p:cNvPr id="12" name="card-154"/>
          <p:cNvSpPr/>
          <p:nvPr/>
        </p:nvSpPr>
        <p:spPr>
          <a:xfrm>
            <a:off x="640080" y="1371600"/>
            <a:ext cx="3505200" cy="4846320"/>
          </a:xfrm>
          <a:prstGeom prst="roundRect">
            <a:avLst>
              <a:gd name="adj" fmla="val 3130"/>
            </a:avLst>
          </a:prstGeom>
          <a:solidFill>
            <a:schemeClr val="bg2"/>
          </a:solidFill>
          <a:ln/>
        </p:spPr>
      </p:sp>
      <p:pic>
        <p:nvPicPr>
          <p:cNvPr id="13" name="screen-155" descr="preencoded.png"/>
          <p:cNvPicPr>
            <a:picLocks noChangeAspect="1"/>
          </p:cNvPicPr>
          <p:nvPr/>
        </p:nvPicPr>
        <p:blipFill>
          <a:blip r:embed="rId3"/>
          <a:stretch>
            <a:fillRect/>
          </a:stretch>
        </p:blipFill>
        <p:spPr>
          <a:xfrm>
            <a:off x="1380939" y="1463040"/>
            <a:ext cx="2023483" cy="4069080"/>
          </a:xfrm>
          <a:prstGeom prst="rect">
            <a:avLst/>
          </a:prstGeom>
        </p:spPr>
      </p:pic>
      <p:sp>
        <p:nvSpPr>
          <p:cNvPr id="14" name="chip-156"/>
          <p:cNvSpPr/>
          <p:nvPr/>
        </p:nvSpPr>
        <p:spPr>
          <a:xfrm>
            <a:off x="822960" y="5559552"/>
            <a:ext cx="621792" cy="292608"/>
          </a:xfrm>
          <a:prstGeom prst="roundRect">
            <a:avLst>
              <a:gd name="adj" fmla="val 50000"/>
            </a:avLst>
          </a:prstGeom>
          <a:solidFill>
            <a:schemeClr val="accent3"/>
          </a:solidFill>
          <a:ln/>
        </p:spPr>
      </p:sp>
      <p:sp>
        <p:nvSpPr>
          <p:cNvPr id="15" name="txt-157"/>
          <p:cNvSpPr txBox="1"/>
          <p:nvPr/>
        </p:nvSpPr>
        <p:spPr>
          <a:xfrm>
            <a:off x="822960" y="5559552"/>
            <a:ext cx="621792" cy="292608"/>
          </a:xfrm>
          <a:prstGeom prst="rect">
            <a:avLst/>
          </a:prstGeom>
          <a:noFill/>
          <a:ln/>
        </p:spPr>
        <p:txBody>
          <a:bodyPr wrap="square" lIns="0" tIns="0" rIns="0" bIns="0" rtlCol="0" anchor="ctr"/>
          <a:lstStyle/>
          <a:p>
            <a:pPr marL="0" indent="0" algn="ctr">
              <a:buNone/>
            </a:pPr>
            <a:r>
              <a:rPr lang="en-US" sz="1100" b="1" dirty="0">
                <a:solidFill>
                  <a:schemeClr val="bg1"/>
                </a:solidFill>
              </a:rPr>
              <a:t>M06</a:t>
            </a:r>
            <a:endParaRPr lang="en-US" sz="1100" dirty="0"/>
          </a:p>
        </p:txBody>
      </p:sp>
      <p:sp>
        <p:nvSpPr>
          <p:cNvPr id="16" name="txt-158"/>
          <p:cNvSpPr txBox="1"/>
          <p:nvPr/>
        </p:nvSpPr>
        <p:spPr>
          <a:xfrm>
            <a:off x="1536192" y="5522976"/>
            <a:ext cx="2453640" cy="365760"/>
          </a:xfrm>
          <a:prstGeom prst="rect">
            <a:avLst/>
          </a:prstGeom>
          <a:noFill/>
          <a:ln/>
        </p:spPr>
        <p:txBody>
          <a:bodyPr wrap="square" lIns="0" tIns="0" rIns="0" bIns="0" rtlCol="0" anchor="ctr"/>
          <a:lstStyle/>
          <a:p>
            <a:pPr marL="0" indent="0">
              <a:buNone/>
            </a:pPr>
            <a:r>
              <a:rPr lang="en-US" sz="1500" b="1" dirty="0">
                <a:solidFill>
                  <a:schemeClr val="tx1"/>
                </a:solidFill>
              </a:rPr>
              <a:t>Bill &amp; payment</a:t>
            </a:r>
            <a:endParaRPr lang="en-US" sz="1500" dirty="0"/>
          </a:p>
        </p:txBody>
      </p:sp>
      <p:sp>
        <p:nvSpPr>
          <p:cNvPr id="17" name="txt-159"/>
          <p:cNvSpPr txBox="1"/>
          <p:nvPr/>
        </p:nvSpPr>
        <p:spPr>
          <a:xfrm>
            <a:off x="822960" y="5870448"/>
            <a:ext cx="3139440" cy="310896"/>
          </a:xfrm>
          <a:prstGeom prst="rect">
            <a:avLst/>
          </a:prstGeom>
          <a:noFill/>
          <a:ln/>
        </p:spPr>
        <p:txBody>
          <a:bodyPr wrap="square" lIns="0" tIns="0" rIns="0" bIns="0" rtlCol="0" anchor="t"/>
          <a:lstStyle/>
          <a:p>
            <a:pPr marL="0" indent="0">
              <a:buNone/>
            </a:pPr>
            <a:r>
              <a:rPr lang="en-US" sz="1200" dirty="0">
                <a:solidFill>
                  <a:schemeClr val="tx2"/>
                </a:solidFill>
              </a:rPr>
              <a:t>₹920 − 10% + GST = ₹869.40</a:t>
            </a:r>
            <a:endParaRPr lang="en-US" sz="1200" dirty="0"/>
          </a:p>
        </p:txBody>
      </p:sp>
      <p:sp>
        <p:nvSpPr>
          <p:cNvPr id="18" name="card-160"/>
          <p:cNvSpPr/>
          <p:nvPr/>
        </p:nvSpPr>
        <p:spPr>
          <a:xfrm>
            <a:off x="4328160" y="1371600"/>
            <a:ext cx="3505200" cy="4846320"/>
          </a:xfrm>
          <a:prstGeom prst="roundRect">
            <a:avLst>
              <a:gd name="adj" fmla="val 3130"/>
            </a:avLst>
          </a:prstGeom>
          <a:solidFill>
            <a:schemeClr val="bg2"/>
          </a:solidFill>
          <a:ln/>
        </p:spPr>
      </p:sp>
      <p:pic>
        <p:nvPicPr>
          <p:cNvPr id="19" name="screen-161" descr="preencoded.png"/>
          <p:cNvPicPr>
            <a:picLocks noChangeAspect="1"/>
          </p:cNvPicPr>
          <p:nvPr/>
        </p:nvPicPr>
        <p:blipFill>
          <a:blip r:embed="rId4"/>
          <a:stretch>
            <a:fillRect/>
          </a:stretch>
        </p:blipFill>
        <p:spPr>
          <a:xfrm>
            <a:off x="5069019" y="1463040"/>
            <a:ext cx="2023483" cy="4069080"/>
          </a:xfrm>
          <a:prstGeom prst="rect">
            <a:avLst/>
          </a:prstGeom>
        </p:spPr>
      </p:pic>
      <p:sp>
        <p:nvSpPr>
          <p:cNvPr id="20" name="chip-162"/>
          <p:cNvSpPr/>
          <p:nvPr/>
        </p:nvSpPr>
        <p:spPr>
          <a:xfrm>
            <a:off x="4511040" y="5559552"/>
            <a:ext cx="621792" cy="292608"/>
          </a:xfrm>
          <a:prstGeom prst="roundRect">
            <a:avLst>
              <a:gd name="adj" fmla="val 50000"/>
            </a:avLst>
          </a:prstGeom>
          <a:solidFill>
            <a:schemeClr val="accent3"/>
          </a:solidFill>
          <a:ln/>
        </p:spPr>
      </p:sp>
      <p:sp>
        <p:nvSpPr>
          <p:cNvPr id="21" name="txt-163"/>
          <p:cNvSpPr txBox="1"/>
          <p:nvPr/>
        </p:nvSpPr>
        <p:spPr>
          <a:xfrm>
            <a:off x="4511040" y="5559552"/>
            <a:ext cx="621792" cy="292608"/>
          </a:xfrm>
          <a:prstGeom prst="rect">
            <a:avLst/>
          </a:prstGeom>
          <a:noFill/>
          <a:ln/>
        </p:spPr>
        <p:txBody>
          <a:bodyPr wrap="square" lIns="0" tIns="0" rIns="0" bIns="0" rtlCol="0" anchor="ctr"/>
          <a:lstStyle/>
          <a:p>
            <a:pPr marL="0" indent="0" algn="ctr">
              <a:buNone/>
            </a:pPr>
            <a:r>
              <a:rPr lang="en-US" sz="1100" b="1" dirty="0">
                <a:solidFill>
                  <a:schemeClr val="bg1"/>
                </a:solidFill>
              </a:rPr>
              <a:t>M12</a:t>
            </a:r>
            <a:endParaRPr lang="en-US" sz="1100" dirty="0"/>
          </a:p>
        </p:txBody>
      </p:sp>
      <p:sp>
        <p:nvSpPr>
          <p:cNvPr id="22" name="txt-164"/>
          <p:cNvSpPr txBox="1"/>
          <p:nvPr/>
        </p:nvSpPr>
        <p:spPr>
          <a:xfrm>
            <a:off x="5224272" y="5522976"/>
            <a:ext cx="2453640" cy="365760"/>
          </a:xfrm>
          <a:prstGeom prst="rect">
            <a:avLst/>
          </a:prstGeom>
          <a:noFill/>
          <a:ln/>
        </p:spPr>
        <p:txBody>
          <a:bodyPr wrap="square" lIns="0" tIns="0" rIns="0" bIns="0" rtlCol="0" anchor="ctr"/>
          <a:lstStyle/>
          <a:p>
            <a:pPr marL="0" indent="0">
              <a:buNone/>
            </a:pPr>
            <a:r>
              <a:rPr lang="en-US" sz="1500" b="1" dirty="0">
                <a:solidFill>
                  <a:schemeClr val="tx1"/>
                </a:solidFill>
              </a:rPr>
              <a:t>Verify bill</a:t>
            </a:r>
            <a:endParaRPr lang="en-US" sz="1500" dirty="0"/>
          </a:p>
        </p:txBody>
      </p:sp>
      <p:sp>
        <p:nvSpPr>
          <p:cNvPr id="23" name="txt-165"/>
          <p:cNvSpPr txBox="1"/>
          <p:nvPr/>
        </p:nvSpPr>
        <p:spPr>
          <a:xfrm>
            <a:off x="4511040" y="5870448"/>
            <a:ext cx="3139440" cy="310896"/>
          </a:xfrm>
          <a:prstGeom prst="rect">
            <a:avLst/>
          </a:prstGeom>
          <a:noFill/>
          <a:ln/>
        </p:spPr>
        <p:txBody>
          <a:bodyPr wrap="square" lIns="0" tIns="0" rIns="0" bIns="0" rtlCol="0" anchor="t"/>
          <a:lstStyle/>
          <a:p>
            <a:pPr marL="0" indent="0">
              <a:buNone/>
            </a:pPr>
            <a:r>
              <a:rPr lang="en-US" sz="1200" dirty="0">
                <a:solidFill>
                  <a:schemeClr val="tx2"/>
                </a:solidFill>
              </a:rPr>
              <a:t>Check digit catches typing mistakes</a:t>
            </a:r>
            <a:endParaRPr lang="en-US" sz="1200" dirty="0"/>
          </a:p>
        </p:txBody>
      </p:sp>
      <p:sp>
        <p:nvSpPr>
          <p:cNvPr id="24" name="card-166"/>
          <p:cNvSpPr/>
          <p:nvPr/>
        </p:nvSpPr>
        <p:spPr>
          <a:xfrm>
            <a:off x="8016240" y="1371600"/>
            <a:ext cx="3505200" cy="4846320"/>
          </a:xfrm>
          <a:prstGeom prst="roundRect">
            <a:avLst>
              <a:gd name="adj" fmla="val 3130"/>
            </a:avLst>
          </a:prstGeom>
          <a:solidFill>
            <a:schemeClr val="bg2"/>
          </a:solidFill>
          <a:ln/>
        </p:spPr>
      </p:sp>
      <p:pic>
        <p:nvPicPr>
          <p:cNvPr id="25" name="screen-167" descr="preencoded.png"/>
          <p:cNvPicPr>
            <a:picLocks noChangeAspect="1"/>
          </p:cNvPicPr>
          <p:nvPr/>
        </p:nvPicPr>
        <p:blipFill>
          <a:blip r:embed="rId5"/>
          <a:stretch>
            <a:fillRect/>
          </a:stretch>
        </p:blipFill>
        <p:spPr>
          <a:xfrm>
            <a:off x="8757099" y="1463040"/>
            <a:ext cx="2023483" cy="4069080"/>
          </a:xfrm>
          <a:prstGeom prst="rect">
            <a:avLst/>
          </a:prstGeom>
        </p:spPr>
      </p:pic>
      <p:sp>
        <p:nvSpPr>
          <p:cNvPr id="26" name="chip-168"/>
          <p:cNvSpPr/>
          <p:nvPr/>
        </p:nvSpPr>
        <p:spPr>
          <a:xfrm>
            <a:off x="8199120" y="5559552"/>
            <a:ext cx="621792" cy="292608"/>
          </a:xfrm>
          <a:prstGeom prst="roundRect">
            <a:avLst>
              <a:gd name="adj" fmla="val 50000"/>
            </a:avLst>
          </a:prstGeom>
          <a:solidFill>
            <a:schemeClr val="accent3"/>
          </a:solidFill>
          <a:ln/>
        </p:spPr>
      </p:sp>
      <p:sp>
        <p:nvSpPr>
          <p:cNvPr id="27" name="txt-169"/>
          <p:cNvSpPr txBox="1"/>
          <p:nvPr/>
        </p:nvSpPr>
        <p:spPr>
          <a:xfrm>
            <a:off x="8199120" y="5559552"/>
            <a:ext cx="621792" cy="292608"/>
          </a:xfrm>
          <a:prstGeom prst="rect">
            <a:avLst/>
          </a:prstGeom>
          <a:noFill/>
          <a:ln/>
        </p:spPr>
        <p:txBody>
          <a:bodyPr wrap="square" lIns="0" tIns="0" rIns="0" bIns="0" rtlCol="0" anchor="ctr"/>
          <a:lstStyle/>
          <a:p>
            <a:pPr marL="0" indent="0" algn="ctr">
              <a:buNone/>
            </a:pPr>
            <a:r>
              <a:rPr lang="en-US" sz="1100" b="1" dirty="0">
                <a:solidFill>
                  <a:schemeClr val="bg1"/>
                </a:solidFill>
              </a:rPr>
              <a:t>M07</a:t>
            </a:r>
            <a:endParaRPr lang="en-US" sz="1100" dirty="0"/>
          </a:p>
        </p:txBody>
      </p:sp>
      <p:sp>
        <p:nvSpPr>
          <p:cNvPr id="28" name="txt-170"/>
          <p:cNvSpPr txBox="1"/>
          <p:nvPr/>
        </p:nvSpPr>
        <p:spPr>
          <a:xfrm>
            <a:off x="8912352" y="5522976"/>
            <a:ext cx="2453640" cy="365760"/>
          </a:xfrm>
          <a:prstGeom prst="rect">
            <a:avLst/>
          </a:prstGeom>
          <a:noFill/>
          <a:ln/>
        </p:spPr>
        <p:txBody>
          <a:bodyPr wrap="square" lIns="0" tIns="0" rIns="0" bIns="0" rtlCol="0" anchor="ctr"/>
          <a:lstStyle/>
          <a:p>
            <a:pPr marL="0" indent="0">
              <a:buNone/>
            </a:pPr>
            <a:r>
              <a:rPr lang="en-US" sz="1500" b="1" dirty="0">
                <a:solidFill>
                  <a:schemeClr val="tx1"/>
                </a:solidFill>
              </a:rPr>
              <a:t>Feedback</a:t>
            </a:r>
            <a:endParaRPr lang="en-US" sz="1500" dirty="0"/>
          </a:p>
        </p:txBody>
      </p:sp>
      <p:sp>
        <p:nvSpPr>
          <p:cNvPr id="29" name="txt-171"/>
          <p:cNvSpPr txBox="1"/>
          <p:nvPr/>
        </p:nvSpPr>
        <p:spPr>
          <a:xfrm>
            <a:off x="8199120" y="5870448"/>
            <a:ext cx="3139440" cy="310896"/>
          </a:xfrm>
          <a:prstGeom prst="rect">
            <a:avLst/>
          </a:prstGeom>
          <a:noFill/>
          <a:ln/>
        </p:spPr>
        <p:txBody>
          <a:bodyPr wrap="square" lIns="0" tIns="0" rIns="0" bIns="0" rtlCol="0" anchor="t"/>
          <a:lstStyle/>
          <a:p>
            <a:pPr marL="0" indent="0">
              <a:buNone/>
            </a:pPr>
            <a:r>
              <a:rPr lang="en-US" sz="1200" dirty="0">
                <a:solidFill>
                  <a:schemeClr val="tx2"/>
                </a:solidFill>
              </a:rPr>
              <a:t>One rating per bill, 1 to 5 stars</a:t>
            </a:r>
            <a:endParaRPr lang="en-US" sz="1200" dirty="0"/>
          </a:p>
        </p:txBody>
      </p:sp>
      <p:sp>
        <p:nvSpPr>
          <p:cNvPr id="30" name="txt-172"/>
          <p:cNvSpPr txBox="1"/>
          <p:nvPr/>
        </p:nvSpPr>
        <p:spPr>
          <a:xfrm>
            <a:off x="6126480" y="6400800"/>
            <a:ext cx="5029200" cy="274320"/>
          </a:xfrm>
          <a:prstGeom prst="rect">
            <a:avLst/>
          </a:prstGeom>
          <a:noFill/>
          <a:ln/>
        </p:spPr>
        <p:txBody>
          <a:bodyPr wrap="square" lIns="0" tIns="0" rIns="0" bIns="0" rtlCol="0" anchor="ctr"/>
          <a:lstStyle/>
          <a:p>
            <a:pPr marL="0" indent="0" algn="r">
              <a:buNone/>
            </a:pPr>
            <a:r>
              <a:rPr lang="en-US" sz="1000" i="1" dirty="0">
                <a:solidFill>
                  <a:schemeClr val="tx2"/>
                </a:solidFill>
              </a:rPr>
              <a:t>Screens: app concept designs from the DineSync project document</a:t>
            </a:r>
            <a:endParaRPr lang="en-US" sz="1000" dirty="0"/>
          </a:p>
        </p:txBody>
      </p:sp>
      <p:sp>
        <p:nvSpPr>
          <p:cNvPr id="31" name="Slide Number Placeholder 0"/>
          <p:cNvSpPr>
            <a:spLocks noGrp="1"/>
          </p:cNvSpPr>
          <p:nvPr>
            <p:ph type="sldNum" sz="quarter" idx="4294967295"/>
          </p:nvPr>
        </p:nvSpPr>
        <p:spPr>
          <a:xfrm>
            <a:off x="1129284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74320"/>
          </a:xfrm>
          <a:prstGeom prst="rect">
            <a:avLst/>
          </a:prstGeom>
          <a:noFill/>
          <a:ln/>
        </p:spPr>
        <p:txBody>
          <a:bodyPr wrap="square" lIns="0" tIns="0" rIns="0" bIns="0" rtlCol="0"/>
          <a:lstStyle/>
          <a:p>
            <a:pPr marL="0" indent="0">
              <a:buNone/>
            </a:pPr>
            <a:r>
              <a:rPr lang="en-US" sz="1200" b="1" kern="0" spc="200" dirty="0">
                <a:solidFill>
                  <a:schemeClr val="accent1"/>
                </a:solidFill>
              </a:rPr>
              <a:t>SMART MONITORING</a:t>
            </a:r>
            <a:endParaRPr lang="en-US" sz="1200" dirty="0"/>
          </a:p>
        </p:txBody>
      </p:sp>
      <p:sp>
        <p:nvSpPr>
          <p:cNvPr id="3" name="Text 1"/>
          <p:cNvSpPr>
            <a:spLocks noGrp="1"/>
          </p:cNvSpPr>
          <p:nvPr>
            <p:ph type="title" idx="102" hasCustomPrompt="1"/>
          </p:nvPr>
        </p:nvSpPr>
        <p:spPr>
          <a:xfrm>
            <a:off x="548640" y="548640"/>
            <a:ext cx="11064240" cy="685800"/>
          </a:xfrm>
          <a:prstGeom prst="rect">
            <a:avLst/>
          </a:prstGeom>
          <a:noFill/>
          <a:ln/>
        </p:spPr>
        <p:txBody>
          <a:bodyPr wrap="square" lIns="0" tIns="0" rIns="0" bIns="0" rtlCol="0" anchor="ctr"/>
          <a:lstStyle/>
          <a:p>
            <a:pPr marL="0" indent="0" algn="l">
              <a:buNone/>
            </a:pPr>
            <a:r>
              <a:rPr lang="en-US" sz="3200" b="1" dirty="0">
                <a:solidFill>
                  <a:schemeClr val="tx1"/>
                </a:solidFill>
              </a:rPr>
              <a:t>A safer kitchen and a clear daily picture</a:t>
            </a:r>
            <a:endParaRPr lang="en-US" sz="3200" dirty="0"/>
          </a:p>
        </p:txBody>
      </p:sp>
      <p:sp>
        <p:nvSpPr>
          <p:cNvPr id="4" name="track-173"/>
          <p:cNvSpPr/>
          <p:nvPr/>
        </p:nvSpPr>
        <p:spPr>
          <a:xfrm>
            <a:off x="7543800" y="274320"/>
            <a:ext cx="960120" cy="274320"/>
          </a:xfrm>
          <a:prstGeom prst="roundRect">
            <a:avLst>
              <a:gd name="adj" fmla="val 50000"/>
            </a:avLst>
          </a:prstGeom>
          <a:solidFill>
            <a:schemeClr val="bg2"/>
          </a:solidFill>
          <a:ln/>
        </p:spPr>
      </p:sp>
      <p:sp>
        <p:nvSpPr>
          <p:cNvPr id="5" name="txt-174"/>
          <p:cNvSpPr txBox="1"/>
          <p:nvPr/>
        </p:nvSpPr>
        <p:spPr>
          <a:xfrm>
            <a:off x="7543800" y="274320"/>
            <a:ext cx="960120" cy="274320"/>
          </a:xfrm>
          <a:prstGeom prst="rect">
            <a:avLst/>
          </a:prstGeom>
          <a:noFill/>
          <a:ln/>
        </p:spPr>
        <p:txBody>
          <a:bodyPr wrap="square" lIns="0" tIns="0" rIns="0" bIns="0" rtlCol="0" anchor="ctr"/>
          <a:lstStyle/>
          <a:p>
            <a:pPr marL="0" indent="0" algn="ctr">
              <a:buNone/>
            </a:pPr>
            <a:r>
              <a:rPr lang="en-US" sz="1000" dirty="0">
                <a:solidFill>
                  <a:schemeClr val="tx2"/>
                </a:solidFill>
              </a:rPr>
              <a:t>Front desk</a:t>
            </a:r>
            <a:endParaRPr lang="en-US" sz="1000" dirty="0"/>
          </a:p>
        </p:txBody>
      </p:sp>
      <p:sp>
        <p:nvSpPr>
          <p:cNvPr id="6" name="track-175"/>
          <p:cNvSpPr/>
          <p:nvPr/>
        </p:nvSpPr>
        <p:spPr>
          <a:xfrm>
            <a:off x="8577072" y="274320"/>
            <a:ext cx="960120" cy="274320"/>
          </a:xfrm>
          <a:prstGeom prst="roundRect">
            <a:avLst>
              <a:gd name="adj" fmla="val 50000"/>
            </a:avLst>
          </a:prstGeom>
          <a:solidFill>
            <a:schemeClr val="bg2"/>
          </a:solidFill>
          <a:ln/>
        </p:spPr>
      </p:sp>
      <p:sp>
        <p:nvSpPr>
          <p:cNvPr id="7" name="txt-176"/>
          <p:cNvSpPr txBox="1"/>
          <p:nvPr/>
        </p:nvSpPr>
        <p:spPr>
          <a:xfrm>
            <a:off x="8577072" y="274320"/>
            <a:ext cx="960120" cy="274320"/>
          </a:xfrm>
          <a:prstGeom prst="rect">
            <a:avLst/>
          </a:prstGeom>
          <a:noFill/>
          <a:ln/>
        </p:spPr>
        <p:txBody>
          <a:bodyPr wrap="square" lIns="0" tIns="0" rIns="0" bIns="0" rtlCol="0" anchor="ctr"/>
          <a:lstStyle/>
          <a:p>
            <a:pPr marL="0" indent="0" algn="ctr">
              <a:buNone/>
            </a:pPr>
            <a:r>
              <a:rPr lang="en-US" sz="1000" dirty="0">
                <a:solidFill>
                  <a:schemeClr val="tx2"/>
                </a:solidFill>
              </a:rPr>
              <a:t>Kitchen</a:t>
            </a:r>
            <a:endParaRPr lang="en-US" sz="1000" dirty="0"/>
          </a:p>
        </p:txBody>
      </p:sp>
      <p:sp>
        <p:nvSpPr>
          <p:cNvPr id="8" name="track-177"/>
          <p:cNvSpPr/>
          <p:nvPr/>
        </p:nvSpPr>
        <p:spPr>
          <a:xfrm>
            <a:off x="9610344" y="274320"/>
            <a:ext cx="960120" cy="274320"/>
          </a:xfrm>
          <a:prstGeom prst="roundRect">
            <a:avLst>
              <a:gd name="adj" fmla="val 50000"/>
            </a:avLst>
          </a:prstGeom>
          <a:solidFill>
            <a:schemeClr val="bg2"/>
          </a:solidFill>
          <a:ln/>
        </p:spPr>
      </p:sp>
      <p:sp>
        <p:nvSpPr>
          <p:cNvPr id="9" name="txt-178"/>
          <p:cNvSpPr txBox="1"/>
          <p:nvPr/>
        </p:nvSpPr>
        <p:spPr>
          <a:xfrm>
            <a:off x="9610344" y="274320"/>
            <a:ext cx="960120" cy="274320"/>
          </a:xfrm>
          <a:prstGeom prst="rect">
            <a:avLst/>
          </a:prstGeom>
          <a:noFill/>
          <a:ln/>
        </p:spPr>
        <p:txBody>
          <a:bodyPr wrap="square" lIns="0" tIns="0" rIns="0" bIns="0" rtlCol="0" anchor="ctr"/>
          <a:lstStyle/>
          <a:p>
            <a:pPr marL="0" indent="0" algn="ctr">
              <a:buNone/>
            </a:pPr>
            <a:r>
              <a:rPr lang="en-US" sz="1000" dirty="0">
                <a:solidFill>
                  <a:schemeClr val="tx2"/>
                </a:solidFill>
              </a:rPr>
              <a:t>Billing</a:t>
            </a:r>
            <a:endParaRPr lang="en-US" sz="1000" dirty="0"/>
          </a:p>
        </p:txBody>
      </p:sp>
      <p:sp>
        <p:nvSpPr>
          <p:cNvPr id="10" name="track-179"/>
          <p:cNvSpPr/>
          <p:nvPr/>
        </p:nvSpPr>
        <p:spPr>
          <a:xfrm>
            <a:off x="10643616" y="274320"/>
            <a:ext cx="960120" cy="274320"/>
          </a:xfrm>
          <a:prstGeom prst="roundRect">
            <a:avLst>
              <a:gd name="adj" fmla="val 50000"/>
            </a:avLst>
          </a:prstGeom>
          <a:solidFill>
            <a:schemeClr val="accent4"/>
          </a:solidFill>
          <a:ln/>
        </p:spPr>
      </p:sp>
      <p:sp>
        <p:nvSpPr>
          <p:cNvPr id="11" name="txt-180"/>
          <p:cNvSpPr txBox="1"/>
          <p:nvPr/>
        </p:nvSpPr>
        <p:spPr>
          <a:xfrm>
            <a:off x="10643616" y="274320"/>
            <a:ext cx="960120" cy="274320"/>
          </a:xfrm>
          <a:prstGeom prst="rect">
            <a:avLst/>
          </a:prstGeom>
          <a:noFill/>
          <a:ln/>
        </p:spPr>
        <p:txBody>
          <a:bodyPr wrap="square" lIns="0" tIns="0" rIns="0" bIns="0" rtlCol="0" anchor="ctr"/>
          <a:lstStyle/>
          <a:p>
            <a:pPr marL="0" indent="0" algn="ctr">
              <a:buNone/>
            </a:pPr>
            <a:r>
              <a:rPr lang="en-US" sz="1000" b="1" dirty="0">
                <a:solidFill>
                  <a:schemeClr val="bg1"/>
                </a:solidFill>
              </a:rPr>
              <a:t>Monitoring</a:t>
            </a:r>
            <a:endParaRPr lang="en-US" sz="1000" dirty="0"/>
          </a:p>
        </p:txBody>
      </p:sp>
      <p:sp>
        <p:nvSpPr>
          <p:cNvPr id="12" name="card-181"/>
          <p:cNvSpPr/>
          <p:nvPr/>
        </p:nvSpPr>
        <p:spPr>
          <a:xfrm>
            <a:off x="640080" y="1371600"/>
            <a:ext cx="3505200" cy="4846320"/>
          </a:xfrm>
          <a:prstGeom prst="roundRect">
            <a:avLst>
              <a:gd name="adj" fmla="val 3130"/>
            </a:avLst>
          </a:prstGeom>
          <a:solidFill>
            <a:schemeClr val="bg2"/>
          </a:solidFill>
          <a:ln/>
        </p:spPr>
      </p:sp>
      <p:pic>
        <p:nvPicPr>
          <p:cNvPr id="13" name="screen-182" descr="preencoded.png"/>
          <p:cNvPicPr>
            <a:picLocks noChangeAspect="1"/>
          </p:cNvPicPr>
          <p:nvPr/>
        </p:nvPicPr>
        <p:blipFill>
          <a:blip r:embed="rId3"/>
          <a:stretch>
            <a:fillRect/>
          </a:stretch>
        </p:blipFill>
        <p:spPr>
          <a:xfrm>
            <a:off x="1380939" y="1463040"/>
            <a:ext cx="2023483" cy="4069080"/>
          </a:xfrm>
          <a:prstGeom prst="rect">
            <a:avLst/>
          </a:prstGeom>
        </p:spPr>
      </p:pic>
      <p:sp>
        <p:nvSpPr>
          <p:cNvPr id="14" name="chip-183"/>
          <p:cNvSpPr/>
          <p:nvPr/>
        </p:nvSpPr>
        <p:spPr>
          <a:xfrm>
            <a:off x="822960" y="5559552"/>
            <a:ext cx="621792" cy="292608"/>
          </a:xfrm>
          <a:prstGeom prst="roundRect">
            <a:avLst>
              <a:gd name="adj" fmla="val 50000"/>
            </a:avLst>
          </a:prstGeom>
          <a:solidFill>
            <a:schemeClr val="accent4"/>
          </a:solidFill>
          <a:ln/>
        </p:spPr>
      </p:sp>
      <p:sp>
        <p:nvSpPr>
          <p:cNvPr id="15" name="txt-184"/>
          <p:cNvSpPr txBox="1"/>
          <p:nvPr/>
        </p:nvSpPr>
        <p:spPr>
          <a:xfrm>
            <a:off x="822960" y="5559552"/>
            <a:ext cx="621792" cy="292608"/>
          </a:xfrm>
          <a:prstGeom prst="rect">
            <a:avLst/>
          </a:prstGeom>
          <a:noFill/>
          <a:ln/>
        </p:spPr>
        <p:txBody>
          <a:bodyPr wrap="square" lIns="0" tIns="0" rIns="0" bIns="0" rtlCol="0" anchor="ctr"/>
          <a:lstStyle/>
          <a:p>
            <a:pPr marL="0" indent="0" algn="ctr">
              <a:buNone/>
            </a:pPr>
            <a:r>
              <a:rPr lang="en-US" sz="1100" b="1" dirty="0">
                <a:solidFill>
                  <a:schemeClr val="bg1"/>
                </a:solidFill>
              </a:rPr>
              <a:t>M10</a:t>
            </a:r>
            <a:endParaRPr lang="en-US" sz="1100" dirty="0"/>
          </a:p>
        </p:txBody>
      </p:sp>
      <p:sp>
        <p:nvSpPr>
          <p:cNvPr id="16" name="txt-185"/>
          <p:cNvSpPr txBox="1"/>
          <p:nvPr/>
        </p:nvSpPr>
        <p:spPr>
          <a:xfrm>
            <a:off x="1536192" y="5522976"/>
            <a:ext cx="2453640" cy="365760"/>
          </a:xfrm>
          <a:prstGeom prst="rect">
            <a:avLst/>
          </a:prstGeom>
          <a:noFill/>
          <a:ln/>
        </p:spPr>
        <p:txBody>
          <a:bodyPr wrap="square" lIns="0" tIns="0" rIns="0" bIns="0" rtlCol="0" anchor="ctr"/>
          <a:lstStyle/>
          <a:p>
            <a:pPr marL="0" indent="0">
              <a:buNone/>
            </a:pPr>
            <a:r>
              <a:rPr lang="en-US" sz="1500" b="1" dirty="0">
                <a:solidFill>
                  <a:schemeClr val="tx1"/>
                </a:solidFill>
              </a:rPr>
              <a:t>Kitchen sensors</a:t>
            </a:r>
            <a:endParaRPr lang="en-US" sz="1500" dirty="0"/>
          </a:p>
        </p:txBody>
      </p:sp>
      <p:sp>
        <p:nvSpPr>
          <p:cNvPr id="17" name="txt-186"/>
          <p:cNvSpPr txBox="1"/>
          <p:nvPr/>
        </p:nvSpPr>
        <p:spPr>
          <a:xfrm>
            <a:off x="822960" y="5870448"/>
            <a:ext cx="3139440" cy="310896"/>
          </a:xfrm>
          <a:prstGeom prst="rect">
            <a:avLst/>
          </a:prstGeom>
          <a:noFill/>
          <a:ln/>
        </p:spPr>
        <p:txBody>
          <a:bodyPr wrap="square" lIns="0" tIns="0" rIns="0" bIns="0" rtlCol="0" anchor="t"/>
          <a:lstStyle/>
          <a:p>
            <a:pPr marL="0" indent="0">
              <a:buNone/>
            </a:pPr>
            <a:r>
              <a:rPr lang="en-US" sz="1200" dirty="0">
                <a:solidFill>
                  <a:schemeClr val="tx2"/>
                </a:solidFill>
              </a:rPr>
              <a:t>58.4 °C alert: fan switched on (simulated)</a:t>
            </a:r>
            <a:endParaRPr lang="en-US" sz="1200" dirty="0"/>
          </a:p>
        </p:txBody>
      </p:sp>
      <p:sp>
        <p:nvSpPr>
          <p:cNvPr id="18" name="card-187"/>
          <p:cNvSpPr/>
          <p:nvPr/>
        </p:nvSpPr>
        <p:spPr>
          <a:xfrm>
            <a:off x="4328160" y="1371600"/>
            <a:ext cx="3505200" cy="4846320"/>
          </a:xfrm>
          <a:prstGeom prst="roundRect">
            <a:avLst>
              <a:gd name="adj" fmla="val 3130"/>
            </a:avLst>
          </a:prstGeom>
          <a:solidFill>
            <a:schemeClr val="bg2"/>
          </a:solidFill>
          <a:ln/>
        </p:spPr>
      </p:sp>
      <p:pic>
        <p:nvPicPr>
          <p:cNvPr id="19" name="screen-188" descr="preencoded.png"/>
          <p:cNvPicPr>
            <a:picLocks noChangeAspect="1"/>
          </p:cNvPicPr>
          <p:nvPr/>
        </p:nvPicPr>
        <p:blipFill>
          <a:blip r:embed="rId4"/>
          <a:stretch>
            <a:fillRect/>
          </a:stretch>
        </p:blipFill>
        <p:spPr>
          <a:xfrm>
            <a:off x="5069019" y="1463040"/>
            <a:ext cx="2023483" cy="4069080"/>
          </a:xfrm>
          <a:prstGeom prst="rect">
            <a:avLst/>
          </a:prstGeom>
        </p:spPr>
      </p:pic>
      <p:sp>
        <p:nvSpPr>
          <p:cNvPr id="20" name="chip-189"/>
          <p:cNvSpPr/>
          <p:nvPr/>
        </p:nvSpPr>
        <p:spPr>
          <a:xfrm>
            <a:off x="4511040" y="5559552"/>
            <a:ext cx="621792" cy="292608"/>
          </a:xfrm>
          <a:prstGeom prst="roundRect">
            <a:avLst>
              <a:gd name="adj" fmla="val 50000"/>
            </a:avLst>
          </a:prstGeom>
          <a:solidFill>
            <a:schemeClr val="accent4"/>
          </a:solidFill>
          <a:ln/>
        </p:spPr>
      </p:sp>
      <p:sp>
        <p:nvSpPr>
          <p:cNvPr id="21" name="txt-190"/>
          <p:cNvSpPr txBox="1"/>
          <p:nvPr/>
        </p:nvSpPr>
        <p:spPr>
          <a:xfrm>
            <a:off x="4511040" y="5559552"/>
            <a:ext cx="621792" cy="292608"/>
          </a:xfrm>
          <a:prstGeom prst="rect">
            <a:avLst/>
          </a:prstGeom>
          <a:noFill/>
          <a:ln/>
        </p:spPr>
        <p:txBody>
          <a:bodyPr wrap="square" lIns="0" tIns="0" rIns="0" bIns="0" rtlCol="0" anchor="ctr"/>
          <a:lstStyle/>
          <a:p>
            <a:pPr marL="0" indent="0" algn="ctr">
              <a:buNone/>
            </a:pPr>
            <a:r>
              <a:rPr lang="en-US" sz="1100" b="1" dirty="0">
                <a:solidFill>
                  <a:schemeClr val="bg1"/>
                </a:solidFill>
              </a:rPr>
              <a:t>M13</a:t>
            </a:r>
            <a:endParaRPr lang="en-US" sz="1100" dirty="0"/>
          </a:p>
        </p:txBody>
      </p:sp>
      <p:sp>
        <p:nvSpPr>
          <p:cNvPr id="22" name="txt-191"/>
          <p:cNvSpPr txBox="1"/>
          <p:nvPr/>
        </p:nvSpPr>
        <p:spPr>
          <a:xfrm>
            <a:off x="5224272" y="5522976"/>
            <a:ext cx="2453640" cy="365760"/>
          </a:xfrm>
          <a:prstGeom prst="rect">
            <a:avLst/>
          </a:prstGeom>
          <a:noFill/>
          <a:ln/>
        </p:spPr>
        <p:txBody>
          <a:bodyPr wrap="square" lIns="0" tIns="0" rIns="0" bIns="0" rtlCol="0" anchor="ctr"/>
          <a:lstStyle/>
          <a:p>
            <a:pPr marL="0" indent="0">
              <a:buNone/>
            </a:pPr>
            <a:r>
              <a:rPr lang="en-US" sz="1500" b="1" dirty="0">
                <a:solidFill>
                  <a:schemeClr val="tx1"/>
                </a:solidFill>
              </a:rPr>
              <a:t>Energy meter</a:t>
            </a:r>
            <a:endParaRPr lang="en-US" sz="1500" dirty="0"/>
          </a:p>
        </p:txBody>
      </p:sp>
      <p:sp>
        <p:nvSpPr>
          <p:cNvPr id="23" name="txt-192"/>
          <p:cNvSpPr txBox="1"/>
          <p:nvPr/>
        </p:nvSpPr>
        <p:spPr>
          <a:xfrm>
            <a:off x="4511040" y="5870448"/>
            <a:ext cx="3139440" cy="310896"/>
          </a:xfrm>
          <a:prstGeom prst="rect">
            <a:avLst/>
          </a:prstGeom>
          <a:noFill/>
          <a:ln/>
        </p:spPr>
        <p:txBody>
          <a:bodyPr wrap="square" lIns="0" tIns="0" rIns="0" bIns="0" rtlCol="0" anchor="t"/>
          <a:lstStyle/>
          <a:p>
            <a:pPr marL="0" indent="0">
              <a:buNone/>
            </a:pPr>
            <a:r>
              <a:rPr lang="en-US" sz="1200" dirty="0">
                <a:solidFill>
                  <a:schemeClr val="tx2"/>
                </a:solidFill>
              </a:rPr>
              <a:t>26.70 kWh today costs ₹173.60</a:t>
            </a:r>
            <a:endParaRPr lang="en-US" sz="1200" dirty="0"/>
          </a:p>
        </p:txBody>
      </p:sp>
      <p:sp>
        <p:nvSpPr>
          <p:cNvPr id="24" name="card-193"/>
          <p:cNvSpPr/>
          <p:nvPr/>
        </p:nvSpPr>
        <p:spPr>
          <a:xfrm>
            <a:off x="8016240" y="1371600"/>
            <a:ext cx="3505200" cy="4846320"/>
          </a:xfrm>
          <a:prstGeom prst="roundRect">
            <a:avLst>
              <a:gd name="adj" fmla="val 3130"/>
            </a:avLst>
          </a:prstGeom>
          <a:solidFill>
            <a:schemeClr val="bg2"/>
          </a:solidFill>
          <a:ln/>
        </p:spPr>
      </p:sp>
      <p:pic>
        <p:nvPicPr>
          <p:cNvPr id="25" name="screen-194" descr="preencoded.png"/>
          <p:cNvPicPr>
            <a:picLocks noChangeAspect="1"/>
          </p:cNvPicPr>
          <p:nvPr/>
        </p:nvPicPr>
        <p:blipFill>
          <a:blip r:embed="rId5"/>
          <a:stretch>
            <a:fillRect/>
          </a:stretch>
        </p:blipFill>
        <p:spPr>
          <a:xfrm>
            <a:off x="8757099" y="1463040"/>
            <a:ext cx="2023483" cy="4069080"/>
          </a:xfrm>
          <a:prstGeom prst="rect">
            <a:avLst/>
          </a:prstGeom>
        </p:spPr>
      </p:pic>
      <p:sp>
        <p:nvSpPr>
          <p:cNvPr id="26" name="chip-195"/>
          <p:cNvSpPr/>
          <p:nvPr/>
        </p:nvSpPr>
        <p:spPr>
          <a:xfrm>
            <a:off x="8199120" y="5559552"/>
            <a:ext cx="621792" cy="292608"/>
          </a:xfrm>
          <a:prstGeom prst="roundRect">
            <a:avLst>
              <a:gd name="adj" fmla="val 50000"/>
            </a:avLst>
          </a:prstGeom>
          <a:solidFill>
            <a:schemeClr val="accent4"/>
          </a:solidFill>
          <a:ln/>
        </p:spPr>
      </p:sp>
      <p:sp>
        <p:nvSpPr>
          <p:cNvPr id="27" name="txt-196"/>
          <p:cNvSpPr txBox="1"/>
          <p:nvPr/>
        </p:nvSpPr>
        <p:spPr>
          <a:xfrm>
            <a:off x="8199120" y="5559552"/>
            <a:ext cx="621792" cy="292608"/>
          </a:xfrm>
          <a:prstGeom prst="rect">
            <a:avLst/>
          </a:prstGeom>
          <a:noFill/>
          <a:ln/>
        </p:spPr>
        <p:txBody>
          <a:bodyPr wrap="square" lIns="0" tIns="0" rIns="0" bIns="0" rtlCol="0" anchor="ctr"/>
          <a:lstStyle/>
          <a:p>
            <a:pPr marL="0" indent="0" algn="ctr">
              <a:buNone/>
            </a:pPr>
            <a:r>
              <a:rPr lang="en-US" sz="1100" b="1" dirty="0">
                <a:solidFill>
                  <a:schemeClr val="bg1"/>
                </a:solidFill>
              </a:rPr>
              <a:t>M08</a:t>
            </a:r>
            <a:endParaRPr lang="en-US" sz="1100" dirty="0"/>
          </a:p>
        </p:txBody>
      </p:sp>
      <p:sp>
        <p:nvSpPr>
          <p:cNvPr id="28" name="txt-197"/>
          <p:cNvSpPr txBox="1"/>
          <p:nvPr/>
        </p:nvSpPr>
        <p:spPr>
          <a:xfrm>
            <a:off x="8912352" y="5522976"/>
            <a:ext cx="2453640" cy="365760"/>
          </a:xfrm>
          <a:prstGeom prst="rect">
            <a:avLst/>
          </a:prstGeom>
          <a:noFill/>
          <a:ln/>
        </p:spPr>
        <p:txBody>
          <a:bodyPr wrap="square" lIns="0" tIns="0" rIns="0" bIns="0" rtlCol="0" anchor="ctr"/>
          <a:lstStyle/>
          <a:p>
            <a:pPr marL="0" indent="0">
              <a:buNone/>
            </a:pPr>
            <a:r>
              <a:rPr lang="en-US" sz="1500" b="1" dirty="0">
                <a:solidFill>
                  <a:schemeClr val="tx1"/>
                </a:solidFill>
              </a:rPr>
              <a:t>Daily report</a:t>
            </a:r>
            <a:endParaRPr lang="en-US" sz="1500" dirty="0"/>
          </a:p>
        </p:txBody>
      </p:sp>
      <p:sp>
        <p:nvSpPr>
          <p:cNvPr id="29" name="txt-198"/>
          <p:cNvSpPr txBox="1"/>
          <p:nvPr/>
        </p:nvSpPr>
        <p:spPr>
          <a:xfrm>
            <a:off x="8199120" y="5870448"/>
            <a:ext cx="3139440" cy="310896"/>
          </a:xfrm>
          <a:prstGeom prst="rect">
            <a:avLst/>
          </a:prstGeom>
          <a:noFill/>
          <a:ln/>
        </p:spPr>
        <p:txBody>
          <a:bodyPr wrap="square" lIns="0" tIns="0" rIns="0" bIns="0" rtlCol="0" anchor="t"/>
          <a:lstStyle/>
          <a:p>
            <a:pPr marL="0" indent="0">
              <a:buNone/>
            </a:pPr>
            <a:r>
              <a:rPr lang="en-US" sz="1200" dirty="0">
                <a:solidFill>
                  <a:schemeClr val="tx2"/>
                </a:solidFill>
              </a:rPr>
              <a:t>Revenue, top dishes, rating, alerts</a:t>
            </a:r>
            <a:endParaRPr lang="en-US" sz="1200" dirty="0"/>
          </a:p>
        </p:txBody>
      </p:sp>
      <p:sp>
        <p:nvSpPr>
          <p:cNvPr id="30" name="txt-199"/>
          <p:cNvSpPr txBox="1"/>
          <p:nvPr/>
        </p:nvSpPr>
        <p:spPr>
          <a:xfrm>
            <a:off x="6126480" y="6400800"/>
            <a:ext cx="5029200" cy="274320"/>
          </a:xfrm>
          <a:prstGeom prst="rect">
            <a:avLst/>
          </a:prstGeom>
          <a:noFill/>
          <a:ln/>
        </p:spPr>
        <p:txBody>
          <a:bodyPr wrap="square" lIns="0" tIns="0" rIns="0" bIns="0" rtlCol="0" anchor="ctr"/>
          <a:lstStyle/>
          <a:p>
            <a:pPr marL="0" indent="0" algn="r">
              <a:buNone/>
            </a:pPr>
            <a:r>
              <a:rPr lang="en-US" sz="1000" i="1" dirty="0">
                <a:solidFill>
                  <a:schemeClr val="tx2"/>
                </a:solidFill>
              </a:rPr>
              <a:t>Screens: app concept designs from the DineSync project document</a:t>
            </a:r>
            <a:endParaRPr lang="en-US" sz="1000" dirty="0"/>
          </a:p>
        </p:txBody>
      </p:sp>
      <p:sp>
        <p:nvSpPr>
          <p:cNvPr id="31" name="Slide Number Placeholder 0"/>
          <p:cNvSpPr>
            <a:spLocks noGrp="1"/>
          </p:cNvSpPr>
          <p:nvPr>
            <p:ph type="sldNum" sz="quarter" idx="4294967295"/>
          </p:nvPr>
        </p:nvSpPr>
        <p:spPr>
          <a:xfrm>
            <a:off x="1129284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74320"/>
          </a:xfrm>
          <a:prstGeom prst="rect">
            <a:avLst/>
          </a:prstGeom>
          <a:noFill/>
          <a:ln/>
        </p:spPr>
        <p:txBody>
          <a:bodyPr wrap="square" lIns="0" tIns="0" rIns="0" bIns="0" rtlCol="0"/>
          <a:lstStyle/>
          <a:p>
            <a:pPr marL="0" indent="0">
              <a:buNone/>
            </a:pPr>
            <a:r>
              <a:rPr lang="en-US" sz="1200" b="1" kern="0" spc="200" dirty="0">
                <a:solidFill>
                  <a:schemeClr val="accent1"/>
                </a:solidFill>
              </a:rPr>
              <a:t>ONE ORDER, END TO END</a:t>
            </a:r>
            <a:endParaRPr lang="en-US" sz="1200" dirty="0"/>
          </a:p>
        </p:txBody>
      </p:sp>
      <p:sp>
        <p:nvSpPr>
          <p:cNvPr id="3" name="Text 1"/>
          <p:cNvSpPr>
            <a:spLocks noGrp="1"/>
          </p:cNvSpPr>
          <p:nvPr>
            <p:ph type="title" idx="102" hasCustomPrompt="1"/>
          </p:nvPr>
        </p:nvSpPr>
        <p:spPr>
          <a:xfrm>
            <a:off x="548640" y="548640"/>
            <a:ext cx="11064240" cy="685800"/>
          </a:xfrm>
          <a:prstGeom prst="rect">
            <a:avLst/>
          </a:prstGeom>
          <a:noFill/>
          <a:ln/>
        </p:spPr>
        <p:txBody>
          <a:bodyPr wrap="square" lIns="0" tIns="0" rIns="0" bIns="0" rtlCol="0" anchor="ctr"/>
          <a:lstStyle/>
          <a:p>
            <a:pPr marL="0" indent="0" algn="l">
              <a:buNone/>
            </a:pPr>
            <a:r>
              <a:rPr lang="en-US" sz="3200" b="1" dirty="0">
                <a:solidFill>
                  <a:schemeClr val="tx1"/>
                </a:solidFill>
              </a:rPr>
              <a:t>Priya's visit: party of 5, veg only, 14th visit</a:t>
            </a:r>
            <a:endParaRPr lang="en-US" sz="3200" dirty="0"/>
          </a:p>
        </p:txBody>
      </p:sp>
      <p:sp>
        <p:nvSpPr>
          <p:cNvPr id="4" name="chev-200"/>
          <p:cNvSpPr/>
          <p:nvPr/>
        </p:nvSpPr>
        <p:spPr>
          <a:xfrm>
            <a:off x="548640" y="1417320"/>
            <a:ext cx="2194560" cy="594360"/>
          </a:xfrm>
          <a:prstGeom prst="homePlate">
            <a:avLst/>
          </a:prstGeom>
          <a:solidFill>
            <a:schemeClr val="accent1"/>
          </a:solidFill>
          <a:ln/>
        </p:spPr>
      </p:sp>
      <p:sp>
        <p:nvSpPr>
          <p:cNvPr id="5" name="txt-201"/>
          <p:cNvSpPr txBox="1"/>
          <p:nvPr/>
        </p:nvSpPr>
        <p:spPr>
          <a:xfrm>
            <a:off x="731520" y="1417320"/>
            <a:ext cx="1828800" cy="594360"/>
          </a:xfrm>
          <a:prstGeom prst="rect">
            <a:avLst/>
          </a:prstGeom>
          <a:noFill/>
          <a:ln/>
        </p:spPr>
        <p:txBody>
          <a:bodyPr wrap="square" lIns="0" tIns="0" rIns="0" bIns="0" rtlCol="0" anchor="ctr"/>
          <a:lstStyle/>
          <a:p>
            <a:pPr marL="0" indent="0" algn="ctr">
              <a:buNone/>
            </a:pPr>
            <a:r>
              <a:rPr lang="en-US" sz="1500" b="1" dirty="0">
                <a:solidFill>
                  <a:schemeClr val="bg1"/>
                </a:solidFill>
              </a:rPr>
              <a:t>PLACED</a:t>
            </a:r>
            <a:endParaRPr lang="en-US" sz="1500" dirty="0"/>
          </a:p>
        </p:txBody>
      </p:sp>
      <p:sp>
        <p:nvSpPr>
          <p:cNvPr id="6" name="chev-202"/>
          <p:cNvSpPr/>
          <p:nvPr/>
        </p:nvSpPr>
        <p:spPr>
          <a:xfrm>
            <a:off x="2788920" y="1417320"/>
            <a:ext cx="2194560" cy="594360"/>
          </a:xfrm>
          <a:prstGeom prst="chevron">
            <a:avLst/>
          </a:prstGeom>
          <a:solidFill>
            <a:schemeClr val="accent1"/>
          </a:solidFill>
          <a:ln/>
        </p:spPr>
      </p:sp>
      <p:sp>
        <p:nvSpPr>
          <p:cNvPr id="7" name="txt-203"/>
          <p:cNvSpPr txBox="1"/>
          <p:nvPr/>
        </p:nvSpPr>
        <p:spPr>
          <a:xfrm>
            <a:off x="2971800" y="1417320"/>
            <a:ext cx="1828800" cy="594360"/>
          </a:xfrm>
          <a:prstGeom prst="rect">
            <a:avLst/>
          </a:prstGeom>
          <a:noFill/>
          <a:ln/>
        </p:spPr>
        <p:txBody>
          <a:bodyPr wrap="square" lIns="0" tIns="0" rIns="0" bIns="0" rtlCol="0" anchor="ctr"/>
          <a:lstStyle/>
          <a:p>
            <a:pPr marL="0" indent="0" algn="ctr">
              <a:buNone/>
            </a:pPr>
            <a:r>
              <a:rPr lang="en-US" sz="1500" b="1" dirty="0">
                <a:solidFill>
                  <a:schemeClr val="bg1"/>
                </a:solidFill>
              </a:rPr>
              <a:t>PREPARING</a:t>
            </a:r>
            <a:endParaRPr lang="en-US" sz="1500" dirty="0"/>
          </a:p>
        </p:txBody>
      </p:sp>
      <p:sp>
        <p:nvSpPr>
          <p:cNvPr id="8" name="chev-204"/>
          <p:cNvSpPr/>
          <p:nvPr/>
        </p:nvSpPr>
        <p:spPr>
          <a:xfrm>
            <a:off x="5029200" y="1417320"/>
            <a:ext cx="2194560" cy="594360"/>
          </a:xfrm>
          <a:prstGeom prst="chevron">
            <a:avLst/>
          </a:prstGeom>
          <a:solidFill>
            <a:schemeClr val="accent1"/>
          </a:solidFill>
          <a:ln/>
        </p:spPr>
      </p:sp>
      <p:sp>
        <p:nvSpPr>
          <p:cNvPr id="9" name="txt-205"/>
          <p:cNvSpPr txBox="1"/>
          <p:nvPr/>
        </p:nvSpPr>
        <p:spPr>
          <a:xfrm>
            <a:off x="5212080" y="1417320"/>
            <a:ext cx="1828800" cy="594360"/>
          </a:xfrm>
          <a:prstGeom prst="rect">
            <a:avLst/>
          </a:prstGeom>
          <a:noFill/>
          <a:ln/>
        </p:spPr>
        <p:txBody>
          <a:bodyPr wrap="square" lIns="0" tIns="0" rIns="0" bIns="0" rtlCol="0" anchor="ctr"/>
          <a:lstStyle/>
          <a:p>
            <a:pPr marL="0" indent="0" algn="ctr">
              <a:buNone/>
            </a:pPr>
            <a:r>
              <a:rPr lang="en-US" sz="1500" b="1" dirty="0">
                <a:solidFill>
                  <a:schemeClr val="bg1"/>
                </a:solidFill>
              </a:rPr>
              <a:t>READY</a:t>
            </a:r>
            <a:endParaRPr lang="en-US" sz="1500" dirty="0"/>
          </a:p>
        </p:txBody>
      </p:sp>
      <p:sp>
        <p:nvSpPr>
          <p:cNvPr id="10" name="chev-206"/>
          <p:cNvSpPr/>
          <p:nvPr/>
        </p:nvSpPr>
        <p:spPr>
          <a:xfrm>
            <a:off x="7269480" y="1417320"/>
            <a:ext cx="2194560" cy="594360"/>
          </a:xfrm>
          <a:prstGeom prst="chevron">
            <a:avLst/>
          </a:prstGeom>
          <a:solidFill>
            <a:schemeClr val="accent1"/>
          </a:solidFill>
          <a:ln/>
        </p:spPr>
      </p:sp>
      <p:sp>
        <p:nvSpPr>
          <p:cNvPr id="11" name="txt-207"/>
          <p:cNvSpPr txBox="1"/>
          <p:nvPr/>
        </p:nvSpPr>
        <p:spPr>
          <a:xfrm>
            <a:off x="7452360" y="1417320"/>
            <a:ext cx="1828800" cy="594360"/>
          </a:xfrm>
          <a:prstGeom prst="rect">
            <a:avLst/>
          </a:prstGeom>
          <a:noFill/>
          <a:ln/>
        </p:spPr>
        <p:txBody>
          <a:bodyPr wrap="square" lIns="0" tIns="0" rIns="0" bIns="0" rtlCol="0" anchor="ctr"/>
          <a:lstStyle/>
          <a:p>
            <a:pPr marL="0" indent="0" algn="ctr">
              <a:buNone/>
            </a:pPr>
            <a:r>
              <a:rPr lang="en-US" sz="1500" b="1" dirty="0">
                <a:solidFill>
                  <a:schemeClr val="bg1"/>
                </a:solidFill>
              </a:rPr>
              <a:t>SERVED</a:t>
            </a:r>
            <a:endParaRPr lang="en-US" sz="1500" dirty="0"/>
          </a:p>
        </p:txBody>
      </p:sp>
      <p:sp>
        <p:nvSpPr>
          <p:cNvPr id="12" name="chev-208"/>
          <p:cNvSpPr/>
          <p:nvPr/>
        </p:nvSpPr>
        <p:spPr>
          <a:xfrm>
            <a:off x="9509760" y="1417320"/>
            <a:ext cx="2194560" cy="594360"/>
          </a:xfrm>
          <a:prstGeom prst="chevron">
            <a:avLst/>
          </a:prstGeom>
          <a:solidFill>
            <a:schemeClr val="accent3"/>
          </a:solidFill>
          <a:ln/>
        </p:spPr>
      </p:sp>
      <p:sp>
        <p:nvSpPr>
          <p:cNvPr id="13" name="txt-209"/>
          <p:cNvSpPr txBox="1"/>
          <p:nvPr/>
        </p:nvSpPr>
        <p:spPr>
          <a:xfrm>
            <a:off x="9692640" y="1417320"/>
            <a:ext cx="1828800" cy="594360"/>
          </a:xfrm>
          <a:prstGeom prst="rect">
            <a:avLst/>
          </a:prstGeom>
          <a:noFill/>
          <a:ln/>
        </p:spPr>
        <p:txBody>
          <a:bodyPr wrap="square" lIns="0" tIns="0" rIns="0" bIns="0" rtlCol="0" anchor="ctr"/>
          <a:lstStyle/>
          <a:p>
            <a:pPr marL="0" indent="0" algn="ctr">
              <a:buNone/>
            </a:pPr>
            <a:r>
              <a:rPr lang="en-US" sz="1500" b="1" dirty="0">
                <a:solidFill>
                  <a:schemeClr val="bg1"/>
                </a:solidFill>
              </a:rPr>
              <a:t>BILLED</a:t>
            </a:r>
            <a:endParaRPr lang="en-US" sz="1500" dirty="0"/>
          </a:p>
        </p:txBody>
      </p:sp>
      <p:sp>
        <p:nvSpPr>
          <p:cNvPr id="14" name="card-210"/>
          <p:cNvSpPr/>
          <p:nvPr/>
        </p:nvSpPr>
        <p:spPr>
          <a:xfrm>
            <a:off x="548640" y="2377440"/>
            <a:ext cx="2103120" cy="1828800"/>
          </a:xfrm>
          <a:prstGeom prst="roundRect">
            <a:avLst>
              <a:gd name="adj" fmla="val 6000"/>
            </a:avLst>
          </a:prstGeom>
          <a:solidFill>
            <a:schemeClr val="bg1"/>
          </a:solidFill>
          <a:ln w="12700">
            <a:solidFill>
              <a:srgbClr val="93C5FD"/>
            </a:solidFill>
            <a:prstDash val="solid"/>
          </a:ln>
          <a:effectLst>
            <a:outerShdw blurRad="76200" dist="25400" dir="5400000" algn="bl" rotWithShape="0">
              <a:srgbClr val="0B1B3A">
                <a:alpha val="12000"/>
              </a:srgbClr>
            </a:outerShdw>
          </a:effectLst>
        </p:spPr>
      </p:sp>
      <p:sp>
        <p:nvSpPr>
          <p:cNvPr id="15" name="txt-211"/>
          <p:cNvSpPr txBox="1"/>
          <p:nvPr/>
        </p:nvSpPr>
        <p:spPr>
          <a:xfrm>
            <a:off x="548640" y="2606040"/>
            <a:ext cx="2103120" cy="822960"/>
          </a:xfrm>
          <a:prstGeom prst="rect">
            <a:avLst/>
          </a:prstGeom>
          <a:noFill/>
          <a:ln/>
        </p:spPr>
        <p:txBody>
          <a:bodyPr wrap="square" lIns="0" tIns="0" rIns="0" bIns="0" rtlCol="0" anchor="ctr"/>
          <a:lstStyle/>
          <a:p>
            <a:pPr marL="0" indent="0" algn="ctr">
              <a:buNone/>
            </a:pPr>
            <a:r>
              <a:rPr lang="en-US" sz="3200" b="1" dirty="0">
                <a:solidFill>
                  <a:schemeClr val="accent1"/>
                </a:solidFill>
              </a:rPr>
              <a:t>T6</a:t>
            </a:r>
            <a:endParaRPr lang="en-US" sz="3200" dirty="0"/>
          </a:p>
        </p:txBody>
      </p:sp>
      <p:sp>
        <p:nvSpPr>
          <p:cNvPr id="16" name="txt-212"/>
          <p:cNvSpPr txBox="1"/>
          <p:nvPr/>
        </p:nvSpPr>
        <p:spPr>
          <a:xfrm>
            <a:off x="640080" y="3474720"/>
            <a:ext cx="1920240" cy="548640"/>
          </a:xfrm>
          <a:prstGeom prst="rect">
            <a:avLst/>
          </a:prstGeom>
          <a:noFill/>
          <a:ln/>
        </p:spPr>
        <p:txBody>
          <a:bodyPr wrap="square" lIns="0" tIns="0" rIns="0" bIns="0" rtlCol="0" anchor="t"/>
          <a:lstStyle/>
          <a:p>
            <a:pPr marL="0" indent="0" algn="ctr">
              <a:buNone/>
            </a:pPr>
            <a:r>
              <a:rPr lang="en-US" sz="1400" dirty="0">
                <a:solidFill>
                  <a:schemeClr val="tx1"/>
                </a:solidFill>
              </a:rPr>
              <a:t>Best-fit table</a:t>
            </a:r>
            <a:endParaRPr lang="en-US" sz="1400" dirty="0"/>
          </a:p>
        </p:txBody>
      </p:sp>
      <p:sp>
        <p:nvSpPr>
          <p:cNvPr id="17" name="card-213"/>
          <p:cNvSpPr/>
          <p:nvPr/>
        </p:nvSpPr>
        <p:spPr>
          <a:xfrm>
            <a:off x="2788920" y="2377440"/>
            <a:ext cx="2103120" cy="1828800"/>
          </a:xfrm>
          <a:prstGeom prst="roundRect">
            <a:avLst>
              <a:gd name="adj" fmla="val 6000"/>
            </a:avLst>
          </a:prstGeom>
          <a:solidFill>
            <a:schemeClr val="bg1"/>
          </a:solidFill>
          <a:ln w="12700">
            <a:solidFill>
              <a:srgbClr val="93C5FD"/>
            </a:solidFill>
            <a:prstDash val="solid"/>
          </a:ln>
          <a:effectLst>
            <a:outerShdw blurRad="76200" dist="25400" dir="5400000" algn="bl" rotWithShape="0">
              <a:srgbClr val="0B1B3A">
                <a:alpha val="12000"/>
              </a:srgbClr>
            </a:outerShdw>
          </a:effectLst>
        </p:spPr>
      </p:sp>
      <p:sp>
        <p:nvSpPr>
          <p:cNvPr id="18" name="txt-214"/>
          <p:cNvSpPr txBox="1"/>
          <p:nvPr/>
        </p:nvSpPr>
        <p:spPr>
          <a:xfrm>
            <a:off x="2788920" y="2606040"/>
            <a:ext cx="2103120" cy="822960"/>
          </a:xfrm>
          <a:prstGeom prst="rect">
            <a:avLst/>
          </a:prstGeom>
          <a:noFill/>
          <a:ln/>
        </p:spPr>
        <p:txBody>
          <a:bodyPr wrap="square" lIns="0" tIns="0" rIns="0" bIns="0" rtlCol="0" anchor="ctr"/>
          <a:lstStyle/>
          <a:p>
            <a:pPr marL="0" indent="0" algn="ctr">
              <a:buNone/>
            </a:pPr>
            <a:r>
              <a:rPr lang="en-US" sz="3200" b="1" dirty="0">
                <a:solidFill>
                  <a:schemeClr val="accent2"/>
                </a:solidFill>
              </a:rPr>
              <a:t>24 min</a:t>
            </a:r>
            <a:endParaRPr lang="en-US" sz="3200" dirty="0"/>
          </a:p>
        </p:txBody>
      </p:sp>
      <p:sp>
        <p:nvSpPr>
          <p:cNvPr id="19" name="txt-215"/>
          <p:cNvSpPr txBox="1"/>
          <p:nvPr/>
        </p:nvSpPr>
        <p:spPr>
          <a:xfrm>
            <a:off x="2880360" y="3474720"/>
            <a:ext cx="1920240" cy="548640"/>
          </a:xfrm>
          <a:prstGeom prst="rect">
            <a:avLst/>
          </a:prstGeom>
          <a:noFill/>
          <a:ln/>
        </p:spPr>
        <p:txBody>
          <a:bodyPr wrap="square" lIns="0" tIns="0" rIns="0" bIns="0" rtlCol="0" anchor="t"/>
          <a:lstStyle/>
          <a:p>
            <a:pPr marL="0" indent="0" algn="ctr">
              <a:buNone/>
            </a:pPr>
            <a:r>
              <a:rPr lang="en-US" sz="1400" dirty="0">
                <a:solidFill>
                  <a:schemeClr val="tx1"/>
                </a:solidFill>
              </a:rPr>
              <a:t>Kitchen ETA</a:t>
            </a:r>
            <a:endParaRPr lang="en-US" sz="1400" dirty="0"/>
          </a:p>
        </p:txBody>
      </p:sp>
      <p:sp>
        <p:nvSpPr>
          <p:cNvPr id="20" name="card-216"/>
          <p:cNvSpPr/>
          <p:nvPr/>
        </p:nvSpPr>
        <p:spPr>
          <a:xfrm>
            <a:off x="5029200" y="2377440"/>
            <a:ext cx="2103120" cy="1828800"/>
          </a:xfrm>
          <a:prstGeom prst="roundRect">
            <a:avLst>
              <a:gd name="adj" fmla="val 6000"/>
            </a:avLst>
          </a:prstGeom>
          <a:solidFill>
            <a:schemeClr val="bg1"/>
          </a:solidFill>
          <a:ln w="12700">
            <a:solidFill>
              <a:srgbClr val="93C5FD"/>
            </a:solidFill>
            <a:prstDash val="solid"/>
          </a:ln>
          <a:effectLst>
            <a:outerShdw blurRad="76200" dist="25400" dir="5400000" algn="bl" rotWithShape="0">
              <a:srgbClr val="0B1B3A">
                <a:alpha val="12000"/>
              </a:srgbClr>
            </a:outerShdw>
          </a:effectLst>
        </p:spPr>
      </p:sp>
      <p:sp>
        <p:nvSpPr>
          <p:cNvPr id="21" name="txt-217"/>
          <p:cNvSpPr txBox="1"/>
          <p:nvPr/>
        </p:nvSpPr>
        <p:spPr>
          <a:xfrm>
            <a:off x="5029200" y="2606040"/>
            <a:ext cx="2103120" cy="822960"/>
          </a:xfrm>
          <a:prstGeom prst="rect">
            <a:avLst/>
          </a:prstGeom>
          <a:noFill/>
          <a:ln/>
        </p:spPr>
        <p:txBody>
          <a:bodyPr wrap="square" lIns="0" tIns="0" rIns="0" bIns="0" rtlCol="0" anchor="ctr"/>
          <a:lstStyle/>
          <a:p>
            <a:pPr marL="0" indent="0" algn="ctr">
              <a:buNone/>
            </a:pPr>
            <a:r>
              <a:rPr lang="en-US" sz="3200" b="1" dirty="0">
                <a:solidFill>
                  <a:schemeClr val="accent4"/>
                </a:solidFill>
              </a:rPr>
              <a:t>58.4 °C</a:t>
            </a:r>
            <a:endParaRPr lang="en-US" sz="3200" dirty="0"/>
          </a:p>
        </p:txBody>
      </p:sp>
      <p:sp>
        <p:nvSpPr>
          <p:cNvPr id="22" name="txt-218"/>
          <p:cNvSpPr txBox="1"/>
          <p:nvPr/>
        </p:nvSpPr>
        <p:spPr>
          <a:xfrm>
            <a:off x="5120640" y="3474720"/>
            <a:ext cx="1920240" cy="548640"/>
          </a:xfrm>
          <a:prstGeom prst="rect">
            <a:avLst/>
          </a:prstGeom>
          <a:noFill/>
          <a:ln/>
        </p:spPr>
        <p:txBody>
          <a:bodyPr wrap="square" lIns="0" tIns="0" rIns="0" bIns="0" rtlCol="0" anchor="t"/>
          <a:lstStyle/>
          <a:p>
            <a:pPr marL="0" indent="0" algn="ctr">
              <a:buNone/>
            </a:pPr>
            <a:r>
              <a:rPr lang="en-US" sz="1400" dirty="0">
                <a:solidFill>
                  <a:schemeClr val="tx1"/>
                </a:solidFill>
              </a:rPr>
              <a:t>Overheat alert, fan on</a:t>
            </a:r>
            <a:endParaRPr lang="en-US" sz="1400" dirty="0"/>
          </a:p>
        </p:txBody>
      </p:sp>
      <p:sp>
        <p:nvSpPr>
          <p:cNvPr id="23" name="card-219"/>
          <p:cNvSpPr/>
          <p:nvPr/>
        </p:nvSpPr>
        <p:spPr>
          <a:xfrm>
            <a:off x="7269480" y="2377440"/>
            <a:ext cx="2103120" cy="1828800"/>
          </a:xfrm>
          <a:prstGeom prst="roundRect">
            <a:avLst>
              <a:gd name="adj" fmla="val 6000"/>
            </a:avLst>
          </a:prstGeom>
          <a:solidFill>
            <a:schemeClr val="bg1"/>
          </a:solidFill>
          <a:ln w="12700">
            <a:solidFill>
              <a:srgbClr val="93C5FD"/>
            </a:solidFill>
            <a:prstDash val="solid"/>
          </a:ln>
          <a:effectLst>
            <a:outerShdw blurRad="76200" dist="25400" dir="5400000" algn="bl" rotWithShape="0">
              <a:srgbClr val="0B1B3A">
                <a:alpha val="12000"/>
              </a:srgbClr>
            </a:outerShdw>
          </a:effectLst>
        </p:spPr>
      </p:sp>
      <p:sp>
        <p:nvSpPr>
          <p:cNvPr id="24" name="txt-220"/>
          <p:cNvSpPr txBox="1"/>
          <p:nvPr/>
        </p:nvSpPr>
        <p:spPr>
          <a:xfrm>
            <a:off x="7269480" y="2606040"/>
            <a:ext cx="2103120" cy="822960"/>
          </a:xfrm>
          <a:prstGeom prst="rect">
            <a:avLst/>
          </a:prstGeom>
          <a:noFill/>
          <a:ln/>
        </p:spPr>
        <p:txBody>
          <a:bodyPr wrap="square" lIns="0" tIns="0" rIns="0" bIns="0" rtlCol="0" anchor="ctr"/>
          <a:lstStyle/>
          <a:p>
            <a:pPr marL="0" indent="0" algn="ctr">
              <a:buNone/>
            </a:pPr>
            <a:r>
              <a:rPr lang="en-US" sz="3200" b="1" dirty="0">
                <a:solidFill>
                  <a:schemeClr val="accent3"/>
                </a:solidFill>
              </a:rPr>
              <a:t>₹869.40</a:t>
            </a:r>
            <a:endParaRPr lang="en-US" sz="3200" dirty="0"/>
          </a:p>
        </p:txBody>
      </p:sp>
      <p:sp>
        <p:nvSpPr>
          <p:cNvPr id="25" name="txt-221"/>
          <p:cNvSpPr txBox="1"/>
          <p:nvPr/>
        </p:nvSpPr>
        <p:spPr>
          <a:xfrm>
            <a:off x="7360920" y="3474720"/>
            <a:ext cx="1920240" cy="548640"/>
          </a:xfrm>
          <a:prstGeom prst="rect">
            <a:avLst/>
          </a:prstGeom>
          <a:noFill/>
          <a:ln/>
        </p:spPr>
        <p:txBody>
          <a:bodyPr wrap="square" lIns="0" tIns="0" rIns="0" bIns="0" rtlCol="0" anchor="t"/>
          <a:lstStyle/>
          <a:p>
            <a:pPr marL="0" indent="0" algn="ctr">
              <a:buNone/>
            </a:pPr>
            <a:r>
              <a:rPr lang="en-US" sz="1400" dirty="0">
                <a:solidFill>
                  <a:schemeClr val="tx1"/>
                </a:solidFill>
              </a:rPr>
              <a:t>After loyalty + GST</a:t>
            </a:r>
            <a:endParaRPr lang="en-US" sz="1400" dirty="0"/>
          </a:p>
        </p:txBody>
      </p:sp>
      <p:sp>
        <p:nvSpPr>
          <p:cNvPr id="26" name="card-222"/>
          <p:cNvSpPr/>
          <p:nvPr/>
        </p:nvSpPr>
        <p:spPr>
          <a:xfrm>
            <a:off x="9509760" y="2377440"/>
            <a:ext cx="2103120" cy="1828800"/>
          </a:xfrm>
          <a:prstGeom prst="roundRect">
            <a:avLst>
              <a:gd name="adj" fmla="val 6000"/>
            </a:avLst>
          </a:prstGeom>
          <a:solidFill>
            <a:schemeClr val="bg1"/>
          </a:solidFill>
          <a:ln w="12700">
            <a:solidFill>
              <a:srgbClr val="93C5FD"/>
            </a:solidFill>
            <a:prstDash val="solid"/>
          </a:ln>
          <a:effectLst>
            <a:outerShdw blurRad="76200" dist="25400" dir="5400000" algn="bl" rotWithShape="0">
              <a:srgbClr val="0B1B3A">
                <a:alpha val="12000"/>
              </a:srgbClr>
            </a:outerShdw>
          </a:effectLst>
        </p:spPr>
      </p:sp>
      <p:sp>
        <p:nvSpPr>
          <p:cNvPr id="27" name="txt-223"/>
          <p:cNvSpPr txBox="1"/>
          <p:nvPr/>
        </p:nvSpPr>
        <p:spPr>
          <a:xfrm>
            <a:off x="9509760" y="2606040"/>
            <a:ext cx="2103120" cy="822960"/>
          </a:xfrm>
          <a:prstGeom prst="rect">
            <a:avLst/>
          </a:prstGeom>
          <a:noFill/>
          <a:ln/>
        </p:spPr>
        <p:txBody>
          <a:bodyPr wrap="square" lIns="0" tIns="0" rIns="0" bIns="0" rtlCol="0" anchor="ctr"/>
          <a:lstStyle/>
          <a:p>
            <a:pPr marL="0" indent="0" algn="ctr">
              <a:buNone/>
            </a:pPr>
            <a:r>
              <a:rPr lang="en-US" sz="3200" b="1" dirty="0">
                <a:solidFill>
                  <a:schemeClr val="accent1"/>
                </a:solidFill>
              </a:rPr>
              <a:t>2001-9</a:t>
            </a:r>
            <a:endParaRPr lang="en-US" sz="3200" dirty="0"/>
          </a:p>
        </p:txBody>
      </p:sp>
      <p:sp>
        <p:nvSpPr>
          <p:cNvPr id="28" name="txt-224"/>
          <p:cNvSpPr txBox="1"/>
          <p:nvPr/>
        </p:nvSpPr>
        <p:spPr>
          <a:xfrm>
            <a:off x="9601200" y="3474720"/>
            <a:ext cx="1920240" cy="548640"/>
          </a:xfrm>
          <a:prstGeom prst="rect">
            <a:avLst/>
          </a:prstGeom>
          <a:noFill/>
          <a:ln/>
        </p:spPr>
        <p:txBody>
          <a:bodyPr wrap="square" lIns="0" tIns="0" rIns="0" bIns="0" rtlCol="0" anchor="t"/>
          <a:lstStyle/>
          <a:p>
            <a:pPr marL="0" indent="0" algn="ctr">
              <a:buNone/>
            </a:pPr>
            <a:r>
              <a:rPr lang="en-US" sz="1400" dirty="0">
                <a:solidFill>
                  <a:schemeClr val="tx1"/>
                </a:solidFill>
              </a:rPr>
              <a:t>Verified bill ID</a:t>
            </a:r>
            <a:endParaRPr lang="en-US" sz="1400" dirty="0"/>
          </a:p>
        </p:txBody>
      </p:sp>
      <p:sp>
        <p:nvSpPr>
          <p:cNvPr id="29" name="card-225"/>
          <p:cNvSpPr/>
          <p:nvPr/>
        </p:nvSpPr>
        <p:spPr>
          <a:xfrm>
            <a:off x="548640" y="4526280"/>
            <a:ext cx="11064240" cy="1691640"/>
          </a:xfrm>
          <a:prstGeom prst="roundRect">
            <a:avLst>
              <a:gd name="adj" fmla="val 6486"/>
            </a:avLst>
          </a:prstGeom>
          <a:solidFill>
            <a:schemeClr val="bg2"/>
          </a:solidFill>
          <a:ln/>
        </p:spPr>
      </p:sp>
      <p:sp>
        <p:nvSpPr>
          <p:cNvPr id="30" name="txt-226"/>
          <p:cNvSpPr txBox="1"/>
          <p:nvPr/>
        </p:nvSpPr>
        <p:spPr>
          <a:xfrm>
            <a:off x="822960" y="4663440"/>
            <a:ext cx="3657600" cy="320040"/>
          </a:xfrm>
          <a:prstGeom prst="rect">
            <a:avLst/>
          </a:prstGeom>
          <a:noFill/>
          <a:ln/>
        </p:spPr>
        <p:txBody>
          <a:bodyPr wrap="square" lIns="0" tIns="0" rIns="0" bIns="0" rtlCol="0" anchor="ctr"/>
          <a:lstStyle/>
          <a:p>
            <a:pPr marL="0" indent="0">
              <a:buNone/>
            </a:pPr>
            <a:r>
              <a:rPr lang="en-US" sz="1400" b="1" dirty="0">
                <a:solidFill>
                  <a:schemeClr val="tx2"/>
                </a:solidFill>
              </a:rPr>
              <a:t>Bill breakdown</a:t>
            </a:r>
            <a:endParaRPr lang="en-US" sz="1400" dirty="0"/>
          </a:p>
        </p:txBody>
      </p:sp>
      <p:sp>
        <p:nvSpPr>
          <p:cNvPr id="31" name="txt-227"/>
          <p:cNvSpPr txBox="1"/>
          <p:nvPr/>
        </p:nvSpPr>
        <p:spPr>
          <a:xfrm>
            <a:off x="822960" y="5029200"/>
            <a:ext cx="2011680" cy="548640"/>
          </a:xfrm>
          <a:prstGeom prst="rect">
            <a:avLst/>
          </a:prstGeom>
          <a:noFill/>
          <a:ln/>
        </p:spPr>
        <p:txBody>
          <a:bodyPr wrap="square" lIns="0" tIns="0" rIns="0" bIns="0" rtlCol="0" anchor="ctr"/>
          <a:lstStyle/>
          <a:p>
            <a:pPr marL="0" indent="0">
              <a:buNone/>
            </a:pPr>
            <a:r>
              <a:rPr lang="en-US" sz="2400" b="1" dirty="0">
                <a:solidFill>
                  <a:schemeClr val="tx1"/>
                </a:solidFill>
              </a:rPr>
              <a:t>₹920.00</a:t>
            </a:r>
            <a:endParaRPr lang="en-US" sz="2400" dirty="0"/>
          </a:p>
        </p:txBody>
      </p:sp>
      <p:sp>
        <p:nvSpPr>
          <p:cNvPr id="32" name="txt-228"/>
          <p:cNvSpPr txBox="1"/>
          <p:nvPr/>
        </p:nvSpPr>
        <p:spPr>
          <a:xfrm>
            <a:off x="822960" y="5577840"/>
            <a:ext cx="2011680" cy="365760"/>
          </a:xfrm>
          <a:prstGeom prst="rect">
            <a:avLst/>
          </a:prstGeom>
          <a:noFill/>
          <a:ln/>
        </p:spPr>
        <p:txBody>
          <a:bodyPr wrap="square" lIns="0" tIns="0" rIns="0" bIns="0" rtlCol="0" anchor="ctr"/>
          <a:lstStyle/>
          <a:p>
            <a:pPr marL="0" indent="0">
              <a:buNone/>
            </a:pPr>
            <a:r>
              <a:rPr lang="en-US" sz="1300" dirty="0">
                <a:solidFill>
                  <a:schemeClr val="tx2"/>
                </a:solidFill>
              </a:rPr>
              <a:t>item total</a:t>
            </a:r>
            <a:endParaRPr lang="en-US" sz="1300" dirty="0"/>
          </a:p>
        </p:txBody>
      </p:sp>
      <p:sp>
        <p:nvSpPr>
          <p:cNvPr id="33" name="txt-229"/>
          <p:cNvSpPr txBox="1"/>
          <p:nvPr/>
        </p:nvSpPr>
        <p:spPr>
          <a:xfrm>
            <a:off x="2971800" y="5029200"/>
            <a:ext cx="2011680" cy="548640"/>
          </a:xfrm>
          <a:prstGeom prst="rect">
            <a:avLst/>
          </a:prstGeom>
          <a:noFill/>
          <a:ln/>
        </p:spPr>
        <p:txBody>
          <a:bodyPr wrap="square" lIns="0" tIns="0" rIns="0" bIns="0" rtlCol="0" anchor="ctr"/>
          <a:lstStyle/>
          <a:p>
            <a:pPr marL="0" indent="0">
              <a:buNone/>
            </a:pPr>
            <a:r>
              <a:rPr lang="en-US" sz="2400" b="1" dirty="0">
                <a:solidFill>
                  <a:schemeClr val="tx1"/>
                </a:solidFill>
              </a:rPr>
              <a:t>− ₹92.00</a:t>
            </a:r>
            <a:endParaRPr lang="en-US" sz="2400" dirty="0"/>
          </a:p>
        </p:txBody>
      </p:sp>
      <p:sp>
        <p:nvSpPr>
          <p:cNvPr id="34" name="txt-230"/>
          <p:cNvSpPr txBox="1"/>
          <p:nvPr/>
        </p:nvSpPr>
        <p:spPr>
          <a:xfrm>
            <a:off x="2971800" y="5577840"/>
            <a:ext cx="2011680" cy="365760"/>
          </a:xfrm>
          <a:prstGeom prst="rect">
            <a:avLst/>
          </a:prstGeom>
          <a:noFill/>
          <a:ln/>
        </p:spPr>
        <p:txBody>
          <a:bodyPr wrap="square" lIns="0" tIns="0" rIns="0" bIns="0" rtlCol="0" anchor="ctr"/>
          <a:lstStyle/>
          <a:p>
            <a:pPr marL="0" indent="0">
              <a:buNone/>
            </a:pPr>
            <a:r>
              <a:rPr lang="en-US" sz="1300" dirty="0">
                <a:solidFill>
                  <a:schemeClr val="tx2"/>
                </a:solidFill>
              </a:rPr>
              <a:t>loyalty 10%</a:t>
            </a:r>
            <a:endParaRPr lang="en-US" sz="1300" dirty="0"/>
          </a:p>
        </p:txBody>
      </p:sp>
      <p:sp>
        <p:nvSpPr>
          <p:cNvPr id="35" name="txt-231"/>
          <p:cNvSpPr txBox="1"/>
          <p:nvPr/>
        </p:nvSpPr>
        <p:spPr>
          <a:xfrm>
            <a:off x="5120640" y="5029200"/>
            <a:ext cx="2011680" cy="548640"/>
          </a:xfrm>
          <a:prstGeom prst="rect">
            <a:avLst/>
          </a:prstGeom>
          <a:noFill/>
          <a:ln/>
        </p:spPr>
        <p:txBody>
          <a:bodyPr wrap="square" lIns="0" tIns="0" rIns="0" bIns="0" rtlCol="0" anchor="ctr"/>
          <a:lstStyle/>
          <a:p>
            <a:pPr marL="0" indent="0">
              <a:buNone/>
            </a:pPr>
            <a:r>
              <a:rPr lang="en-US" sz="2400" b="1" dirty="0">
                <a:solidFill>
                  <a:schemeClr val="tx1"/>
                </a:solidFill>
              </a:rPr>
              <a:t>+ ₹41.40</a:t>
            </a:r>
            <a:endParaRPr lang="en-US" sz="2400" dirty="0"/>
          </a:p>
        </p:txBody>
      </p:sp>
      <p:sp>
        <p:nvSpPr>
          <p:cNvPr id="36" name="txt-232"/>
          <p:cNvSpPr txBox="1"/>
          <p:nvPr/>
        </p:nvSpPr>
        <p:spPr>
          <a:xfrm>
            <a:off x="5120640" y="5577840"/>
            <a:ext cx="2011680" cy="365760"/>
          </a:xfrm>
          <a:prstGeom prst="rect">
            <a:avLst/>
          </a:prstGeom>
          <a:noFill/>
          <a:ln/>
        </p:spPr>
        <p:txBody>
          <a:bodyPr wrap="square" lIns="0" tIns="0" rIns="0" bIns="0" rtlCol="0" anchor="ctr"/>
          <a:lstStyle/>
          <a:p>
            <a:pPr marL="0" indent="0">
              <a:buNone/>
            </a:pPr>
            <a:r>
              <a:rPr lang="en-US" sz="1300" dirty="0">
                <a:solidFill>
                  <a:schemeClr val="tx2"/>
                </a:solidFill>
              </a:rPr>
              <a:t>CGST + SGST</a:t>
            </a:r>
            <a:endParaRPr lang="en-US" sz="1300" dirty="0"/>
          </a:p>
        </p:txBody>
      </p:sp>
      <p:sp>
        <p:nvSpPr>
          <p:cNvPr id="37" name="txt-233"/>
          <p:cNvSpPr txBox="1"/>
          <p:nvPr/>
        </p:nvSpPr>
        <p:spPr>
          <a:xfrm>
            <a:off x="7269480" y="5029200"/>
            <a:ext cx="2011680" cy="548640"/>
          </a:xfrm>
          <a:prstGeom prst="rect">
            <a:avLst/>
          </a:prstGeom>
          <a:noFill/>
          <a:ln/>
        </p:spPr>
        <p:txBody>
          <a:bodyPr wrap="square" lIns="0" tIns="0" rIns="0" bIns="0" rtlCol="0" anchor="ctr"/>
          <a:lstStyle/>
          <a:p>
            <a:pPr marL="0" indent="0">
              <a:buNone/>
            </a:pPr>
            <a:r>
              <a:rPr lang="en-US" sz="2400" b="1" dirty="0">
                <a:solidFill>
                  <a:schemeClr val="accent3"/>
                </a:solidFill>
              </a:rPr>
              <a:t>= ₹869.40</a:t>
            </a:r>
            <a:endParaRPr lang="en-US" sz="2400" dirty="0"/>
          </a:p>
        </p:txBody>
      </p:sp>
      <p:sp>
        <p:nvSpPr>
          <p:cNvPr id="38" name="txt-234"/>
          <p:cNvSpPr txBox="1"/>
          <p:nvPr/>
        </p:nvSpPr>
        <p:spPr>
          <a:xfrm>
            <a:off x="7269480" y="5577840"/>
            <a:ext cx="2011680" cy="365760"/>
          </a:xfrm>
          <a:prstGeom prst="rect">
            <a:avLst/>
          </a:prstGeom>
          <a:noFill/>
          <a:ln/>
        </p:spPr>
        <p:txBody>
          <a:bodyPr wrap="square" lIns="0" tIns="0" rIns="0" bIns="0" rtlCol="0" anchor="ctr"/>
          <a:lstStyle/>
          <a:p>
            <a:pPr marL="0" indent="0">
              <a:buNone/>
            </a:pPr>
            <a:r>
              <a:rPr lang="en-US" sz="1300" dirty="0">
                <a:solidFill>
                  <a:schemeClr val="tx2"/>
                </a:solidFill>
              </a:rPr>
              <a:t>grand total</a:t>
            </a:r>
            <a:endParaRPr lang="en-US" sz="1300" dirty="0"/>
          </a:p>
        </p:txBody>
      </p:sp>
      <p:sp>
        <p:nvSpPr>
          <p:cNvPr id="39" name="txt-235"/>
          <p:cNvSpPr txBox="1"/>
          <p:nvPr/>
        </p:nvSpPr>
        <p:spPr>
          <a:xfrm>
            <a:off x="9418320" y="5029200"/>
            <a:ext cx="2011680" cy="548640"/>
          </a:xfrm>
          <a:prstGeom prst="rect">
            <a:avLst/>
          </a:prstGeom>
          <a:noFill/>
          <a:ln/>
        </p:spPr>
        <p:txBody>
          <a:bodyPr wrap="square" lIns="0" tIns="0" rIns="0" bIns="0" rtlCol="0" anchor="ctr"/>
          <a:lstStyle/>
          <a:p>
            <a:pPr marL="0" indent="0">
              <a:buNone/>
            </a:pPr>
            <a:r>
              <a:rPr lang="en-US" sz="2400" b="1" dirty="0">
                <a:solidFill>
                  <a:schemeClr val="tx1"/>
                </a:solidFill>
              </a:rPr>
              <a:t>₹30.60</a:t>
            </a:r>
            <a:endParaRPr lang="en-US" sz="2400" dirty="0"/>
          </a:p>
        </p:txBody>
      </p:sp>
      <p:sp>
        <p:nvSpPr>
          <p:cNvPr id="40" name="txt-236"/>
          <p:cNvSpPr txBox="1"/>
          <p:nvPr/>
        </p:nvSpPr>
        <p:spPr>
          <a:xfrm>
            <a:off x="9418320" y="5577840"/>
            <a:ext cx="2011680" cy="365760"/>
          </a:xfrm>
          <a:prstGeom prst="rect">
            <a:avLst/>
          </a:prstGeom>
          <a:noFill/>
          <a:ln/>
        </p:spPr>
        <p:txBody>
          <a:bodyPr wrap="square" lIns="0" tIns="0" rIns="0" bIns="0" rtlCol="0" anchor="ctr"/>
          <a:lstStyle/>
          <a:p>
            <a:pPr marL="0" indent="0">
              <a:buNone/>
            </a:pPr>
            <a:r>
              <a:rPr lang="en-US" sz="1300" dirty="0">
                <a:solidFill>
                  <a:schemeClr val="tx2"/>
                </a:solidFill>
              </a:rPr>
              <a:t>change from ₹900</a:t>
            </a:r>
            <a:endParaRPr lang="en-US" sz="1300" dirty="0"/>
          </a:p>
        </p:txBody>
      </p:sp>
      <p:sp>
        <p:nvSpPr>
          <p:cNvPr id="41" name="Slide Number Placeholder 0"/>
          <p:cNvSpPr>
            <a:spLocks noGrp="1"/>
          </p:cNvSpPr>
          <p:nvPr>
            <p:ph type="sldNum" sz="quarter" idx="4294967295"/>
          </p:nvPr>
        </p:nvSpPr>
        <p:spPr>
          <a:xfrm>
            <a:off x="1129284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1"/>
          </p:nvPr>
        </p:nvSpPr>
        <p:spPr/>
        <p:txBody>
          <a:bodyPr/>
          <a:lstStyle/>
          <a:p>
            <a:r>
              <a:t>JAVA CONCEPTS</a:t>
            </a:r>
          </a:p>
        </p:txBody>
      </p:sp>
      <p:sp>
        <p:nvSpPr>
          <p:cNvPr id="3" name="Title 2"/>
          <p:cNvSpPr>
            <a:spLocks noGrp="1"/>
          </p:cNvSpPr>
          <p:nvPr>
            <p:ph type="title" idx="102"/>
          </p:nvPr>
        </p:nvSpPr>
        <p:spPr/>
        <p:txBody>
          <a:bodyPr/>
          <a:lstStyle/>
          <a:p>
            <a:r>
              <a:t>Every concept points to real code</a:t>
            </a:r>
          </a:p>
        </p:txBody>
      </p:sp>
      <p:sp>
        <p:nvSpPr>
          <p:cNvPr id="4" name="Rounded Rectangle 3"/>
          <p:cNvSpPr/>
          <p:nvPr/>
        </p:nvSpPr>
        <p:spPr>
          <a:xfrm>
            <a:off x="548640" y="1463040"/>
            <a:ext cx="2670048" cy="457200"/>
          </a:xfrm>
          <a:prstGeom prst="roundRect">
            <a:avLst>
              <a:gd name="adj" fmla="val 15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685800" y="1463040"/>
            <a:ext cx="2468880" cy="457200"/>
          </a:xfrm>
          <a:prstGeom prst="rect">
            <a:avLst/>
          </a:prstGeom>
          <a:noFill/>
        </p:spPr>
        <p:txBody>
          <a:bodyPr wrap="square" lIns="0" tIns="0" rIns="0" bIns="0" anchor="ctr">
            <a:spAutoFit/>
          </a:bodyPr>
          <a:lstStyle/>
          <a:p>
            <a:pPr algn="l"/>
            <a:r>
              <a:rPr sz="1400" b="1" i="0">
                <a:solidFill>
                  <a:schemeClr val="bg1"/>
                </a:solidFill>
              </a:rPr>
              <a:t>Java fundamentals</a:t>
            </a:r>
          </a:p>
        </p:txBody>
      </p:sp>
      <p:sp>
        <p:nvSpPr>
          <p:cNvPr id="6" name="Rounded Rectangle 5"/>
          <p:cNvSpPr/>
          <p:nvPr/>
        </p:nvSpPr>
        <p:spPr>
          <a:xfrm>
            <a:off x="548640" y="2029968"/>
            <a:ext cx="2670048" cy="7315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685800" y="2029968"/>
            <a:ext cx="2468880" cy="731520"/>
          </a:xfrm>
          <a:prstGeom prst="rect">
            <a:avLst/>
          </a:prstGeom>
          <a:noFill/>
        </p:spPr>
        <p:txBody>
          <a:bodyPr wrap="square" lIns="0" tIns="0" rIns="0" bIns="0" anchor="ctr">
            <a:spAutoFit/>
          </a:bodyPr>
          <a:lstStyle/>
          <a:p>
            <a:pPr algn="l"/>
            <a:r>
              <a:rPr sz="1200" b="1" i="0">
                <a:solidFill>
                  <a:schemeClr val="tx1"/>
                </a:solidFill>
              </a:rPr>
              <a:t>✓ Data types, operators, bitwise</a:t>
            </a:r>
          </a:p>
          <a:p>
            <a:pPr algn="l"/>
            <a:r>
              <a:rPr sz="1000" b="0" i="0">
                <a:solidFill>
                  <a:schemeClr val="tx2"/>
                </a:solidFill>
                <a:latin typeface="Courier New"/>
              </a:rPr>
              <a:t>TableRegister.allocate</a:t>
            </a:r>
          </a:p>
        </p:txBody>
      </p:sp>
      <p:sp>
        <p:nvSpPr>
          <p:cNvPr id="8" name="Rounded Rectangle 7"/>
          <p:cNvSpPr/>
          <p:nvPr/>
        </p:nvSpPr>
        <p:spPr>
          <a:xfrm>
            <a:off x="548640" y="2852928"/>
            <a:ext cx="2670048" cy="7315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685800" y="2852928"/>
            <a:ext cx="2468880" cy="731520"/>
          </a:xfrm>
          <a:prstGeom prst="rect">
            <a:avLst/>
          </a:prstGeom>
          <a:noFill/>
        </p:spPr>
        <p:txBody>
          <a:bodyPr wrap="square" lIns="0" tIns="0" rIns="0" bIns="0" anchor="ctr">
            <a:spAutoFit/>
          </a:bodyPr>
          <a:lstStyle/>
          <a:p>
            <a:pPr algn="l"/>
            <a:r>
              <a:rPr sz="1200" b="1" i="0">
                <a:solidFill>
                  <a:schemeClr val="tx1"/>
                </a:solidFill>
              </a:rPr>
              <a:t>✓ Scanner, console I/O</a:t>
            </a:r>
          </a:p>
          <a:p>
            <a:pPr algn="l"/>
            <a:r>
              <a:rPr sz="1000" b="0" i="0">
                <a:solidFill>
                  <a:schemeClr val="tx2"/>
                </a:solidFill>
                <a:latin typeface="Courier New"/>
              </a:rPr>
              <a:t>Main.main, InputHelper</a:t>
            </a:r>
          </a:p>
        </p:txBody>
      </p:sp>
      <p:sp>
        <p:nvSpPr>
          <p:cNvPr id="10" name="Rounded Rectangle 9"/>
          <p:cNvSpPr/>
          <p:nvPr/>
        </p:nvSpPr>
        <p:spPr>
          <a:xfrm>
            <a:off x="548640" y="3675888"/>
            <a:ext cx="2670048" cy="7315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685800" y="3675888"/>
            <a:ext cx="2468880" cy="731520"/>
          </a:xfrm>
          <a:prstGeom prst="rect">
            <a:avLst/>
          </a:prstGeom>
          <a:noFill/>
        </p:spPr>
        <p:txBody>
          <a:bodyPr wrap="square" lIns="0" tIns="0" rIns="0" bIns="0" anchor="ctr">
            <a:spAutoFit/>
          </a:bodyPr>
          <a:lstStyle/>
          <a:p>
            <a:pPr algn="l"/>
            <a:r>
              <a:rPr sz="1200" b="1" i="0">
                <a:solidFill>
                  <a:schemeClr val="tx1"/>
                </a:solidFill>
              </a:rPr>
              <a:t>✓ if / switch / loops</a:t>
            </a:r>
          </a:p>
          <a:p>
            <a:pPr algn="l"/>
            <a:r>
              <a:rPr sz="1000" b="0" i="0">
                <a:solidFill>
                  <a:schemeClr val="tx2"/>
                </a:solidFill>
                <a:latin typeface="Courier New"/>
              </a:rPr>
              <a:t>Main menus, loginScreen</a:t>
            </a:r>
          </a:p>
        </p:txBody>
      </p:sp>
      <p:sp>
        <p:nvSpPr>
          <p:cNvPr id="12" name="Rounded Rectangle 11"/>
          <p:cNvSpPr/>
          <p:nvPr/>
        </p:nvSpPr>
        <p:spPr>
          <a:xfrm>
            <a:off x="548640" y="4498848"/>
            <a:ext cx="2670048" cy="7315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85800" y="4498848"/>
            <a:ext cx="2468880" cy="731520"/>
          </a:xfrm>
          <a:prstGeom prst="rect">
            <a:avLst/>
          </a:prstGeom>
          <a:noFill/>
        </p:spPr>
        <p:txBody>
          <a:bodyPr wrap="square" lIns="0" tIns="0" rIns="0" bIns="0" anchor="ctr">
            <a:spAutoFit/>
          </a:bodyPr>
          <a:lstStyle/>
          <a:p>
            <a:pPr algn="l"/>
            <a:r>
              <a:rPr sz="1200" b="1" i="0">
                <a:solidFill>
                  <a:schemeClr val="tx1"/>
                </a:solidFill>
              </a:rPr>
              <a:t>✓ Type casting</a:t>
            </a:r>
          </a:p>
          <a:p>
            <a:pPr algn="l"/>
            <a:r>
              <a:rPr sz="1000" b="0" i="0">
                <a:solidFill>
                  <a:schemeClr val="tx2"/>
                </a:solidFill>
                <a:latin typeface="Courier New"/>
              </a:rPr>
              <a:t>getAverageRating</a:t>
            </a:r>
          </a:p>
        </p:txBody>
      </p:sp>
      <p:sp>
        <p:nvSpPr>
          <p:cNvPr id="14" name="Rounded Rectangle 13"/>
          <p:cNvSpPr/>
          <p:nvPr/>
        </p:nvSpPr>
        <p:spPr>
          <a:xfrm>
            <a:off x="3355848" y="1463040"/>
            <a:ext cx="2670048" cy="457200"/>
          </a:xfrm>
          <a:prstGeom prst="roundRect">
            <a:avLst>
              <a:gd name="adj" fmla="val 15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3493008" y="1463040"/>
            <a:ext cx="2468880" cy="457200"/>
          </a:xfrm>
          <a:prstGeom prst="rect">
            <a:avLst/>
          </a:prstGeom>
          <a:noFill/>
        </p:spPr>
        <p:txBody>
          <a:bodyPr wrap="square" lIns="0" tIns="0" rIns="0" bIns="0" anchor="ctr">
            <a:spAutoFit/>
          </a:bodyPr>
          <a:lstStyle/>
          <a:p>
            <a:pPr algn="l"/>
            <a:r>
              <a:rPr sz="1400" b="1" i="0">
                <a:solidFill>
                  <a:schemeClr val="bg1"/>
                </a:solidFill>
              </a:rPr>
              <a:t>Methods and arrays</a:t>
            </a:r>
          </a:p>
        </p:txBody>
      </p:sp>
      <p:sp>
        <p:nvSpPr>
          <p:cNvPr id="16" name="Rounded Rectangle 15"/>
          <p:cNvSpPr/>
          <p:nvPr/>
        </p:nvSpPr>
        <p:spPr>
          <a:xfrm>
            <a:off x="3355848" y="2029968"/>
            <a:ext cx="2670048" cy="7315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3493008" y="2029968"/>
            <a:ext cx="2468880" cy="731520"/>
          </a:xfrm>
          <a:prstGeom prst="rect">
            <a:avLst/>
          </a:prstGeom>
          <a:noFill/>
        </p:spPr>
        <p:txBody>
          <a:bodyPr wrap="square" lIns="0" tIns="0" rIns="0" bIns="0" anchor="ctr">
            <a:spAutoFit/>
          </a:bodyPr>
          <a:lstStyle/>
          <a:p>
            <a:pPr algn="l"/>
            <a:r>
              <a:rPr sz="1200" b="1" i="0">
                <a:solidFill>
                  <a:schemeClr val="tx1"/>
                </a:solidFill>
              </a:rPr>
              <a:t>✓ User-defined methods</a:t>
            </a:r>
          </a:p>
          <a:p>
            <a:pPr algn="l"/>
            <a:r>
              <a:rPr sz="1000" b="0" i="0">
                <a:solidFill>
                  <a:schemeClr val="tx2"/>
                </a:solidFill>
                <a:latin typeface="Courier New"/>
              </a:rPr>
              <a:t>calculateEta, checkDigit</a:t>
            </a:r>
          </a:p>
        </p:txBody>
      </p:sp>
      <p:sp>
        <p:nvSpPr>
          <p:cNvPr id="18" name="Rounded Rectangle 17"/>
          <p:cNvSpPr/>
          <p:nvPr/>
        </p:nvSpPr>
        <p:spPr>
          <a:xfrm>
            <a:off x="3355848" y="2852928"/>
            <a:ext cx="2670048" cy="7315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3493008" y="2852928"/>
            <a:ext cx="2468880" cy="731520"/>
          </a:xfrm>
          <a:prstGeom prst="rect">
            <a:avLst/>
          </a:prstGeom>
          <a:noFill/>
        </p:spPr>
        <p:txBody>
          <a:bodyPr wrap="square" lIns="0" tIns="0" rIns="0" bIns="0" anchor="ctr">
            <a:spAutoFit/>
          </a:bodyPr>
          <a:lstStyle/>
          <a:p>
            <a:pPr algn="l"/>
            <a:r>
              <a:rPr sz="1200" b="1" i="0">
                <a:solidFill>
                  <a:schemeClr val="tx1"/>
                </a:solidFill>
              </a:rPr>
              <a:t>✓ Recursion</a:t>
            </a:r>
          </a:p>
          <a:p>
            <a:pPr algn="l"/>
            <a:r>
              <a:rPr sz="1000" b="0" i="0">
                <a:solidFill>
                  <a:schemeClr val="tx2"/>
                </a:solidFill>
                <a:latin typeface="Courier New"/>
              </a:rPr>
              <a:t>weightedSum</a:t>
            </a:r>
          </a:p>
        </p:txBody>
      </p:sp>
      <p:sp>
        <p:nvSpPr>
          <p:cNvPr id="20" name="Rounded Rectangle 19"/>
          <p:cNvSpPr/>
          <p:nvPr/>
        </p:nvSpPr>
        <p:spPr>
          <a:xfrm>
            <a:off x="3355848" y="3675888"/>
            <a:ext cx="2670048" cy="7315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3493008" y="3675888"/>
            <a:ext cx="2468880" cy="731520"/>
          </a:xfrm>
          <a:prstGeom prst="rect">
            <a:avLst/>
          </a:prstGeom>
          <a:noFill/>
        </p:spPr>
        <p:txBody>
          <a:bodyPr wrap="square" lIns="0" tIns="0" rIns="0" bIns="0" anchor="ctr">
            <a:spAutoFit/>
          </a:bodyPr>
          <a:lstStyle/>
          <a:p>
            <a:pPr algn="l"/>
            <a:r>
              <a:rPr sz="1200" b="1" i="0">
                <a:solidFill>
                  <a:schemeClr val="tx1"/>
                </a:solidFill>
              </a:rPr>
              <a:t>✓ 1-D / 2-D arrays</a:t>
            </a:r>
          </a:p>
          <a:p>
            <a:pPr algn="l"/>
            <a:r>
              <a:rPr sz="1000" b="0" i="0">
                <a:solidFill>
                  <a:schemeClr val="tx2"/>
                </a:solidFill>
                <a:latin typeface="Courier New"/>
              </a:rPr>
              <a:t>MenuItem[], String[10][3]</a:t>
            </a:r>
          </a:p>
        </p:txBody>
      </p:sp>
      <p:sp>
        <p:nvSpPr>
          <p:cNvPr id="22" name="Rounded Rectangle 21"/>
          <p:cNvSpPr/>
          <p:nvPr/>
        </p:nvSpPr>
        <p:spPr>
          <a:xfrm>
            <a:off x="3355848" y="4498848"/>
            <a:ext cx="2670048" cy="7315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3493008" y="4498848"/>
            <a:ext cx="2468880" cy="731520"/>
          </a:xfrm>
          <a:prstGeom prst="rect">
            <a:avLst/>
          </a:prstGeom>
          <a:noFill/>
        </p:spPr>
        <p:txBody>
          <a:bodyPr wrap="square" lIns="0" tIns="0" rIns="0" bIns="0" anchor="ctr">
            <a:spAutoFit/>
          </a:bodyPr>
          <a:lstStyle/>
          <a:p>
            <a:pPr algn="l"/>
            <a:r>
              <a:rPr sz="1200" b="1" i="0">
                <a:solidFill>
                  <a:schemeClr val="tx1"/>
                </a:solidFill>
              </a:rPr>
              <a:t>✓ Searching, sorting</a:t>
            </a:r>
          </a:p>
          <a:p>
            <a:pPr algn="l"/>
            <a:r>
              <a:rPr sz="1000" b="0" i="0">
                <a:solidFill>
                  <a:schemeClr val="tx2"/>
                </a:solidFill>
                <a:latin typeface="Courier New"/>
              </a:rPr>
              <a:t>binarySearch, Collections.sort</a:t>
            </a:r>
          </a:p>
        </p:txBody>
      </p:sp>
      <p:sp>
        <p:nvSpPr>
          <p:cNvPr id="24" name="Rounded Rectangle 23"/>
          <p:cNvSpPr/>
          <p:nvPr/>
        </p:nvSpPr>
        <p:spPr>
          <a:xfrm>
            <a:off x="6163055" y="1463040"/>
            <a:ext cx="2670048" cy="457200"/>
          </a:xfrm>
          <a:prstGeom prst="roundRect">
            <a:avLst>
              <a:gd name="adj" fmla="val 15000"/>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6300216" y="1463040"/>
            <a:ext cx="2468880" cy="457200"/>
          </a:xfrm>
          <a:prstGeom prst="rect">
            <a:avLst/>
          </a:prstGeom>
          <a:noFill/>
        </p:spPr>
        <p:txBody>
          <a:bodyPr wrap="square" lIns="0" tIns="0" rIns="0" bIns="0" anchor="ctr">
            <a:spAutoFit/>
          </a:bodyPr>
          <a:lstStyle/>
          <a:p>
            <a:pPr algn="l"/>
            <a:r>
              <a:rPr sz="1400" b="1" i="0">
                <a:solidFill>
                  <a:schemeClr val="bg1"/>
                </a:solidFill>
              </a:rPr>
              <a:t>Object-oriented</a:t>
            </a:r>
          </a:p>
        </p:txBody>
      </p:sp>
      <p:sp>
        <p:nvSpPr>
          <p:cNvPr id="26" name="Rounded Rectangle 25"/>
          <p:cNvSpPr/>
          <p:nvPr/>
        </p:nvSpPr>
        <p:spPr>
          <a:xfrm>
            <a:off x="6163055" y="2029968"/>
            <a:ext cx="2670048" cy="7315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6300216" y="2029968"/>
            <a:ext cx="2468880" cy="731520"/>
          </a:xfrm>
          <a:prstGeom prst="rect">
            <a:avLst/>
          </a:prstGeom>
          <a:noFill/>
        </p:spPr>
        <p:txBody>
          <a:bodyPr wrap="square" lIns="0" tIns="0" rIns="0" bIns="0" anchor="ctr">
            <a:spAutoFit/>
          </a:bodyPr>
          <a:lstStyle/>
          <a:p>
            <a:pPr algn="l"/>
            <a:r>
              <a:rPr sz="1200" b="1" i="0">
                <a:solidFill>
                  <a:schemeClr val="tx1"/>
                </a:solidFill>
              </a:rPr>
              <a:t>✓ Classes, constructors, this</a:t>
            </a:r>
          </a:p>
          <a:p>
            <a:pPr algn="l"/>
            <a:r>
              <a:rPr sz="1000" b="0" i="0">
                <a:solidFill>
                  <a:schemeClr val="tx2"/>
                </a:solidFill>
                <a:latin typeface="Courier New"/>
              </a:rPr>
              <a:t>Customer(...) chaining</a:t>
            </a:r>
          </a:p>
        </p:txBody>
      </p:sp>
      <p:sp>
        <p:nvSpPr>
          <p:cNvPr id="28" name="Rounded Rectangle 27"/>
          <p:cNvSpPr/>
          <p:nvPr/>
        </p:nvSpPr>
        <p:spPr>
          <a:xfrm>
            <a:off x="6163055" y="2852928"/>
            <a:ext cx="2670048" cy="7315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6300216" y="2852928"/>
            <a:ext cx="2468880" cy="731520"/>
          </a:xfrm>
          <a:prstGeom prst="rect">
            <a:avLst/>
          </a:prstGeom>
          <a:noFill/>
        </p:spPr>
        <p:txBody>
          <a:bodyPr wrap="square" lIns="0" tIns="0" rIns="0" bIns="0" anchor="ctr">
            <a:spAutoFit/>
          </a:bodyPr>
          <a:lstStyle/>
          <a:p>
            <a:pPr algn="l"/>
            <a:r>
              <a:rPr sz="1200" b="1" i="0">
                <a:solidFill>
                  <a:schemeClr val="tx1"/>
                </a:solidFill>
              </a:rPr>
              <a:t>✓ Encapsulation</a:t>
            </a:r>
          </a:p>
          <a:p>
            <a:pPr algn="l"/>
            <a:r>
              <a:rPr sz="1000" b="0" i="0">
                <a:solidFill>
                  <a:schemeClr val="tx2"/>
                </a:solidFill>
                <a:latin typeface="Courier New"/>
              </a:rPr>
              <a:t>private fields, setStatus</a:t>
            </a:r>
          </a:p>
        </p:txBody>
      </p:sp>
      <p:sp>
        <p:nvSpPr>
          <p:cNvPr id="30" name="Rounded Rectangle 29"/>
          <p:cNvSpPr/>
          <p:nvPr/>
        </p:nvSpPr>
        <p:spPr>
          <a:xfrm>
            <a:off x="6163055" y="3675888"/>
            <a:ext cx="2670048" cy="7315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6300216" y="3675888"/>
            <a:ext cx="2468880" cy="731520"/>
          </a:xfrm>
          <a:prstGeom prst="rect">
            <a:avLst/>
          </a:prstGeom>
          <a:noFill/>
        </p:spPr>
        <p:txBody>
          <a:bodyPr wrap="square" lIns="0" tIns="0" rIns="0" bIns="0" anchor="ctr">
            <a:spAutoFit/>
          </a:bodyPr>
          <a:lstStyle/>
          <a:p>
            <a:pPr algn="l"/>
            <a:r>
              <a:rPr sz="1200" b="1" i="0">
                <a:solidFill>
                  <a:schemeClr val="tx1"/>
                </a:solidFill>
              </a:rPr>
              <a:t>✓ Inheritance, abstract</a:t>
            </a:r>
          </a:p>
          <a:p>
            <a:pPr algn="l"/>
            <a:r>
              <a:rPr sz="1000" b="0" i="0">
                <a:solidFill>
                  <a:schemeClr val="tx2"/>
                </a:solidFill>
                <a:latin typeface="Courier New"/>
              </a:rPr>
              <a:t>Person, MenuItem</a:t>
            </a:r>
          </a:p>
        </p:txBody>
      </p:sp>
      <p:sp>
        <p:nvSpPr>
          <p:cNvPr id="32" name="Rounded Rectangle 31"/>
          <p:cNvSpPr/>
          <p:nvPr/>
        </p:nvSpPr>
        <p:spPr>
          <a:xfrm>
            <a:off x="6163055" y="4498848"/>
            <a:ext cx="2670048" cy="7315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6300216" y="4498848"/>
            <a:ext cx="2468880" cy="731520"/>
          </a:xfrm>
          <a:prstGeom prst="rect">
            <a:avLst/>
          </a:prstGeom>
          <a:noFill/>
        </p:spPr>
        <p:txBody>
          <a:bodyPr wrap="square" lIns="0" tIns="0" rIns="0" bIns="0" anchor="ctr">
            <a:spAutoFit/>
          </a:bodyPr>
          <a:lstStyle/>
          <a:p>
            <a:pPr algn="l"/>
            <a:r>
              <a:rPr sz="1200" b="1" i="0">
                <a:solidFill>
                  <a:schemeClr val="tx1"/>
                </a:solidFill>
              </a:rPr>
              <a:t>✓ Overloading / overriding</a:t>
            </a:r>
          </a:p>
          <a:p>
            <a:pPr algn="l"/>
            <a:r>
              <a:rPr sz="1000" b="0" i="0">
                <a:solidFill>
                  <a:schemeClr val="tx2"/>
                </a:solidFill>
                <a:latin typeface="Courier New"/>
              </a:rPr>
              <a:t>pay(...) ×3, isVegFriendly</a:t>
            </a:r>
          </a:p>
        </p:txBody>
      </p:sp>
      <p:sp>
        <p:nvSpPr>
          <p:cNvPr id="34" name="Rounded Rectangle 33"/>
          <p:cNvSpPr/>
          <p:nvPr/>
        </p:nvSpPr>
        <p:spPr>
          <a:xfrm>
            <a:off x="6163055" y="5321808"/>
            <a:ext cx="2670048" cy="7315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6300216" y="5321808"/>
            <a:ext cx="2468880" cy="731520"/>
          </a:xfrm>
          <a:prstGeom prst="rect">
            <a:avLst/>
          </a:prstGeom>
          <a:noFill/>
        </p:spPr>
        <p:txBody>
          <a:bodyPr wrap="square" lIns="0" tIns="0" rIns="0" bIns="0" anchor="ctr">
            <a:spAutoFit/>
          </a:bodyPr>
          <a:lstStyle/>
          <a:p>
            <a:pPr algn="l"/>
            <a:r>
              <a:rPr sz="1200" b="1" i="0">
                <a:solidFill>
                  <a:schemeClr val="tx1"/>
                </a:solidFill>
              </a:rPr>
              <a:t>✓ Interfaces, polymorphism</a:t>
            </a:r>
          </a:p>
          <a:p>
            <a:pPr algn="l"/>
            <a:r>
              <a:rPr sz="1000" b="0" i="0">
                <a:solidFill>
                  <a:schemeClr val="tx2"/>
                </a:solidFill>
                <a:latin typeface="Courier New"/>
              </a:rPr>
              <a:t>Billable, Sensor[]</a:t>
            </a:r>
          </a:p>
        </p:txBody>
      </p:sp>
      <p:sp>
        <p:nvSpPr>
          <p:cNvPr id="36" name="Rounded Rectangle 35"/>
          <p:cNvSpPr/>
          <p:nvPr/>
        </p:nvSpPr>
        <p:spPr>
          <a:xfrm>
            <a:off x="8970263" y="1463040"/>
            <a:ext cx="2670048" cy="457200"/>
          </a:xfrm>
          <a:prstGeom prst="roundRect">
            <a:avLst>
              <a:gd name="adj" fmla="val 15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9107424" y="1463040"/>
            <a:ext cx="2468880" cy="457200"/>
          </a:xfrm>
          <a:prstGeom prst="rect">
            <a:avLst/>
          </a:prstGeom>
          <a:noFill/>
        </p:spPr>
        <p:txBody>
          <a:bodyPr wrap="square" lIns="0" tIns="0" rIns="0" bIns="0" anchor="ctr">
            <a:spAutoFit/>
          </a:bodyPr>
          <a:lstStyle/>
          <a:p>
            <a:pPr algn="l"/>
            <a:r>
              <a:rPr sz="1400" b="1" i="0">
                <a:solidFill>
                  <a:schemeClr val="bg1"/>
                </a:solidFill>
              </a:rPr>
              <a:t>Further curriculum</a:t>
            </a:r>
          </a:p>
        </p:txBody>
      </p:sp>
      <p:sp>
        <p:nvSpPr>
          <p:cNvPr id="38" name="Rounded Rectangle 37"/>
          <p:cNvSpPr/>
          <p:nvPr/>
        </p:nvSpPr>
        <p:spPr>
          <a:xfrm>
            <a:off x="8970263" y="2029968"/>
            <a:ext cx="2670048" cy="7315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9107424" y="2029968"/>
            <a:ext cx="2468880" cy="731520"/>
          </a:xfrm>
          <a:prstGeom prst="rect">
            <a:avLst/>
          </a:prstGeom>
          <a:noFill/>
        </p:spPr>
        <p:txBody>
          <a:bodyPr wrap="square" lIns="0" tIns="0" rIns="0" bIns="0" anchor="ctr">
            <a:spAutoFit/>
          </a:bodyPr>
          <a:lstStyle/>
          <a:p>
            <a:pPr algn="l"/>
            <a:r>
              <a:rPr sz="1200" b="1" i="0">
                <a:solidFill>
                  <a:schemeClr val="tx1"/>
                </a:solidFill>
              </a:rPr>
              <a:t>✓ Strings, StringBuilder</a:t>
            </a:r>
          </a:p>
          <a:p>
            <a:pPr algn="l"/>
            <a:r>
              <a:rPr sz="1000" b="0" i="0">
                <a:solidFill>
                  <a:schemeClr val="tx2"/>
                </a:solidFill>
                <a:latin typeface="Courier New"/>
              </a:rPr>
              <a:t>verifyBillId, receiptText</a:t>
            </a:r>
          </a:p>
        </p:txBody>
      </p:sp>
      <p:sp>
        <p:nvSpPr>
          <p:cNvPr id="40" name="Rounded Rectangle 39"/>
          <p:cNvSpPr/>
          <p:nvPr/>
        </p:nvSpPr>
        <p:spPr>
          <a:xfrm>
            <a:off x="8970263" y="2852928"/>
            <a:ext cx="2670048" cy="7315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9107424" y="2852928"/>
            <a:ext cx="2468880" cy="731520"/>
          </a:xfrm>
          <a:prstGeom prst="rect">
            <a:avLst/>
          </a:prstGeom>
          <a:noFill/>
        </p:spPr>
        <p:txBody>
          <a:bodyPr wrap="square" lIns="0" tIns="0" rIns="0" bIns="0" anchor="ctr">
            <a:spAutoFit/>
          </a:bodyPr>
          <a:lstStyle/>
          <a:p>
            <a:pPr algn="l"/>
            <a:r>
              <a:rPr sz="1200" b="1" i="0">
                <a:solidFill>
                  <a:schemeClr val="tx1"/>
                </a:solidFill>
              </a:rPr>
              <a:t>✓ Exceptions (35 checked)</a:t>
            </a:r>
          </a:p>
          <a:p>
            <a:pPr algn="l"/>
            <a:r>
              <a:rPr sz="1000" b="0" i="0">
                <a:solidFill>
                  <a:schemeClr val="tx2"/>
                </a:solidFill>
                <a:latin typeface="Courier New"/>
              </a:rPr>
              <a:t>every screen method</a:t>
            </a:r>
          </a:p>
        </p:txBody>
      </p:sp>
      <p:sp>
        <p:nvSpPr>
          <p:cNvPr id="42" name="Rounded Rectangle 41"/>
          <p:cNvSpPr/>
          <p:nvPr/>
        </p:nvSpPr>
        <p:spPr>
          <a:xfrm>
            <a:off x="8970263" y="3675888"/>
            <a:ext cx="2670048" cy="7315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9107424" y="3675888"/>
            <a:ext cx="2468880" cy="731520"/>
          </a:xfrm>
          <a:prstGeom prst="rect">
            <a:avLst/>
          </a:prstGeom>
          <a:noFill/>
        </p:spPr>
        <p:txBody>
          <a:bodyPr wrap="square" lIns="0" tIns="0" rIns="0" bIns="0" anchor="ctr">
            <a:spAutoFit/>
          </a:bodyPr>
          <a:lstStyle/>
          <a:p>
            <a:pPr algn="l"/>
            <a:r>
              <a:rPr sz="1200" b="1" i="0">
                <a:solidFill>
                  <a:schemeClr val="tx1"/>
                </a:solidFill>
              </a:rPr>
              <a:t>✓ File I/O</a:t>
            </a:r>
          </a:p>
          <a:p>
            <a:pPr algn="l"/>
            <a:r>
              <a:rPr sz="1000" b="0" i="0">
                <a:solidFill>
                  <a:schemeClr val="tx2"/>
                </a:solidFill>
                <a:latin typeface="Courier New"/>
              </a:rPr>
              <a:t>saveBillToFile</a:t>
            </a:r>
          </a:p>
        </p:txBody>
      </p:sp>
      <p:sp>
        <p:nvSpPr>
          <p:cNvPr id="44" name="Rounded Rectangle 43"/>
          <p:cNvSpPr/>
          <p:nvPr/>
        </p:nvSpPr>
        <p:spPr>
          <a:xfrm>
            <a:off x="8970263" y="4498848"/>
            <a:ext cx="2670048" cy="7315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Box 44"/>
          <p:cNvSpPr txBox="1"/>
          <p:nvPr/>
        </p:nvSpPr>
        <p:spPr>
          <a:xfrm>
            <a:off x="9107424" y="4498848"/>
            <a:ext cx="2468880" cy="731520"/>
          </a:xfrm>
          <a:prstGeom prst="rect">
            <a:avLst/>
          </a:prstGeom>
          <a:noFill/>
        </p:spPr>
        <p:txBody>
          <a:bodyPr wrap="square" lIns="0" tIns="0" rIns="0" bIns="0" anchor="ctr">
            <a:spAutoFit/>
          </a:bodyPr>
          <a:lstStyle/>
          <a:p>
            <a:pPr algn="l"/>
            <a:r>
              <a:rPr sz="1200" b="1" i="0">
                <a:solidFill>
                  <a:schemeClr val="tx1"/>
                </a:solidFill>
              </a:rPr>
              <a:t>✓ Collections, generics</a:t>
            </a:r>
          </a:p>
          <a:p>
            <a:pPr algn="l"/>
            <a:r>
              <a:rPr sz="1000" b="0" i="0">
                <a:solidFill>
                  <a:schemeClr val="tx2"/>
                </a:solidFill>
                <a:latin typeface="Courier New"/>
              </a:rPr>
              <a:t>HashMap, HashSet, TreeMap</a:t>
            </a:r>
          </a:p>
        </p:txBody>
      </p:sp>
      <p:sp>
        <p:nvSpPr>
          <p:cNvPr id="46" name="Rounded Rectangle 45"/>
          <p:cNvSpPr/>
          <p:nvPr/>
        </p:nvSpPr>
        <p:spPr>
          <a:xfrm>
            <a:off x="8970263" y="5321808"/>
            <a:ext cx="2670048" cy="7315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9107424" y="5321808"/>
            <a:ext cx="2468880" cy="731520"/>
          </a:xfrm>
          <a:prstGeom prst="rect">
            <a:avLst/>
          </a:prstGeom>
          <a:noFill/>
        </p:spPr>
        <p:txBody>
          <a:bodyPr wrap="square" lIns="0" tIns="0" rIns="0" bIns="0" anchor="ctr">
            <a:spAutoFit/>
          </a:bodyPr>
          <a:lstStyle/>
          <a:p>
            <a:pPr algn="l"/>
            <a:r>
              <a:rPr sz="1200" b="1" i="0">
                <a:solidFill>
                  <a:schemeClr val="tx1"/>
                </a:solidFill>
              </a:rPr>
              <a:t>✓ Lambdas, streams</a:t>
            </a:r>
          </a:p>
          <a:p>
            <a:pPr algn="l"/>
            <a:r>
              <a:rPr sz="1000" b="0" i="0">
                <a:solidFill>
                  <a:schemeClr val="tx2"/>
                </a:solidFill>
                <a:latin typeface="Courier New"/>
              </a:rPr>
              <a:t>getOrderMenu, reports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1"/>
          </p:nvPr>
        </p:nvSpPr>
        <p:spPr/>
        <p:txBody>
          <a:bodyPr/>
          <a:lstStyle/>
          <a:p>
            <a:r>
              <a:t>CURRICULUM</a:t>
            </a:r>
          </a:p>
        </p:txBody>
      </p:sp>
      <p:sp>
        <p:nvSpPr>
          <p:cNvPr id="3" name="Title 2"/>
          <p:cNvSpPr>
            <a:spLocks noGrp="1"/>
          </p:cNvSpPr>
          <p:nvPr>
            <p:ph type="title" idx="102"/>
          </p:nvPr>
        </p:nvSpPr>
        <p:spPr/>
        <p:txBody>
          <a:bodyPr/>
          <a:lstStyle/>
          <a:p>
            <a:r>
              <a:t>CO1–CO6 mapped to code and tests</a:t>
            </a:r>
          </a:p>
        </p:txBody>
      </p:sp>
      <p:graphicFrame>
        <p:nvGraphicFramePr>
          <p:cNvPr id="4" name="Table 3"/>
          <p:cNvGraphicFramePr>
            <a:graphicFrameLocks noGrp="1"/>
          </p:cNvGraphicFramePr>
          <p:nvPr/>
        </p:nvGraphicFramePr>
        <p:xfrm>
          <a:off x="548640" y="1463040"/>
          <a:ext cx="11091672" cy="3968496"/>
        </p:xfrm>
        <a:graphic>
          <a:graphicData uri="http://schemas.openxmlformats.org/drawingml/2006/table">
            <a:tbl>
              <a:tblPr/>
              <a:tblGrid>
                <a:gridCol w="68580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736592">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566928">
                <a:tc>
                  <a:txBody>
                    <a:bodyPr/>
                    <a:lstStyle/>
                    <a:p>
                      <a:r>
                        <a:rPr sz="1200" b="1">
                          <a:solidFill>
                            <a:schemeClr val="bg1"/>
                          </a:solidFill>
                        </a:rPr>
                        <a:t>CO</a:t>
                      </a:r>
                    </a:p>
                  </a:txBody>
                  <a:tcPr marL="73152" marR="73152" marT="27432" marB="27432" anchor="ctr">
                    <a:lnL w="6350">
                      <a:solidFill>
                        <a:srgbClr val="C7D2FE"/>
                      </a:solidFill>
                    </a:lnL>
                    <a:lnR w="6350">
                      <a:solidFill>
                        <a:srgbClr val="C7D2FE"/>
                      </a:solidFill>
                    </a:lnR>
                    <a:lnT w="6350">
                      <a:solidFill>
                        <a:srgbClr val="C7D2FE"/>
                      </a:solidFill>
                    </a:lnT>
                    <a:lnB w="6350">
                      <a:solidFill>
                        <a:srgbClr val="C7D2FE"/>
                      </a:solidFill>
                    </a:lnB>
                    <a:solidFill>
                      <a:schemeClr val="tx1"/>
                    </a:solidFill>
                  </a:tcPr>
                </a:tc>
                <a:tc>
                  <a:txBody>
                    <a:bodyPr/>
                    <a:lstStyle/>
                    <a:p>
                      <a:r>
                        <a:rPr sz="1200" b="1">
                          <a:solidFill>
                            <a:schemeClr val="bg1"/>
                          </a:solidFill>
                        </a:rPr>
                        <a:t>Course outcome (handout, shortened)</a:t>
                      </a:r>
                    </a:p>
                  </a:txBody>
                  <a:tcPr marL="73152" marR="73152" marT="27432" marB="27432" anchor="ctr">
                    <a:lnL w="6350">
                      <a:solidFill>
                        <a:srgbClr val="C7D2FE"/>
                      </a:solidFill>
                    </a:lnL>
                    <a:lnR w="6350">
                      <a:solidFill>
                        <a:srgbClr val="C7D2FE"/>
                      </a:solidFill>
                    </a:lnR>
                    <a:lnT w="6350">
                      <a:solidFill>
                        <a:srgbClr val="C7D2FE"/>
                      </a:solidFill>
                    </a:lnT>
                    <a:lnB w="6350">
                      <a:solidFill>
                        <a:srgbClr val="C7D2FE"/>
                      </a:solidFill>
                    </a:lnB>
                    <a:solidFill>
                      <a:schemeClr val="tx1"/>
                    </a:solidFill>
                  </a:tcPr>
                </a:tc>
                <a:tc>
                  <a:txBody>
                    <a:bodyPr/>
                    <a:lstStyle/>
                    <a:p>
                      <a:r>
                        <a:rPr sz="1200" b="1">
                          <a:solidFill>
                            <a:schemeClr val="bg1"/>
                          </a:solidFill>
                        </a:rPr>
                        <a:t>DineSync evidence</a:t>
                      </a:r>
                    </a:p>
                  </a:txBody>
                  <a:tcPr marL="73152" marR="73152" marT="27432" marB="27432" anchor="ctr">
                    <a:lnL w="6350">
                      <a:solidFill>
                        <a:srgbClr val="C7D2FE"/>
                      </a:solidFill>
                    </a:lnL>
                    <a:lnR w="6350">
                      <a:solidFill>
                        <a:srgbClr val="C7D2FE"/>
                      </a:solidFill>
                    </a:lnR>
                    <a:lnT w="6350">
                      <a:solidFill>
                        <a:srgbClr val="C7D2FE"/>
                      </a:solidFill>
                    </a:lnT>
                    <a:lnB w="6350">
                      <a:solidFill>
                        <a:srgbClr val="C7D2FE"/>
                      </a:solidFill>
                    </a:lnB>
                    <a:solidFill>
                      <a:schemeClr val="tx1"/>
                    </a:solidFill>
                  </a:tcPr>
                </a:tc>
                <a:tc>
                  <a:txBody>
                    <a:bodyPr/>
                    <a:lstStyle/>
                    <a:p>
                      <a:r>
                        <a:rPr sz="1200" b="1">
                          <a:solidFill>
                            <a:schemeClr val="bg1"/>
                          </a:solidFill>
                        </a:rPr>
                        <a:t>Tests</a:t>
                      </a:r>
                    </a:p>
                  </a:txBody>
                  <a:tcPr marL="73152" marR="73152" marT="27432" marB="27432" anchor="ctr">
                    <a:lnL w="6350">
                      <a:solidFill>
                        <a:srgbClr val="C7D2FE"/>
                      </a:solidFill>
                    </a:lnL>
                    <a:lnR w="6350">
                      <a:solidFill>
                        <a:srgbClr val="C7D2FE"/>
                      </a:solidFill>
                    </a:lnR>
                    <a:lnT w="6350">
                      <a:solidFill>
                        <a:srgbClr val="C7D2FE"/>
                      </a:solidFill>
                    </a:lnT>
                    <a:lnB w="6350">
                      <a:solidFill>
                        <a:srgbClr val="C7D2FE"/>
                      </a:solidFill>
                    </a:lnB>
                    <a:solidFill>
                      <a:schemeClr val="tx1"/>
                    </a:solidFill>
                  </a:tcPr>
                </a:tc>
                <a:extLst>
                  <a:ext uri="{0D108BD9-81ED-4DB2-BD59-A6C34878D82A}">
                    <a16:rowId xmlns:a16="http://schemas.microsoft.com/office/drawing/2014/main" val="10000"/>
                  </a:ext>
                </a:extLst>
              </a:tr>
              <a:tr h="566928">
                <a:tc>
                  <a:txBody>
                    <a:bodyPr/>
                    <a:lstStyle/>
                    <a:p>
                      <a:r>
                        <a:rPr sz="1200" b="1">
                          <a:solidFill>
                            <a:schemeClr val="tx1"/>
                          </a:solidFill>
                        </a:rPr>
                        <a:t>CO1</a:t>
                      </a:r>
                    </a:p>
                  </a:txBody>
                  <a:tcPr marL="73152" marR="73152" marT="27432" marB="27432" anchor="ctr">
                    <a:lnL w="6350">
                      <a:solidFill>
                        <a:srgbClr val="C7D2FE"/>
                      </a:solidFill>
                    </a:lnL>
                    <a:lnR w="6350">
                      <a:solidFill>
                        <a:srgbClr val="C7D2FE"/>
                      </a:solidFill>
                    </a:lnR>
                    <a:lnT w="6350">
                      <a:solidFill>
                        <a:srgbClr val="C7D2FE"/>
                      </a:solidFill>
                    </a:lnT>
                    <a:lnB w="6350">
                      <a:solidFill>
                        <a:srgbClr val="C7D2FE"/>
                      </a:solidFill>
                    </a:lnB>
                    <a:solidFill>
                      <a:schemeClr val="bg1"/>
                    </a:solidFill>
                  </a:tcPr>
                </a:tc>
                <a:tc>
                  <a:txBody>
                    <a:bodyPr/>
                    <a:lstStyle/>
                    <a:p>
                      <a:r>
                        <a:rPr sz="1200" b="0">
                          <a:solidFill>
                            <a:schemeClr val="tx1"/>
                          </a:solidFill>
                        </a:rPr>
                        <a:t>Problem → algorithm → program: primitive types, expressions, console I/O</a:t>
                      </a:r>
                    </a:p>
                  </a:txBody>
                  <a:tcPr marL="73152" marR="73152" marT="27432" marB="27432" anchor="ctr">
                    <a:lnL w="6350">
                      <a:solidFill>
                        <a:srgbClr val="C7D2FE"/>
                      </a:solidFill>
                    </a:lnL>
                    <a:lnR w="6350">
                      <a:solidFill>
                        <a:srgbClr val="C7D2FE"/>
                      </a:solidFill>
                    </a:lnR>
                    <a:lnT w="6350">
                      <a:solidFill>
                        <a:srgbClr val="C7D2FE"/>
                      </a:solidFill>
                    </a:lnT>
                    <a:lnB w="6350">
                      <a:solidFill>
                        <a:srgbClr val="C7D2FE"/>
                      </a:solidFill>
                    </a:lnB>
                    <a:solidFill>
                      <a:schemeClr val="bg1"/>
                    </a:solidFill>
                  </a:tcPr>
                </a:tc>
                <a:tc>
                  <a:txBody>
                    <a:bodyPr/>
                    <a:lstStyle/>
                    <a:p>
                      <a:r>
                        <a:rPr sz="1200" b="0">
                          <a:solidFill>
                            <a:schemeClr val="tx1"/>
                          </a:solidFill>
                        </a:rPr>
                        <a:t>Bill formula, energy formula, bitwise register, Scanner</a:t>
                      </a:r>
                    </a:p>
                  </a:txBody>
                  <a:tcPr marL="73152" marR="73152" marT="27432" marB="27432" anchor="ctr">
                    <a:lnL w="6350">
                      <a:solidFill>
                        <a:srgbClr val="C7D2FE"/>
                      </a:solidFill>
                    </a:lnL>
                    <a:lnR w="6350">
                      <a:solidFill>
                        <a:srgbClr val="C7D2FE"/>
                      </a:solidFill>
                    </a:lnR>
                    <a:lnT w="6350">
                      <a:solidFill>
                        <a:srgbClr val="C7D2FE"/>
                      </a:solidFill>
                    </a:lnT>
                    <a:lnB w="6350">
                      <a:solidFill>
                        <a:srgbClr val="C7D2FE"/>
                      </a:solidFill>
                    </a:lnB>
                    <a:solidFill>
                      <a:schemeClr val="bg1"/>
                    </a:solidFill>
                  </a:tcPr>
                </a:tc>
                <a:tc>
                  <a:txBody>
                    <a:bodyPr/>
                    <a:lstStyle/>
                    <a:p>
                      <a:r>
                        <a:rPr sz="1200" b="0">
                          <a:solidFill>
                            <a:schemeClr val="tx1"/>
                          </a:solidFill>
                        </a:rPr>
                        <a:t>T16, T34, T56</a:t>
                      </a:r>
                    </a:p>
                  </a:txBody>
                  <a:tcPr marL="73152" marR="73152" marT="27432" marB="27432" anchor="ctr">
                    <a:lnL w="6350">
                      <a:solidFill>
                        <a:srgbClr val="C7D2FE"/>
                      </a:solidFill>
                    </a:lnL>
                    <a:lnR w="6350">
                      <a:solidFill>
                        <a:srgbClr val="C7D2FE"/>
                      </a:solidFill>
                    </a:lnR>
                    <a:lnT w="6350">
                      <a:solidFill>
                        <a:srgbClr val="C7D2FE"/>
                      </a:solidFill>
                    </a:lnT>
                    <a:lnB w="6350">
                      <a:solidFill>
                        <a:srgbClr val="C7D2FE"/>
                      </a:solidFill>
                    </a:lnB>
                    <a:solidFill>
                      <a:schemeClr val="bg1"/>
                    </a:solidFill>
                  </a:tcPr>
                </a:tc>
                <a:extLst>
                  <a:ext uri="{0D108BD9-81ED-4DB2-BD59-A6C34878D82A}">
                    <a16:rowId xmlns:a16="http://schemas.microsoft.com/office/drawing/2014/main" val="10001"/>
                  </a:ext>
                </a:extLst>
              </a:tr>
              <a:tr h="566928">
                <a:tc>
                  <a:txBody>
                    <a:bodyPr/>
                    <a:lstStyle/>
                    <a:p>
                      <a:r>
                        <a:rPr sz="1200" b="1">
                          <a:solidFill>
                            <a:schemeClr val="tx1"/>
                          </a:solidFill>
                        </a:rPr>
                        <a:t>CO2</a:t>
                      </a:r>
                    </a:p>
                  </a:txBody>
                  <a:tcPr marL="73152" marR="73152" marT="27432" marB="27432" anchor="ctr">
                    <a:lnL w="6350">
                      <a:solidFill>
                        <a:srgbClr val="C7D2FE"/>
                      </a:solidFill>
                    </a:lnL>
                    <a:lnR w="6350">
                      <a:solidFill>
                        <a:srgbClr val="C7D2FE"/>
                      </a:solidFill>
                    </a:lnR>
                    <a:lnT w="6350">
                      <a:solidFill>
                        <a:srgbClr val="C7D2FE"/>
                      </a:solidFill>
                    </a:lnT>
                    <a:lnB w="6350">
                      <a:solidFill>
                        <a:srgbClr val="C7D2FE"/>
                      </a:solidFill>
                    </a:lnB>
                    <a:solidFill>
                      <a:schemeClr val="bg2"/>
                    </a:solidFill>
                  </a:tcPr>
                </a:tc>
                <a:tc>
                  <a:txBody>
                    <a:bodyPr/>
                    <a:lstStyle/>
                    <a:p>
                      <a:r>
                        <a:rPr sz="1200" b="0">
                          <a:solidFill>
                            <a:schemeClr val="tx1"/>
                          </a:solidFill>
                        </a:rPr>
                        <a:t>Selection and iteration; reasoning about termination</a:t>
                      </a:r>
                    </a:p>
                  </a:txBody>
                  <a:tcPr marL="73152" marR="73152" marT="27432" marB="27432" anchor="ctr">
                    <a:lnL w="6350">
                      <a:solidFill>
                        <a:srgbClr val="C7D2FE"/>
                      </a:solidFill>
                    </a:lnL>
                    <a:lnR w="6350">
                      <a:solidFill>
                        <a:srgbClr val="C7D2FE"/>
                      </a:solidFill>
                    </a:lnR>
                    <a:lnT w="6350">
                      <a:solidFill>
                        <a:srgbClr val="C7D2FE"/>
                      </a:solidFill>
                    </a:lnT>
                    <a:lnB w="6350">
                      <a:solidFill>
                        <a:srgbClr val="C7D2FE"/>
                      </a:solidFill>
                    </a:lnB>
                    <a:solidFill>
                      <a:schemeClr val="bg2"/>
                    </a:solidFill>
                  </a:tcPr>
                </a:tc>
                <a:tc>
                  <a:txBody>
                    <a:bodyPr/>
                    <a:lstStyle/>
                    <a:p>
                      <a:r>
                        <a:rPr sz="1200" b="0">
                          <a:solidFill>
                            <a:schemeClr val="tx1"/>
                          </a:solidFill>
                        </a:rPr>
                        <a:t>Menu while + switch, 3-attempt login, scan loops</a:t>
                      </a:r>
                    </a:p>
                  </a:txBody>
                  <a:tcPr marL="73152" marR="73152" marT="27432" marB="27432" anchor="ctr">
                    <a:lnL w="6350">
                      <a:solidFill>
                        <a:srgbClr val="C7D2FE"/>
                      </a:solidFill>
                    </a:lnL>
                    <a:lnR w="6350">
                      <a:solidFill>
                        <a:srgbClr val="C7D2FE"/>
                      </a:solidFill>
                    </a:lnR>
                    <a:lnT w="6350">
                      <a:solidFill>
                        <a:srgbClr val="C7D2FE"/>
                      </a:solidFill>
                    </a:lnT>
                    <a:lnB w="6350">
                      <a:solidFill>
                        <a:srgbClr val="C7D2FE"/>
                      </a:solidFill>
                    </a:lnB>
                    <a:solidFill>
                      <a:schemeClr val="bg2"/>
                    </a:solidFill>
                  </a:tcPr>
                </a:tc>
                <a:tc>
                  <a:txBody>
                    <a:bodyPr/>
                    <a:lstStyle/>
                    <a:p>
                      <a:r>
                        <a:rPr sz="1200" b="0">
                          <a:solidFill>
                            <a:schemeClr val="tx1"/>
                          </a:solidFill>
                        </a:rPr>
                        <a:t>T03, T54, T68</a:t>
                      </a:r>
                    </a:p>
                  </a:txBody>
                  <a:tcPr marL="73152" marR="73152" marT="27432" marB="27432" anchor="ctr">
                    <a:lnL w="6350">
                      <a:solidFill>
                        <a:srgbClr val="C7D2FE"/>
                      </a:solidFill>
                    </a:lnL>
                    <a:lnR w="6350">
                      <a:solidFill>
                        <a:srgbClr val="C7D2FE"/>
                      </a:solidFill>
                    </a:lnR>
                    <a:lnT w="6350">
                      <a:solidFill>
                        <a:srgbClr val="C7D2FE"/>
                      </a:solidFill>
                    </a:lnT>
                    <a:lnB w="6350">
                      <a:solidFill>
                        <a:srgbClr val="C7D2FE"/>
                      </a:solidFill>
                    </a:lnB>
                    <a:solidFill>
                      <a:schemeClr val="bg2"/>
                    </a:solidFill>
                  </a:tcPr>
                </a:tc>
                <a:extLst>
                  <a:ext uri="{0D108BD9-81ED-4DB2-BD59-A6C34878D82A}">
                    <a16:rowId xmlns:a16="http://schemas.microsoft.com/office/drawing/2014/main" val="10002"/>
                  </a:ext>
                </a:extLst>
              </a:tr>
              <a:tr h="566928">
                <a:tc>
                  <a:txBody>
                    <a:bodyPr/>
                    <a:lstStyle/>
                    <a:p>
                      <a:r>
                        <a:rPr sz="1200" b="1">
                          <a:solidFill>
                            <a:schemeClr val="tx1"/>
                          </a:solidFill>
                        </a:rPr>
                        <a:t>CO3</a:t>
                      </a:r>
                    </a:p>
                  </a:txBody>
                  <a:tcPr marL="73152" marR="73152" marT="27432" marB="27432" anchor="ctr">
                    <a:lnL w="6350">
                      <a:solidFill>
                        <a:srgbClr val="C7D2FE"/>
                      </a:solidFill>
                    </a:lnL>
                    <a:lnR w="6350">
                      <a:solidFill>
                        <a:srgbClr val="C7D2FE"/>
                      </a:solidFill>
                    </a:lnR>
                    <a:lnT w="6350">
                      <a:solidFill>
                        <a:srgbClr val="C7D2FE"/>
                      </a:solidFill>
                    </a:lnT>
                    <a:lnB w="6350">
                      <a:solidFill>
                        <a:srgbClr val="C7D2FE"/>
                      </a:solidFill>
                    </a:lnB>
                    <a:solidFill>
                      <a:schemeClr val="bg1"/>
                    </a:solidFill>
                  </a:tcPr>
                </a:tc>
                <a:tc>
                  <a:txBody>
                    <a:bodyPr/>
                    <a:lstStyle/>
                    <a:p>
                      <a:r>
                        <a:rPr sz="1200" b="0">
                          <a:solidFill>
                            <a:schemeClr val="tx1"/>
                          </a:solidFill>
                        </a:rPr>
                        <a:t>Methods, recursion, 1-D and 2-D arrays</a:t>
                      </a:r>
                    </a:p>
                  </a:txBody>
                  <a:tcPr marL="73152" marR="73152" marT="27432" marB="27432" anchor="ctr">
                    <a:lnL w="6350">
                      <a:solidFill>
                        <a:srgbClr val="C7D2FE"/>
                      </a:solidFill>
                    </a:lnL>
                    <a:lnR w="6350">
                      <a:solidFill>
                        <a:srgbClr val="C7D2FE"/>
                      </a:solidFill>
                    </a:lnR>
                    <a:lnT w="6350">
                      <a:solidFill>
                        <a:srgbClr val="C7D2FE"/>
                      </a:solidFill>
                    </a:lnT>
                    <a:lnB w="6350">
                      <a:solidFill>
                        <a:srgbClr val="C7D2FE"/>
                      </a:solidFill>
                    </a:lnB>
                    <a:solidFill>
                      <a:schemeClr val="bg1"/>
                    </a:solidFill>
                  </a:tcPr>
                </a:tc>
                <a:tc>
                  <a:txBody>
                    <a:bodyPr/>
                    <a:lstStyle/>
                    <a:p>
                      <a:r>
                        <a:rPr sz="1200" b="0">
                          <a:solidFill>
                            <a:schemeClr val="tx1"/>
                          </a:solidFill>
                        </a:rPr>
                        <a:t>weightedSum (recursion), top-3 favourites, String[10][3], double[][]</a:t>
                      </a:r>
                    </a:p>
                  </a:txBody>
                  <a:tcPr marL="73152" marR="73152" marT="27432" marB="27432" anchor="ctr">
                    <a:lnL w="6350">
                      <a:solidFill>
                        <a:srgbClr val="C7D2FE"/>
                      </a:solidFill>
                    </a:lnL>
                    <a:lnR w="6350">
                      <a:solidFill>
                        <a:srgbClr val="C7D2FE"/>
                      </a:solidFill>
                    </a:lnR>
                    <a:lnT w="6350">
                      <a:solidFill>
                        <a:srgbClr val="C7D2FE"/>
                      </a:solidFill>
                    </a:lnT>
                    <a:lnB w="6350">
                      <a:solidFill>
                        <a:srgbClr val="C7D2FE"/>
                      </a:solidFill>
                    </a:lnB>
                    <a:solidFill>
                      <a:schemeClr val="bg1"/>
                    </a:solidFill>
                  </a:tcPr>
                </a:tc>
                <a:tc>
                  <a:txBody>
                    <a:bodyPr/>
                    <a:lstStyle/>
                    <a:p>
                      <a:r>
                        <a:rPr sz="1200" b="0">
                          <a:solidFill>
                            <a:schemeClr val="tx1"/>
                          </a:solidFill>
                        </a:rPr>
                        <a:t>T11, T32, T45</a:t>
                      </a:r>
                    </a:p>
                  </a:txBody>
                  <a:tcPr marL="73152" marR="73152" marT="27432" marB="27432" anchor="ctr">
                    <a:lnL w="6350">
                      <a:solidFill>
                        <a:srgbClr val="C7D2FE"/>
                      </a:solidFill>
                    </a:lnL>
                    <a:lnR w="6350">
                      <a:solidFill>
                        <a:srgbClr val="C7D2FE"/>
                      </a:solidFill>
                    </a:lnR>
                    <a:lnT w="6350">
                      <a:solidFill>
                        <a:srgbClr val="C7D2FE"/>
                      </a:solidFill>
                    </a:lnT>
                    <a:lnB w="6350">
                      <a:solidFill>
                        <a:srgbClr val="C7D2FE"/>
                      </a:solidFill>
                    </a:lnB>
                    <a:solidFill>
                      <a:schemeClr val="bg1"/>
                    </a:solidFill>
                  </a:tcPr>
                </a:tc>
                <a:extLst>
                  <a:ext uri="{0D108BD9-81ED-4DB2-BD59-A6C34878D82A}">
                    <a16:rowId xmlns:a16="http://schemas.microsoft.com/office/drawing/2014/main" val="10003"/>
                  </a:ext>
                </a:extLst>
              </a:tr>
              <a:tr h="566928">
                <a:tc>
                  <a:txBody>
                    <a:bodyPr/>
                    <a:lstStyle/>
                    <a:p>
                      <a:r>
                        <a:rPr sz="1200" b="1">
                          <a:solidFill>
                            <a:schemeClr val="tx1"/>
                          </a:solidFill>
                        </a:rPr>
                        <a:t>CO4</a:t>
                      </a:r>
                    </a:p>
                  </a:txBody>
                  <a:tcPr marL="73152" marR="73152" marT="27432" marB="27432" anchor="ctr">
                    <a:lnL w="6350">
                      <a:solidFill>
                        <a:srgbClr val="C7D2FE"/>
                      </a:solidFill>
                    </a:lnL>
                    <a:lnR w="6350">
                      <a:solidFill>
                        <a:srgbClr val="C7D2FE"/>
                      </a:solidFill>
                    </a:lnR>
                    <a:lnT w="6350">
                      <a:solidFill>
                        <a:srgbClr val="C7D2FE"/>
                      </a:solidFill>
                    </a:lnT>
                    <a:lnB w="6350">
                      <a:solidFill>
                        <a:srgbClr val="C7D2FE"/>
                      </a:solidFill>
                    </a:lnB>
                    <a:solidFill>
                      <a:schemeClr val="bg2"/>
                    </a:solidFill>
                  </a:tcPr>
                </a:tc>
                <a:tc>
                  <a:txBody>
                    <a:bodyPr/>
                    <a:lstStyle/>
                    <a:p>
                      <a:r>
                        <a:rPr sz="1200" b="0">
                          <a:solidFill>
                            <a:schemeClr val="tx1"/>
                          </a:solidFill>
                        </a:rPr>
                        <a:t>Classes, encapsulation, relationships; exception handling</a:t>
                      </a:r>
                    </a:p>
                  </a:txBody>
                  <a:tcPr marL="73152" marR="73152" marT="27432" marB="27432" anchor="ctr">
                    <a:lnL w="6350">
                      <a:solidFill>
                        <a:srgbClr val="C7D2FE"/>
                      </a:solidFill>
                    </a:lnL>
                    <a:lnR w="6350">
                      <a:solidFill>
                        <a:srgbClr val="C7D2FE"/>
                      </a:solidFill>
                    </a:lnR>
                    <a:lnT w="6350">
                      <a:solidFill>
                        <a:srgbClr val="C7D2FE"/>
                      </a:solidFill>
                    </a:lnT>
                    <a:lnB w="6350">
                      <a:solidFill>
                        <a:srgbClr val="C7D2FE"/>
                      </a:solidFill>
                    </a:lnB>
                    <a:solidFill>
                      <a:schemeClr val="bg2"/>
                    </a:solidFill>
                  </a:tcPr>
                </a:tc>
                <a:tc>
                  <a:txBody>
                    <a:bodyPr/>
                    <a:lstStyle/>
                    <a:p>
                      <a:r>
                        <a:rPr sz="1200" b="0">
                          <a:solidFill>
                            <a:schemeClr val="tx1"/>
                          </a:solidFill>
                        </a:rPr>
                        <a:t>3 hierarchies, interfaces, 35 checked exceptions, finally, multi-catch</a:t>
                      </a:r>
                    </a:p>
                  </a:txBody>
                  <a:tcPr marL="73152" marR="73152" marT="27432" marB="27432" anchor="ctr">
                    <a:lnL w="6350">
                      <a:solidFill>
                        <a:srgbClr val="C7D2FE"/>
                      </a:solidFill>
                    </a:lnL>
                    <a:lnR w="6350">
                      <a:solidFill>
                        <a:srgbClr val="C7D2FE"/>
                      </a:solidFill>
                    </a:lnR>
                    <a:lnT w="6350">
                      <a:solidFill>
                        <a:srgbClr val="C7D2FE"/>
                      </a:solidFill>
                    </a:lnT>
                    <a:lnB w="6350">
                      <a:solidFill>
                        <a:srgbClr val="C7D2FE"/>
                      </a:solidFill>
                    </a:lnB>
                    <a:solidFill>
                      <a:schemeClr val="bg2"/>
                    </a:solidFill>
                  </a:tcPr>
                </a:tc>
                <a:tc>
                  <a:txBody>
                    <a:bodyPr/>
                    <a:lstStyle/>
                    <a:p>
                      <a:r>
                        <a:rPr sz="1200" b="0">
                          <a:solidFill>
                            <a:schemeClr val="tx1"/>
                          </a:solidFill>
                        </a:rPr>
                        <a:t>T01–T71</a:t>
                      </a:r>
                    </a:p>
                  </a:txBody>
                  <a:tcPr marL="73152" marR="73152" marT="27432" marB="27432" anchor="ctr">
                    <a:lnL w="6350">
                      <a:solidFill>
                        <a:srgbClr val="C7D2FE"/>
                      </a:solidFill>
                    </a:lnL>
                    <a:lnR w="6350">
                      <a:solidFill>
                        <a:srgbClr val="C7D2FE"/>
                      </a:solidFill>
                    </a:lnR>
                    <a:lnT w="6350">
                      <a:solidFill>
                        <a:srgbClr val="C7D2FE"/>
                      </a:solidFill>
                    </a:lnT>
                    <a:lnB w="6350">
                      <a:solidFill>
                        <a:srgbClr val="C7D2FE"/>
                      </a:solidFill>
                    </a:lnB>
                    <a:solidFill>
                      <a:schemeClr val="bg2"/>
                    </a:solidFill>
                  </a:tcPr>
                </a:tc>
                <a:extLst>
                  <a:ext uri="{0D108BD9-81ED-4DB2-BD59-A6C34878D82A}">
                    <a16:rowId xmlns:a16="http://schemas.microsoft.com/office/drawing/2014/main" val="10004"/>
                  </a:ext>
                </a:extLst>
              </a:tr>
              <a:tr h="566928">
                <a:tc>
                  <a:txBody>
                    <a:bodyPr/>
                    <a:lstStyle/>
                    <a:p>
                      <a:r>
                        <a:rPr sz="1200" b="1">
                          <a:solidFill>
                            <a:schemeClr val="tx1"/>
                          </a:solidFill>
                        </a:rPr>
                        <a:t>CO5</a:t>
                      </a:r>
                    </a:p>
                  </a:txBody>
                  <a:tcPr marL="73152" marR="73152" marT="27432" marB="27432" anchor="ctr">
                    <a:lnL w="6350">
                      <a:solidFill>
                        <a:srgbClr val="C7D2FE"/>
                      </a:solidFill>
                    </a:lnL>
                    <a:lnR w="6350">
                      <a:solidFill>
                        <a:srgbClr val="C7D2FE"/>
                      </a:solidFill>
                    </a:lnR>
                    <a:lnT w="6350">
                      <a:solidFill>
                        <a:srgbClr val="C7D2FE"/>
                      </a:solidFill>
                    </a:lnT>
                    <a:lnB w="6350">
                      <a:solidFill>
                        <a:srgbClr val="C7D2FE"/>
                      </a:solidFill>
                    </a:lnB>
                    <a:solidFill>
                      <a:schemeClr val="bg1"/>
                    </a:solidFill>
                  </a:tcPr>
                </a:tc>
                <a:tc>
                  <a:txBody>
                    <a:bodyPr/>
                    <a:lstStyle/>
                    <a:p>
                      <a:r>
                        <a:rPr sz="1200" b="0">
                          <a:solidFill>
                            <a:schemeClr val="tx1"/>
                          </a:solidFill>
                        </a:rPr>
                        <a:t>Strings/StringBuilder, library search and sort, file I/O</a:t>
                      </a:r>
                    </a:p>
                  </a:txBody>
                  <a:tcPr marL="73152" marR="73152" marT="27432" marB="27432" anchor="ctr">
                    <a:lnL w="6350">
                      <a:solidFill>
                        <a:srgbClr val="C7D2FE"/>
                      </a:solidFill>
                    </a:lnL>
                    <a:lnR w="6350">
                      <a:solidFill>
                        <a:srgbClr val="C7D2FE"/>
                      </a:solidFill>
                    </a:lnR>
                    <a:lnT w="6350">
                      <a:solidFill>
                        <a:srgbClr val="C7D2FE"/>
                      </a:solidFill>
                    </a:lnT>
                    <a:lnB w="6350">
                      <a:solidFill>
                        <a:srgbClr val="C7D2FE"/>
                      </a:solidFill>
                    </a:lnB>
                    <a:solidFill>
                      <a:schemeClr val="bg1"/>
                    </a:solidFill>
                  </a:tcPr>
                </a:tc>
                <a:tc>
                  <a:txBody>
                    <a:bodyPr/>
                    <a:lstStyle/>
                    <a:p>
                      <a:r>
                        <a:rPr sz="1200" b="0">
                          <a:solidFill>
                            <a:schemeClr val="tx1"/>
                          </a:solidFill>
                        </a:rPr>
                        <a:t>verifyBillId, validateDate, binarySearch, Collections.sort, bills.txt</a:t>
                      </a:r>
                    </a:p>
                  </a:txBody>
                  <a:tcPr marL="73152" marR="73152" marT="27432" marB="27432" anchor="ctr">
                    <a:lnL w="6350">
                      <a:solidFill>
                        <a:srgbClr val="C7D2FE"/>
                      </a:solidFill>
                    </a:lnL>
                    <a:lnR w="6350">
                      <a:solidFill>
                        <a:srgbClr val="C7D2FE"/>
                      </a:solidFill>
                    </a:lnR>
                    <a:lnT w="6350">
                      <a:solidFill>
                        <a:srgbClr val="C7D2FE"/>
                      </a:solidFill>
                    </a:lnT>
                    <a:lnB w="6350">
                      <a:solidFill>
                        <a:srgbClr val="C7D2FE"/>
                      </a:solidFill>
                    </a:lnB>
                    <a:solidFill>
                      <a:schemeClr val="bg1"/>
                    </a:solidFill>
                  </a:tcPr>
                </a:tc>
                <a:tc>
                  <a:txBody>
                    <a:bodyPr/>
                    <a:lstStyle/>
                    <a:p>
                      <a:r>
                        <a:rPr sz="1200" b="0">
                          <a:solidFill>
                            <a:schemeClr val="tx1"/>
                          </a:solidFill>
                        </a:rPr>
                        <a:t>T41–T44, T65</a:t>
                      </a:r>
                    </a:p>
                  </a:txBody>
                  <a:tcPr marL="73152" marR="73152" marT="27432" marB="27432" anchor="ctr">
                    <a:lnL w="6350">
                      <a:solidFill>
                        <a:srgbClr val="C7D2FE"/>
                      </a:solidFill>
                    </a:lnL>
                    <a:lnR w="6350">
                      <a:solidFill>
                        <a:srgbClr val="C7D2FE"/>
                      </a:solidFill>
                    </a:lnR>
                    <a:lnT w="6350">
                      <a:solidFill>
                        <a:srgbClr val="C7D2FE"/>
                      </a:solidFill>
                    </a:lnT>
                    <a:lnB w="6350">
                      <a:solidFill>
                        <a:srgbClr val="C7D2FE"/>
                      </a:solidFill>
                    </a:lnB>
                    <a:solidFill>
                      <a:schemeClr val="bg1"/>
                    </a:solidFill>
                  </a:tcPr>
                </a:tc>
                <a:extLst>
                  <a:ext uri="{0D108BD9-81ED-4DB2-BD59-A6C34878D82A}">
                    <a16:rowId xmlns:a16="http://schemas.microsoft.com/office/drawing/2014/main" val="10005"/>
                  </a:ext>
                </a:extLst>
              </a:tr>
              <a:tr h="566928">
                <a:tc>
                  <a:txBody>
                    <a:bodyPr/>
                    <a:lstStyle/>
                    <a:p>
                      <a:r>
                        <a:rPr sz="1200" b="1">
                          <a:solidFill>
                            <a:schemeClr val="tx1"/>
                          </a:solidFill>
                        </a:rPr>
                        <a:t>CO6</a:t>
                      </a:r>
                    </a:p>
                  </a:txBody>
                  <a:tcPr marL="73152" marR="73152" marT="27432" marB="27432" anchor="ctr">
                    <a:lnL w="6350">
                      <a:solidFill>
                        <a:srgbClr val="C7D2FE"/>
                      </a:solidFill>
                    </a:lnL>
                    <a:lnR w="6350">
                      <a:solidFill>
                        <a:srgbClr val="C7D2FE"/>
                      </a:solidFill>
                    </a:lnR>
                    <a:lnT w="6350">
                      <a:solidFill>
                        <a:srgbClr val="C7D2FE"/>
                      </a:solidFill>
                    </a:lnT>
                    <a:lnB w="6350">
                      <a:solidFill>
                        <a:srgbClr val="C7D2FE"/>
                      </a:solidFill>
                    </a:lnB>
                    <a:solidFill>
                      <a:schemeClr val="bg2"/>
                    </a:solidFill>
                  </a:tcPr>
                </a:tc>
                <a:tc>
                  <a:txBody>
                    <a:bodyPr/>
                    <a:lstStyle/>
                    <a:p>
                      <a:r>
                        <a:rPr sz="1200" b="0">
                          <a:solidFill>
                            <a:schemeClr val="tx1"/>
                          </a:solidFill>
                        </a:rPr>
                        <a:t>Collections, lambdas, functional interfaces, streams</a:t>
                      </a:r>
                    </a:p>
                  </a:txBody>
                  <a:tcPr marL="73152" marR="73152" marT="27432" marB="27432" anchor="ctr">
                    <a:lnL w="6350">
                      <a:solidFill>
                        <a:srgbClr val="C7D2FE"/>
                      </a:solidFill>
                    </a:lnL>
                    <a:lnR w="6350">
                      <a:solidFill>
                        <a:srgbClr val="C7D2FE"/>
                      </a:solidFill>
                    </a:lnR>
                    <a:lnT w="6350">
                      <a:solidFill>
                        <a:srgbClr val="C7D2FE"/>
                      </a:solidFill>
                    </a:lnT>
                    <a:lnB w="6350">
                      <a:solidFill>
                        <a:srgbClr val="C7D2FE"/>
                      </a:solidFill>
                    </a:lnB>
                    <a:solidFill>
                      <a:schemeClr val="bg2"/>
                    </a:solidFill>
                  </a:tcPr>
                </a:tc>
                <a:tc>
                  <a:txBody>
                    <a:bodyPr/>
                    <a:lstStyle/>
                    <a:p>
                      <a:r>
                        <a:rPr sz="1200" b="0">
                          <a:solidFill>
                            <a:schemeClr val="tx1"/>
                          </a:solidFill>
                        </a:rPr>
                        <a:t>Predicate menu filter, groupingBy / joining reports, HashSet</a:t>
                      </a:r>
                    </a:p>
                  </a:txBody>
                  <a:tcPr marL="73152" marR="73152" marT="27432" marB="27432" anchor="ctr">
                    <a:lnL w="6350">
                      <a:solidFill>
                        <a:srgbClr val="C7D2FE"/>
                      </a:solidFill>
                    </a:lnL>
                    <a:lnR w="6350">
                      <a:solidFill>
                        <a:srgbClr val="C7D2FE"/>
                      </a:solidFill>
                    </a:lnR>
                    <a:lnT w="6350">
                      <a:solidFill>
                        <a:srgbClr val="C7D2FE"/>
                      </a:solidFill>
                    </a:lnT>
                    <a:lnB w="6350">
                      <a:solidFill>
                        <a:srgbClr val="C7D2FE"/>
                      </a:solidFill>
                    </a:lnB>
                    <a:solidFill>
                      <a:schemeClr val="bg2"/>
                    </a:solidFill>
                  </a:tcPr>
                </a:tc>
                <a:tc>
                  <a:txBody>
                    <a:bodyPr/>
                    <a:lstStyle/>
                    <a:p>
                      <a:r>
                        <a:rPr sz="1200" b="0">
                          <a:solidFill>
                            <a:schemeClr val="tx1"/>
                          </a:solidFill>
                        </a:rPr>
                        <a:t>T62–T64</a:t>
                      </a:r>
                    </a:p>
                  </a:txBody>
                  <a:tcPr marL="73152" marR="73152" marT="27432" marB="27432" anchor="ctr">
                    <a:lnL w="6350">
                      <a:solidFill>
                        <a:srgbClr val="C7D2FE"/>
                      </a:solidFill>
                    </a:lnL>
                    <a:lnR w="6350">
                      <a:solidFill>
                        <a:srgbClr val="C7D2FE"/>
                      </a:solidFill>
                    </a:lnR>
                    <a:lnT w="6350">
                      <a:solidFill>
                        <a:srgbClr val="C7D2FE"/>
                      </a:solidFill>
                    </a:lnT>
                    <a:lnB w="6350">
                      <a:solidFill>
                        <a:srgbClr val="C7D2FE"/>
                      </a:solidFill>
                    </a:lnB>
                    <a:solidFill>
                      <a:schemeClr val="bg2"/>
                    </a:solidFill>
                  </a:tcPr>
                </a:tc>
                <a:extLst>
                  <a:ext uri="{0D108BD9-81ED-4DB2-BD59-A6C34878D82A}">
                    <a16:rowId xmlns:a16="http://schemas.microsoft.com/office/drawing/2014/main" val="10006"/>
                  </a:ext>
                </a:extLst>
              </a:tr>
            </a:tbl>
          </a:graphicData>
        </a:graphic>
      </p:graphicFrame>
      <p:sp>
        <p:nvSpPr>
          <p:cNvPr id="5" name="TextBox 4"/>
          <p:cNvSpPr txBox="1"/>
          <p:nvPr/>
        </p:nvSpPr>
        <p:spPr>
          <a:xfrm>
            <a:off x="548640" y="5577840"/>
            <a:ext cx="11091672" cy="457200"/>
          </a:xfrm>
          <a:prstGeom prst="rect">
            <a:avLst/>
          </a:prstGeom>
          <a:noFill/>
        </p:spPr>
        <p:txBody>
          <a:bodyPr wrap="square" lIns="0" tIns="0" rIns="0" bIns="0" anchor="t">
            <a:spAutoFit/>
          </a:bodyPr>
          <a:lstStyle/>
          <a:p>
            <a:pPr algn="l"/>
            <a:r>
              <a:rPr sz="1100" b="0" i="1">
                <a:solidFill>
                  <a:schemeClr val="tx2"/>
                </a:solidFill>
              </a:rPr>
              <a:t>Exact CO wording and faculty-form cross-check: docs/CO1_CO6_MAPPING.md.  Not used: JUnit/Maven (no third-party tools), Optional, distinct/reduce (no natural use).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1"/>
          </p:nvPr>
        </p:nvSpPr>
        <p:spPr/>
        <p:txBody>
          <a:bodyPr/>
          <a:lstStyle/>
          <a:p>
            <a:r>
              <a:t>FUTURE SCOPE</a:t>
            </a:r>
          </a:p>
        </p:txBody>
      </p:sp>
      <p:sp>
        <p:nvSpPr>
          <p:cNvPr id="3" name="Title 2"/>
          <p:cNvSpPr>
            <a:spLocks noGrp="1"/>
          </p:cNvSpPr>
          <p:nvPr>
            <p:ph type="title" idx="102"/>
          </p:nvPr>
        </p:nvSpPr>
        <p:spPr/>
        <p:txBody>
          <a:bodyPr/>
          <a:lstStyle/>
          <a:p>
            <a:r>
              <a:t>From a Java prototype to an intelligent restaurant ecosystem</a:t>
            </a:r>
          </a:p>
        </p:txBody>
      </p:sp>
      <p:cxnSp>
        <p:nvCxnSpPr>
          <p:cNvPr id="4" name="Connector 3"/>
          <p:cNvCxnSpPr/>
          <p:nvPr/>
        </p:nvCxnSpPr>
        <p:spPr>
          <a:xfrm>
            <a:off x="1280160" y="1783080"/>
            <a:ext cx="9646920" cy="0"/>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1179576" y="1536192"/>
            <a:ext cx="493776" cy="493776"/>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1179576" y="1536192"/>
            <a:ext cx="493776" cy="493776"/>
          </a:xfrm>
          <a:prstGeom prst="rect">
            <a:avLst/>
          </a:prstGeom>
          <a:noFill/>
        </p:spPr>
        <p:txBody>
          <a:bodyPr wrap="square" lIns="0" tIns="0" rIns="0" bIns="0" anchor="ctr">
            <a:spAutoFit/>
          </a:bodyPr>
          <a:lstStyle/>
          <a:p>
            <a:pPr algn="ctr"/>
            <a:r>
              <a:rPr sz="1800" b="1" i="0">
                <a:solidFill>
                  <a:schemeClr val="bg1"/>
                </a:solidFill>
              </a:rPr>
              <a:t>1</a:t>
            </a:r>
          </a:p>
        </p:txBody>
      </p:sp>
      <p:sp>
        <p:nvSpPr>
          <p:cNvPr id="7" name="Rounded Rectangle 6"/>
          <p:cNvSpPr/>
          <p:nvPr/>
        </p:nvSpPr>
        <p:spPr>
          <a:xfrm>
            <a:off x="548640" y="2212848"/>
            <a:ext cx="1755648" cy="3703320"/>
          </a:xfrm>
          <a:prstGeom prst="roundRect">
            <a:avLst>
              <a:gd name="adj" fmla="val 5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76656" y="2331720"/>
            <a:ext cx="1527048" cy="228600"/>
          </a:xfrm>
          <a:prstGeom prst="rect">
            <a:avLst/>
          </a:prstGeom>
          <a:noFill/>
        </p:spPr>
        <p:txBody>
          <a:bodyPr wrap="square" lIns="0" tIns="0" rIns="0" bIns="0" anchor="t">
            <a:spAutoFit/>
          </a:bodyPr>
          <a:lstStyle/>
          <a:p>
            <a:pPr algn="l"/>
            <a:r>
              <a:rPr sz="1000" b="1" i="0">
                <a:solidFill>
                  <a:schemeClr val="accent5"/>
                </a:solidFill>
              </a:rPr>
              <a:t>PHASE 1  ·  NOW</a:t>
            </a:r>
          </a:p>
        </p:txBody>
      </p:sp>
      <p:sp>
        <p:nvSpPr>
          <p:cNvPr id="9" name="TextBox 8"/>
          <p:cNvSpPr txBox="1"/>
          <p:nvPr/>
        </p:nvSpPr>
        <p:spPr>
          <a:xfrm>
            <a:off x="676656" y="2606040"/>
            <a:ext cx="1527048" cy="594360"/>
          </a:xfrm>
          <a:prstGeom prst="rect">
            <a:avLst/>
          </a:prstGeom>
          <a:noFill/>
        </p:spPr>
        <p:txBody>
          <a:bodyPr wrap="square" lIns="0" tIns="0" rIns="0" bIns="0" anchor="t">
            <a:spAutoFit/>
          </a:bodyPr>
          <a:lstStyle/>
          <a:p>
            <a:pPr algn="l"/>
            <a:r>
              <a:rPr sz="1400" b="1" i="0">
                <a:solidFill>
                  <a:schemeClr val="bg1"/>
                </a:solidFill>
              </a:rPr>
              <a:t>Java Prototype</a:t>
            </a:r>
          </a:p>
        </p:txBody>
      </p:sp>
      <p:sp>
        <p:nvSpPr>
          <p:cNvPr id="10" name="TextBox 9"/>
          <p:cNvSpPr txBox="1"/>
          <p:nvPr/>
        </p:nvSpPr>
        <p:spPr>
          <a:xfrm>
            <a:off x="676656" y="3200400"/>
            <a:ext cx="1554480" cy="2697480"/>
          </a:xfrm>
          <a:prstGeom prst="rect">
            <a:avLst/>
          </a:prstGeom>
          <a:noFill/>
        </p:spPr>
        <p:txBody>
          <a:bodyPr wrap="square" lIns="0" tIns="0" rIns="0" bIns="0" anchor="t">
            <a:spAutoFit/>
          </a:bodyPr>
          <a:lstStyle/>
          <a:p>
            <a:pPr marL="201168" indent="-201168" algn="l">
              <a:spcAft>
                <a:spcPts val="400"/>
              </a:spcAft>
              <a:buChar char="•"/>
            </a:pPr>
            <a:r>
              <a:rPr sz="1200" b="0" i="0">
                <a:solidFill>
                  <a:schemeClr val="accent6"/>
                </a:solidFill>
              </a:rPr>
              <a:t>13 connected modules</a:t>
            </a:r>
          </a:p>
          <a:p>
            <a:pPr marL="201168" indent="-201168" algn="l">
              <a:spcAft>
                <a:spcPts val="400"/>
              </a:spcAft>
              <a:buChar char="•"/>
            </a:pPr>
            <a:r>
              <a:rPr sz="1200" b="0" i="0">
                <a:solidFill>
                  <a:schemeClr val="accent6"/>
                </a:solidFill>
              </a:rPr>
              <a:t>Console-based application</a:t>
            </a:r>
          </a:p>
          <a:p>
            <a:pPr marL="201168" indent="-201168" algn="l">
              <a:spcAft>
                <a:spcPts val="400"/>
              </a:spcAft>
              <a:buChar char="•"/>
            </a:pPr>
            <a:r>
              <a:rPr sz="1200" b="0" i="0">
                <a:solidFill>
                  <a:schemeClr val="accent6"/>
                </a:solidFill>
              </a:rPr>
              <a:t>Simulated kitchen sensors</a:t>
            </a:r>
          </a:p>
        </p:txBody>
      </p:sp>
      <p:sp>
        <p:nvSpPr>
          <p:cNvPr id="11" name="Oval 10"/>
          <p:cNvSpPr/>
          <p:nvPr/>
        </p:nvSpPr>
        <p:spPr>
          <a:xfrm>
            <a:off x="3046780" y="1536192"/>
            <a:ext cx="493776" cy="493776"/>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3046780" y="1536192"/>
            <a:ext cx="493776" cy="493776"/>
          </a:xfrm>
          <a:prstGeom prst="rect">
            <a:avLst/>
          </a:prstGeom>
          <a:noFill/>
        </p:spPr>
        <p:txBody>
          <a:bodyPr wrap="square" lIns="0" tIns="0" rIns="0" bIns="0" anchor="ctr">
            <a:spAutoFit/>
          </a:bodyPr>
          <a:lstStyle/>
          <a:p>
            <a:pPr algn="ctr"/>
            <a:r>
              <a:rPr sz="1800" b="1" i="0">
                <a:solidFill>
                  <a:schemeClr val="bg1"/>
                </a:solidFill>
              </a:rPr>
              <a:t>2</a:t>
            </a:r>
          </a:p>
        </p:txBody>
      </p:sp>
      <p:sp>
        <p:nvSpPr>
          <p:cNvPr id="13" name="Rounded Rectangle 12"/>
          <p:cNvSpPr/>
          <p:nvPr/>
        </p:nvSpPr>
        <p:spPr>
          <a:xfrm>
            <a:off x="2415844" y="2212848"/>
            <a:ext cx="1755648" cy="3703320"/>
          </a:xfrm>
          <a:prstGeom prst="roundRect">
            <a:avLst>
              <a:gd name="adj" fmla="val 5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2543860" y="2331720"/>
            <a:ext cx="1527048" cy="228600"/>
          </a:xfrm>
          <a:prstGeom prst="rect">
            <a:avLst/>
          </a:prstGeom>
          <a:noFill/>
        </p:spPr>
        <p:txBody>
          <a:bodyPr wrap="square" lIns="0" tIns="0" rIns="0" bIns="0" anchor="t">
            <a:spAutoFit/>
          </a:bodyPr>
          <a:lstStyle/>
          <a:p>
            <a:pPr algn="l"/>
            <a:r>
              <a:rPr sz="1000" b="1" i="0">
                <a:solidFill>
                  <a:schemeClr val="accent1"/>
                </a:solidFill>
              </a:rPr>
              <a:t>PHASE 2</a:t>
            </a:r>
          </a:p>
        </p:txBody>
      </p:sp>
      <p:sp>
        <p:nvSpPr>
          <p:cNvPr id="15" name="TextBox 14"/>
          <p:cNvSpPr txBox="1"/>
          <p:nvPr/>
        </p:nvSpPr>
        <p:spPr>
          <a:xfrm>
            <a:off x="2543860" y="2606040"/>
            <a:ext cx="1527048" cy="594360"/>
          </a:xfrm>
          <a:prstGeom prst="rect">
            <a:avLst/>
          </a:prstGeom>
          <a:noFill/>
        </p:spPr>
        <p:txBody>
          <a:bodyPr wrap="square" lIns="0" tIns="0" rIns="0" bIns="0" anchor="t">
            <a:spAutoFit/>
          </a:bodyPr>
          <a:lstStyle/>
          <a:p>
            <a:pPr algn="l"/>
            <a:r>
              <a:rPr sz="1400" b="1" i="0">
                <a:solidFill>
                  <a:schemeClr val="tx1"/>
                </a:solidFill>
              </a:rPr>
              <a:t>Smart IoT Kitchen</a:t>
            </a:r>
          </a:p>
        </p:txBody>
      </p:sp>
      <p:sp>
        <p:nvSpPr>
          <p:cNvPr id="16" name="TextBox 15"/>
          <p:cNvSpPr txBox="1"/>
          <p:nvPr/>
        </p:nvSpPr>
        <p:spPr>
          <a:xfrm>
            <a:off x="2543860" y="3200400"/>
            <a:ext cx="1554480" cy="2697480"/>
          </a:xfrm>
          <a:prstGeom prst="rect">
            <a:avLst/>
          </a:prstGeom>
          <a:noFill/>
        </p:spPr>
        <p:txBody>
          <a:bodyPr wrap="square" lIns="0" tIns="0" rIns="0" bIns="0" anchor="t">
            <a:spAutoFit/>
          </a:bodyPr>
          <a:lstStyle/>
          <a:p>
            <a:pPr marL="201168" indent="-201168" algn="l">
              <a:spcAft>
                <a:spcPts val="400"/>
              </a:spcAft>
              <a:buChar char="•"/>
            </a:pPr>
            <a:r>
              <a:rPr sz="1200" b="0" i="0">
                <a:solidFill>
                  <a:schemeClr val="tx1"/>
                </a:solidFill>
              </a:rPr>
              <a:t>Real temperature, gas, smoke and humidity sensors</a:t>
            </a:r>
          </a:p>
          <a:p>
            <a:pPr marL="201168" indent="-201168" algn="l">
              <a:spcAft>
                <a:spcPts val="400"/>
              </a:spcAft>
              <a:buChar char="•"/>
            </a:pPr>
            <a:r>
              <a:rPr sz="1200" b="0" i="0">
                <a:solidFill>
                  <a:schemeClr val="tx1"/>
                </a:solidFill>
              </a:rPr>
              <a:t>ESP32/Arduino with Wi-Fi</a:t>
            </a:r>
          </a:p>
          <a:p>
            <a:pPr marL="201168" indent="-201168" algn="l">
              <a:spcAft>
                <a:spcPts val="400"/>
              </a:spcAft>
              <a:buChar char="•"/>
            </a:pPr>
            <a:r>
              <a:rPr sz="1200" b="0" i="0">
                <a:solidFill>
                  <a:schemeClr val="tx1"/>
                </a:solidFill>
              </a:rPr>
              <a:t>Live dashboard, alerts and safety actions</a:t>
            </a:r>
          </a:p>
          <a:p>
            <a:pPr marL="201168" indent="-201168" algn="l">
              <a:spcAft>
                <a:spcPts val="400"/>
              </a:spcAft>
              <a:buChar char="•"/>
            </a:pPr>
            <a:r>
              <a:rPr sz="1200" b="0" i="0">
                <a:solidFill>
                  <a:schemeClr val="tx1"/>
                </a:solidFill>
              </a:rPr>
              <a:t>Physical 7-segment token display and energy monitoring</a:t>
            </a:r>
          </a:p>
        </p:txBody>
      </p:sp>
      <p:sp>
        <p:nvSpPr>
          <p:cNvPr id="17" name="Oval 16"/>
          <p:cNvSpPr/>
          <p:nvPr/>
        </p:nvSpPr>
        <p:spPr>
          <a:xfrm>
            <a:off x="4913985" y="1536192"/>
            <a:ext cx="493776" cy="493776"/>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4913985" y="1536192"/>
            <a:ext cx="493776" cy="493776"/>
          </a:xfrm>
          <a:prstGeom prst="rect">
            <a:avLst/>
          </a:prstGeom>
          <a:noFill/>
        </p:spPr>
        <p:txBody>
          <a:bodyPr wrap="square" lIns="0" tIns="0" rIns="0" bIns="0" anchor="ctr">
            <a:spAutoFit/>
          </a:bodyPr>
          <a:lstStyle/>
          <a:p>
            <a:pPr algn="ctr"/>
            <a:r>
              <a:rPr sz="1800" b="1" i="0">
                <a:solidFill>
                  <a:schemeClr val="bg1"/>
                </a:solidFill>
              </a:rPr>
              <a:t>3</a:t>
            </a:r>
          </a:p>
        </p:txBody>
      </p:sp>
      <p:sp>
        <p:nvSpPr>
          <p:cNvPr id="19" name="Rounded Rectangle 18"/>
          <p:cNvSpPr/>
          <p:nvPr/>
        </p:nvSpPr>
        <p:spPr>
          <a:xfrm>
            <a:off x="4283049" y="2212848"/>
            <a:ext cx="1755648" cy="3703320"/>
          </a:xfrm>
          <a:prstGeom prst="roundRect">
            <a:avLst>
              <a:gd name="adj" fmla="val 5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4411065" y="2331720"/>
            <a:ext cx="1527048" cy="228600"/>
          </a:xfrm>
          <a:prstGeom prst="rect">
            <a:avLst/>
          </a:prstGeom>
          <a:noFill/>
        </p:spPr>
        <p:txBody>
          <a:bodyPr wrap="square" lIns="0" tIns="0" rIns="0" bIns="0" anchor="t">
            <a:spAutoFit/>
          </a:bodyPr>
          <a:lstStyle/>
          <a:p>
            <a:pPr algn="l"/>
            <a:r>
              <a:rPr sz="1000" b="1" i="0">
                <a:solidFill>
                  <a:schemeClr val="accent1"/>
                </a:solidFill>
              </a:rPr>
              <a:t>PHASE 3</a:t>
            </a:r>
          </a:p>
        </p:txBody>
      </p:sp>
      <p:sp>
        <p:nvSpPr>
          <p:cNvPr id="21" name="TextBox 20"/>
          <p:cNvSpPr txBox="1"/>
          <p:nvPr/>
        </p:nvSpPr>
        <p:spPr>
          <a:xfrm>
            <a:off x="4411065" y="2606040"/>
            <a:ext cx="1527048" cy="594360"/>
          </a:xfrm>
          <a:prstGeom prst="rect">
            <a:avLst/>
          </a:prstGeom>
          <a:noFill/>
        </p:spPr>
        <p:txBody>
          <a:bodyPr wrap="square" lIns="0" tIns="0" rIns="0" bIns="0" anchor="t">
            <a:spAutoFit/>
          </a:bodyPr>
          <a:lstStyle/>
          <a:p>
            <a:pPr algn="l"/>
            <a:r>
              <a:rPr sz="1400" b="1" i="0">
                <a:solidFill>
                  <a:schemeClr val="tx1"/>
                </a:solidFill>
              </a:rPr>
              <a:t>Data &amp; Smart Analytics</a:t>
            </a:r>
          </a:p>
        </p:txBody>
      </p:sp>
      <p:sp>
        <p:nvSpPr>
          <p:cNvPr id="22" name="TextBox 21"/>
          <p:cNvSpPr txBox="1"/>
          <p:nvPr/>
        </p:nvSpPr>
        <p:spPr>
          <a:xfrm>
            <a:off x="4411065" y="3200400"/>
            <a:ext cx="1554480" cy="2697480"/>
          </a:xfrm>
          <a:prstGeom prst="rect">
            <a:avLst/>
          </a:prstGeom>
          <a:noFill/>
        </p:spPr>
        <p:txBody>
          <a:bodyPr wrap="square" lIns="0" tIns="0" rIns="0" bIns="0" anchor="t">
            <a:spAutoFit/>
          </a:bodyPr>
          <a:lstStyle/>
          <a:p>
            <a:pPr marL="201168" indent="-201168" algn="l">
              <a:spcAft>
                <a:spcPts val="400"/>
              </a:spcAft>
              <a:buChar char="•"/>
            </a:pPr>
            <a:r>
              <a:rPr sz="1200" b="0" i="0">
                <a:solidFill>
                  <a:schemeClr val="tx1"/>
                </a:solidFill>
              </a:rPr>
              <a:t>Database for customers, orders, bills and feedback</a:t>
            </a:r>
          </a:p>
          <a:p>
            <a:pPr marL="201168" indent="-201168" algn="l">
              <a:spcAft>
                <a:spcPts val="400"/>
              </a:spcAft>
              <a:buChar char="•"/>
            </a:pPr>
            <a:r>
              <a:rPr sz="1200" b="0" i="0">
                <a:solidFill>
                  <a:schemeClr val="tx1"/>
                </a:solidFill>
              </a:rPr>
              <a:t>Inventory and sales management</a:t>
            </a:r>
          </a:p>
          <a:p>
            <a:pPr marL="201168" indent="-201168" algn="l">
              <a:spcAft>
                <a:spcPts val="400"/>
              </a:spcAft>
              <a:buChar char="•"/>
            </a:pPr>
            <a:r>
              <a:rPr sz="1200" b="0" i="0">
                <a:solidFill>
                  <a:schemeClr val="tx1"/>
                </a:solidFill>
              </a:rPr>
              <a:t>Energy reports and demand forecasting</a:t>
            </a:r>
          </a:p>
        </p:txBody>
      </p:sp>
      <p:sp>
        <p:nvSpPr>
          <p:cNvPr id="23" name="Oval 22"/>
          <p:cNvSpPr/>
          <p:nvPr/>
        </p:nvSpPr>
        <p:spPr>
          <a:xfrm>
            <a:off x="6781190" y="1536192"/>
            <a:ext cx="493776" cy="493776"/>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6781190" y="1536192"/>
            <a:ext cx="493776" cy="493776"/>
          </a:xfrm>
          <a:prstGeom prst="rect">
            <a:avLst/>
          </a:prstGeom>
          <a:noFill/>
        </p:spPr>
        <p:txBody>
          <a:bodyPr wrap="square" lIns="0" tIns="0" rIns="0" bIns="0" anchor="ctr">
            <a:spAutoFit/>
          </a:bodyPr>
          <a:lstStyle/>
          <a:p>
            <a:pPr algn="ctr"/>
            <a:r>
              <a:rPr sz="1800" b="1" i="0">
                <a:solidFill>
                  <a:schemeClr val="bg1"/>
                </a:solidFill>
              </a:rPr>
              <a:t>4</a:t>
            </a:r>
          </a:p>
        </p:txBody>
      </p:sp>
      <p:sp>
        <p:nvSpPr>
          <p:cNvPr id="25" name="Rounded Rectangle 24"/>
          <p:cNvSpPr/>
          <p:nvPr/>
        </p:nvSpPr>
        <p:spPr>
          <a:xfrm>
            <a:off x="6150254" y="2212848"/>
            <a:ext cx="1755648" cy="3703320"/>
          </a:xfrm>
          <a:prstGeom prst="roundRect">
            <a:avLst>
              <a:gd name="adj" fmla="val 5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6278270" y="2331720"/>
            <a:ext cx="1527048" cy="228600"/>
          </a:xfrm>
          <a:prstGeom prst="rect">
            <a:avLst/>
          </a:prstGeom>
          <a:noFill/>
        </p:spPr>
        <p:txBody>
          <a:bodyPr wrap="square" lIns="0" tIns="0" rIns="0" bIns="0" anchor="t">
            <a:spAutoFit/>
          </a:bodyPr>
          <a:lstStyle/>
          <a:p>
            <a:pPr algn="l"/>
            <a:r>
              <a:rPr sz="1000" b="1" i="0">
                <a:solidFill>
                  <a:schemeClr val="accent1"/>
                </a:solidFill>
              </a:rPr>
              <a:t>PHASE 4</a:t>
            </a:r>
          </a:p>
        </p:txBody>
      </p:sp>
      <p:sp>
        <p:nvSpPr>
          <p:cNvPr id="27" name="TextBox 26"/>
          <p:cNvSpPr txBox="1"/>
          <p:nvPr/>
        </p:nvSpPr>
        <p:spPr>
          <a:xfrm>
            <a:off x="6278270" y="2606040"/>
            <a:ext cx="1527048" cy="594360"/>
          </a:xfrm>
          <a:prstGeom prst="rect">
            <a:avLst/>
          </a:prstGeom>
          <a:noFill/>
        </p:spPr>
        <p:txBody>
          <a:bodyPr wrap="square" lIns="0" tIns="0" rIns="0" bIns="0" anchor="t">
            <a:spAutoFit/>
          </a:bodyPr>
          <a:lstStyle/>
          <a:p>
            <a:pPr algn="l"/>
            <a:r>
              <a:rPr sz="1400" b="1" i="0">
                <a:solidFill>
                  <a:schemeClr val="tx1"/>
                </a:solidFill>
              </a:rPr>
              <a:t>Customer Mobile App</a:t>
            </a:r>
          </a:p>
        </p:txBody>
      </p:sp>
      <p:sp>
        <p:nvSpPr>
          <p:cNvPr id="28" name="TextBox 27"/>
          <p:cNvSpPr txBox="1"/>
          <p:nvPr/>
        </p:nvSpPr>
        <p:spPr>
          <a:xfrm>
            <a:off x="6278270" y="3200400"/>
            <a:ext cx="1554480" cy="2697480"/>
          </a:xfrm>
          <a:prstGeom prst="rect">
            <a:avLst/>
          </a:prstGeom>
          <a:noFill/>
        </p:spPr>
        <p:txBody>
          <a:bodyPr wrap="square" lIns="0" tIns="0" rIns="0" bIns="0" anchor="t">
            <a:spAutoFit/>
          </a:bodyPr>
          <a:lstStyle/>
          <a:p>
            <a:pPr marL="201168" indent="-201168" algn="l">
              <a:spcAft>
                <a:spcPts val="400"/>
              </a:spcAft>
              <a:buChar char="•"/>
            </a:pPr>
            <a:r>
              <a:rPr sz="1200" b="0" i="0">
                <a:solidFill>
                  <a:schemeClr val="tx1"/>
                </a:solidFill>
              </a:rPr>
              <a:t>Restaurant discovery and interactive menus</a:t>
            </a:r>
          </a:p>
          <a:p>
            <a:pPr marL="201168" indent="-201168" algn="l">
              <a:spcAft>
                <a:spcPts val="400"/>
              </a:spcAft>
              <a:buChar char="•"/>
            </a:pPr>
            <a:r>
              <a:rPr sz="1200" b="0" i="0">
                <a:solidFill>
                  <a:schemeClr val="tx1"/>
                </a:solidFill>
              </a:rPr>
              <a:t>Dish customization, QR ordering, loyalty rewards</a:t>
            </a:r>
          </a:p>
          <a:p>
            <a:pPr marL="201168" indent="-201168" algn="l">
              <a:spcAft>
                <a:spcPts val="400"/>
              </a:spcAft>
              <a:buChar char="•"/>
            </a:pPr>
            <a:r>
              <a:rPr sz="1200" b="0" i="0">
                <a:solidFill>
                  <a:schemeClr val="tx1"/>
                </a:solidFill>
              </a:rPr>
              <a:t>Secure online payments</a:t>
            </a:r>
          </a:p>
          <a:p>
            <a:pPr marL="201168" indent="-201168" algn="l">
              <a:spcAft>
                <a:spcPts val="400"/>
              </a:spcAft>
              <a:buChar char="•"/>
            </a:pPr>
            <a:r>
              <a:rPr sz="1200" b="0" i="0">
                <a:solidFill>
                  <a:schemeClr val="tx1"/>
                </a:solidFill>
              </a:rPr>
              <a:t>Personalized recommendations</a:t>
            </a:r>
          </a:p>
        </p:txBody>
      </p:sp>
      <p:sp>
        <p:nvSpPr>
          <p:cNvPr id="29" name="Oval 28"/>
          <p:cNvSpPr/>
          <p:nvPr/>
        </p:nvSpPr>
        <p:spPr>
          <a:xfrm>
            <a:off x="8648395" y="1536192"/>
            <a:ext cx="493776" cy="493776"/>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8648395" y="1536192"/>
            <a:ext cx="493776" cy="493776"/>
          </a:xfrm>
          <a:prstGeom prst="rect">
            <a:avLst/>
          </a:prstGeom>
          <a:noFill/>
        </p:spPr>
        <p:txBody>
          <a:bodyPr wrap="square" lIns="0" tIns="0" rIns="0" bIns="0" anchor="ctr">
            <a:spAutoFit/>
          </a:bodyPr>
          <a:lstStyle/>
          <a:p>
            <a:pPr algn="ctr"/>
            <a:r>
              <a:rPr sz="1800" b="1" i="0">
                <a:solidFill>
                  <a:schemeClr val="bg1"/>
                </a:solidFill>
              </a:rPr>
              <a:t>5</a:t>
            </a:r>
          </a:p>
        </p:txBody>
      </p:sp>
      <p:sp>
        <p:nvSpPr>
          <p:cNvPr id="31" name="Rounded Rectangle 30"/>
          <p:cNvSpPr/>
          <p:nvPr/>
        </p:nvSpPr>
        <p:spPr>
          <a:xfrm>
            <a:off x="8017459" y="2212848"/>
            <a:ext cx="1755648" cy="3703320"/>
          </a:xfrm>
          <a:prstGeom prst="roundRect">
            <a:avLst>
              <a:gd name="adj" fmla="val 5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8145475" y="2331720"/>
            <a:ext cx="1527048" cy="228600"/>
          </a:xfrm>
          <a:prstGeom prst="rect">
            <a:avLst/>
          </a:prstGeom>
          <a:noFill/>
        </p:spPr>
        <p:txBody>
          <a:bodyPr wrap="square" lIns="0" tIns="0" rIns="0" bIns="0" anchor="t">
            <a:spAutoFit/>
          </a:bodyPr>
          <a:lstStyle/>
          <a:p>
            <a:pPr algn="l"/>
            <a:r>
              <a:rPr sz="1000" b="1" i="0">
                <a:solidFill>
                  <a:schemeClr val="accent1"/>
                </a:solidFill>
              </a:rPr>
              <a:t>PHASE 5</a:t>
            </a:r>
          </a:p>
        </p:txBody>
      </p:sp>
      <p:sp>
        <p:nvSpPr>
          <p:cNvPr id="33" name="TextBox 32"/>
          <p:cNvSpPr txBox="1"/>
          <p:nvPr/>
        </p:nvSpPr>
        <p:spPr>
          <a:xfrm>
            <a:off x="8145475" y="2606040"/>
            <a:ext cx="1527048" cy="594360"/>
          </a:xfrm>
          <a:prstGeom prst="rect">
            <a:avLst/>
          </a:prstGeom>
          <a:noFill/>
        </p:spPr>
        <p:txBody>
          <a:bodyPr wrap="square" lIns="0" tIns="0" rIns="0" bIns="0" anchor="t">
            <a:spAutoFit/>
          </a:bodyPr>
          <a:lstStyle/>
          <a:p>
            <a:pPr algn="l"/>
            <a:r>
              <a:rPr sz="1400" b="1" i="0">
                <a:solidFill>
                  <a:schemeClr val="tx1"/>
                </a:solidFill>
              </a:rPr>
              <a:t>Food-Delivery Platform</a:t>
            </a:r>
          </a:p>
        </p:txBody>
      </p:sp>
      <p:sp>
        <p:nvSpPr>
          <p:cNvPr id="34" name="TextBox 33"/>
          <p:cNvSpPr txBox="1"/>
          <p:nvPr/>
        </p:nvSpPr>
        <p:spPr>
          <a:xfrm>
            <a:off x="8145475" y="3200400"/>
            <a:ext cx="1554480" cy="2697480"/>
          </a:xfrm>
          <a:prstGeom prst="rect">
            <a:avLst/>
          </a:prstGeom>
          <a:noFill/>
        </p:spPr>
        <p:txBody>
          <a:bodyPr wrap="square" lIns="0" tIns="0" rIns="0" bIns="0" anchor="t">
            <a:spAutoFit/>
          </a:bodyPr>
          <a:lstStyle/>
          <a:p>
            <a:pPr marL="201168" indent="-201168" algn="l">
              <a:spcAft>
                <a:spcPts val="400"/>
              </a:spcAft>
              <a:buChar char="•"/>
            </a:pPr>
            <a:r>
              <a:rPr sz="1150" b="0" i="0">
                <a:solidFill>
                  <a:schemeClr val="tx1"/>
                </a:solidFill>
              </a:rPr>
              <a:t>Real-time kitchen and order tracking</a:t>
            </a:r>
          </a:p>
          <a:p>
            <a:pPr marL="201168" indent="-201168" algn="l">
              <a:spcAft>
                <a:spcPts val="400"/>
              </a:spcAft>
              <a:buChar char="•"/>
            </a:pPr>
            <a:r>
              <a:rPr sz="1150" b="0" i="0">
                <a:solidFill>
                  <a:schemeClr val="tx1"/>
                </a:solidFill>
              </a:rPr>
              <a:t>Delivery-partner tracking and ETAs</a:t>
            </a:r>
          </a:p>
          <a:p>
            <a:pPr marL="201168" indent="-201168" algn="l">
              <a:spcAft>
                <a:spcPts val="400"/>
              </a:spcAft>
              <a:buChar char="•"/>
            </a:pPr>
            <a:r>
              <a:rPr sz="1150" b="0" i="0">
                <a:solidFill>
                  <a:schemeClr val="tx1"/>
                </a:solidFill>
              </a:rPr>
              <a:t>Reviews, notifications, order history</a:t>
            </a:r>
          </a:p>
          <a:p>
            <a:pPr marL="201168" indent="-201168" algn="l">
              <a:spcAft>
                <a:spcPts val="400"/>
              </a:spcAft>
              <a:buChar char="•"/>
            </a:pPr>
            <a:r>
              <a:rPr sz="1150" b="0" i="0">
                <a:solidFill>
                  <a:schemeClr val="tx1"/>
                </a:solidFill>
              </a:rPr>
              <a:t>Inspired by Swiggy and Zomato, with deeper ordering–kitchen–IoT–energy integration</a:t>
            </a:r>
          </a:p>
        </p:txBody>
      </p:sp>
      <p:sp>
        <p:nvSpPr>
          <p:cNvPr id="35" name="Oval 34"/>
          <p:cNvSpPr/>
          <p:nvPr/>
        </p:nvSpPr>
        <p:spPr>
          <a:xfrm>
            <a:off x="10515600" y="1536192"/>
            <a:ext cx="493776" cy="493776"/>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10515600" y="1536192"/>
            <a:ext cx="493776" cy="493776"/>
          </a:xfrm>
          <a:prstGeom prst="rect">
            <a:avLst/>
          </a:prstGeom>
          <a:noFill/>
        </p:spPr>
        <p:txBody>
          <a:bodyPr wrap="square" lIns="0" tIns="0" rIns="0" bIns="0" anchor="ctr">
            <a:spAutoFit/>
          </a:bodyPr>
          <a:lstStyle/>
          <a:p>
            <a:pPr algn="ctr"/>
            <a:r>
              <a:rPr sz="1800" b="1" i="0">
                <a:solidFill>
                  <a:schemeClr val="bg1"/>
                </a:solidFill>
              </a:rPr>
              <a:t>6</a:t>
            </a:r>
          </a:p>
        </p:txBody>
      </p:sp>
      <p:sp>
        <p:nvSpPr>
          <p:cNvPr id="37" name="Rounded Rectangle 36"/>
          <p:cNvSpPr/>
          <p:nvPr/>
        </p:nvSpPr>
        <p:spPr>
          <a:xfrm>
            <a:off x="9884663" y="2212848"/>
            <a:ext cx="1755648" cy="3703320"/>
          </a:xfrm>
          <a:prstGeom prst="roundRect">
            <a:avLst>
              <a:gd name="adj" fmla="val 5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10012680" y="2331720"/>
            <a:ext cx="1527048" cy="228600"/>
          </a:xfrm>
          <a:prstGeom prst="rect">
            <a:avLst/>
          </a:prstGeom>
          <a:noFill/>
        </p:spPr>
        <p:txBody>
          <a:bodyPr wrap="square" lIns="0" tIns="0" rIns="0" bIns="0" anchor="t">
            <a:spAutoFit/>
          </a:bodyPr>
          <a:lstStyle/>
          <a:p>
            <a:pPr algn="l"/>
            <a:r>
              <a:rPr sz="1000" b="1" i="0">
                <a:solidFill>
                  <a:schemeClr val="accent1"/>
                </a:solidFill>
              </a:rPr>
              <a:t>PHASE 6</a:t>
            </a:r>
          </a:p>
        </p:txBody>
      </p:sp>
      <p:sp>
        <p:nvSpPr>
          <p:cNvPr id="39" name="TextBox 38"/>
          <p:cNvSpPr txBox="1"/>
          <p:nvPr/>
        </p:nvSpPr>
        <p:spPr>
          <a:xfrm>
            <a:off x="10012680" y="2606040"/>
            <a:ext cx="1527048" cy="594360"/>
          </a:xfrm>
          <a:prstGeom prst="rect">
            <a:avLst/>
          </a:prstGeom>
          <a:noFill/>
        </p:spPr>
        <p:txBody>
          <a:bodyPr wrap="square" lIns="0" tIns="0" rIns="0" bIns="0" anchor="t">
            <a:spAutoFit/>
          </a:bodyPr>
          <a:lstStyle/>
          <a:p>
            <a:pPr algn="l"/>
            <a:r>
              <a:rPr sz="1400" b="1" i="0">
                <a:solidFill>
                  <a:schemeClr val="tx1"/>
                </a:solidFill>
              </a:rPr>
              <a:t>Restaurant Ecosystem</a:t>
            </a:r>
          </a:p>
        </p:txBody>
      </p:sp>
      <p:sp>
        <p:nvSpPr>
          <p:cNvPr id="40" name="TextBox 39"/>
          <p:cNvSpPr txBox="1"/>
          <p:nvPr/>
        </p:nvSpPr>
        <p:spPr>
          <a:xfrm>
            <a:off x="10012680" y="3200400"/>
            <a:ext cx="1554480" cy="2697480"/>
          </a:xfrm>
          <a:prstGeom prst="rect">
            <a:avLst/>
          </a:prstGeom>
          <a:noFill/>
        </p:spPr>
        <p:txBody>
          <a:bodyPr wrap="square" lIns="0" tIns="0" rIns="0" bIns="0" anchor="t">
            <a:spAutoFit/>
          </a:bodyPr>
          <a:lstStyle/>
          <a:p>
            <a:pPr marL="201168" indent="-201168" algn="l">
              <a:spcAft>
                <a:spcPts val="400"/>
              </a:spcAft>
              <a:buChar char="•"/>
            </a:pPr>
            <a:r>
              <a:rPr sz="1200" b="0" i="0">
                <a:solidFill>
                  <a:schemeClr val="tx1"/>
                </a:solidFill>
              </a:rPr>
              <a:t>Multiple restaurants and branches</a:t>
            </a:r>
          </a:p>
          <a:p>
            <a:pPr marL="201168" indent="-201168" algn="l">
              <a:spcAft>
                <a:spcPts val="400"/>
              </a:spcAft>
              <a:buChar char="•"/>
            </a:pPr>
            <a:r>
              <a:rPr sz="1200" b="0" i="0">
                <a:solidFill>
                  <a:schemeClr val="tx1"/>
                </a:solidFill>
              </a:rPr>
              <a:t>Connected app, kitchen, billing, inventory and delivery</a:t>
            </a:r>
          </a:p>
          <a:p>
            <a:pPr marL="201168" indent="-201168" algn="l">
              <a:spcAft>
                <a:spcPts val="400"/>
              </a:spcAft>
              <a:buChar char="•"/>
            </a:pPr>
            <a:r>
              <a:rPr sz="1200" b="0" i="0">
                <a:solidFill>
                  <a:schemeClr val="tx1"/>
                </a:solidFill>
              </a:rPr>
              <a:t>Cloud dashboard, stronger security, business analytics</a:t>
            </a:r>
          </a:p>
        </p:txBody>
      </p:sp>
      <p:sp>
        <p:nvSpPr>
          <p:cNvPr id="41" name="TextBox 40"/>
          <p:cNvSpPr txBox="1"/>
          <p:nvPr/>
        </p:nvSpPr>
        <p:spPr>
          <a:xfrm>
            <a:off x="548640" y="6016752"/>
            <a:ext cx="11091672" cy="274320"/>
          </a:xfrm>
          <a:prstGeom prst="rect">
            <a:avLst/>
          </a:prstGeom>
          <a:noFill/>
        </p:spPr>
        <p:txBody>
          <a:bodyPr wrap="square" lIns="0" tIns="0" rIns="0" bIns="0" anchor="t">
            <a:spAutoFit/>
          </a:bodyPr>
          <a:lstStyle/>
          <a:p>
            <a:pPr algn="l"/>
            <a:r>
              <a:rPr sz="1100" b="1" i="1">
                <a:solidFill>
                  <a:schemeClr val="tx2"/>
                </a:solidFill>
              </a:rPr>
              <a:t>Current project: </a:t>
            </a:r>
            <a:r>
              <a:rPr sz="1100" b="0" i="1">
                <a:solidFill>
                  <a:schemeClr val="tx2"/>
                </a:solidFill>
              </a:rPr>
              <a:t>Core Java prototype with simulated monitoring. Phases 2–6 are proposed future enhancements.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circle-430"/>
          <p:cNvSpPr/>
          <p:nvPr/>
        </p:nvSpPr>
        <p:spPr>
          <a:xfrm>
            <a:off x="6309360" y="365760"/>
            <a:ext cx="5852160" cy="5852160"/>
          </a:xfrm>
          <a:prstGeom prst="ellipse">
            <a:avLst/>
          </a:prstGeom>
          <a:solidFill>
            <a:schemeClr val="accent1">
              <a:alpha val="18000"/>
            </a:schemeClr>
          </a:solidFill>
          <a:ln/>
        </p:spPr>
      </p:sp>
      <p:sp>
        <p:nvSpPr>
          <p:cNvPr id="3" name="circle-431"/>
          <p:cNvSpPr/>
          <p:nvPr/>
        </p:nvSpPr>
        <p:spPr>
          <a:xfrm>
            <a:off x="7223760" y="1280160"/>
            <a:ext cx="4023360" cy="4023360"/>
          </a:xfrm>
          <a:prstGeom prst="ellipse">
            <a:avLst/>
          </a:prstGeom>
          <a:solidFill>
            <a:schemeClr val="accent1">
              <a:alpha val="30000"/>
            </a:schemeClr>
          </a:solidFill>
          <a:ln/>
        </p:spPr>
      </p:sp>
      <p:sp>
        <p:nvSpPr>
          <p:cNvPr id="4" name="txt-432"/>
          <p:cNvSpPr txBox="1"/>
          <p:nvPr/>
        </p:nvSpPr>
        <p:spPr>
          <a:xfrm>
            <a:off x="731520" y="822960"/>
            <a:ext cx="5486400" cy="320040"/>
          </a:xfrm>
          <a:prstGeom prst="rect">
            <a:avLst/>
          </a:prstGeom>
          <a:noFill/>
          <a:ln/>
        </p:spPr>
        <p:txBody>
          <a:bodyPr wrap="square" lIns="0" tIns="0" rIns="0" bIns="0" rtlCol="0" anchor="ctr"/>
          <a:lstStyle/>
          <a:p>
            <a:pPr marL="0" indent="0">
              <a:buNone/>
            </a:pPr>
            <a:r>
              <a:rPr lang="en-US" sz="1300" b="1" kern="0" spc="400" dirty="0">
                <a:solidFill>
                  <a:schemeClr val="accent5"/>
                </a:solidFill>
              </a:rPr>
              <a:t>DINESYNC  ·  JAVA EXPO 2026-27</a:t>
            </a:r>
            <a:endParaRPr lang="en-US" sz="1300" dirty="0"/>
          </a:p>
        </p:txBody>
      </p:sp>
      <p:sp>
        <p:nvSpPr>
          <p:cNvPr id="5" name="txt-433"/>
          <p:cNvSpPr txBox="1"/>
          <p:nvPr/>
        </p:nvSpPr>
        <p:spPr>
          <a:xfrm>
            <a:off x="731520" y="1234440"/>
            <a:ext cx="5760720" cy="1280160"/>
          </a:xfrm>
          <a:prstGeom prst="rect">
            <a:avLst/>
          </a:prstGeom>
          <a:noFill/>
          <a:ln/>
        </p:spPr>
        <p:txBody>
          <a:bodyPr wrap="square" lIns="0" tIns="0" rIns="0" bIns="0" rtlCol="0" anchor="ctr"/>
          <a:lstStyle/>
          <a:p>
            <a:pPr marL="0" indent="0">
              <a:buNone/>
            </a:pPr>
            <a:r>
              <a:rPr lang="en-US" sz="8000" b="1" dirty="0">
                <a:solidFill>
                  <a:schemeClr val="bg1"/>
                </a:solidFill>
              </a:rPr>
              <a:t>Thank You</a:t>
            </a:r>
            <a:endParaRPr lang="en-US" sz="8000" dirty="0"/>
          </a:p>
        </p:txBody>
      </p:sp>
      <p:sp>
        <p:nvSpPr>
          <p:cNvPr id="6" name="txt-434"/>
          <p:cNvSpPr txBox="1"/>
          <p:nvPr/>
        </p:nvSpPr>
        <p:spPr>
          <a:xfrm>
            <a:off x="731520" y="2606040"/>
            <a:ext cx="5760720" cy="548640"/>
          </a:xfrm>
          <a:prstGeom prst="rect">
            <a:avLst/>
          </a:prstGeom>
          <a:noFill/>
          <a:ln/>
        </p:spPr>
        <p:txBody>
          <a:bodyPr wrap="square" lIns="0" tIns="0" rIns="0" bIns="0" rtlCol="0" anchor="ctr"/>
          <a:lstStyle/>
          <a:p>
            <a:pPr marL="0" indent="0">
              <a:buNone/>
            </a:pPr>
            <a:r>
              <a:rPr lang="en-US" sz="2400" dirty="0">
                <a:solidFill>
                  <a:schemeClr val="bg1"/>
                </a:solidFill>
              </a:rPr>
              <a:t>One order. One flow. </a:t>
            </a:r>
            <a:r>
              <a:rPr lang="en-US" sz="2400" b="1" dirty="0">
                <a:solidFill>
                  <a:schemeClr val="accent5"/>
                </a:solidFill>
              </a:rPr>
              <a:t>Zero paper slips.</a:t>
            </a:r>
            <a:endParaRPr lang="en-US" sz="2400" dirty="0"/>
          </a:p>
        </p:txBody>
      </p:sp>
      <p:sp>
        <p:nvSpPr>
          <p:cNvPr id="7" name="txt-435"/>
          <p:cNvSpPr txBox="1"/>
          <p:nvPr/>
        </p:nvSpPr>
        <p:spPr>
          <a:xfrm>
            <a:off x="731520" y="3383280"/>
            <a:ext cx="1645920" cy="685800"/>
          </a:xfrm>
          <a:prstGeom prst="rect">
            <a:avLst/>
          </a:prstGeom>
          <a:noFill/>
          <a:ln/>
        </p:spPr>
        <p:txBody>
          <a:bodyPr wrap="square" lIns="0" tIns="0" rIns="0" bIns="0" rtlCol="0" anchor="ctr"/>
          <a:lstStyle/>
          <a:p>
            <a:pPr marL="0" indent="0">
              <a:buNone/>
            </a:pPr>
            <a:r>
              <a:rPr lang="en-US" sz="4000" b="1" dirty="0">
                <a:solidFill>
                  <a:schemeClr val="accent5"/>
                </a:solidFill>
              </a:rPr>
              <a:t>13</a:t>
            </a:r>
            <a:endParaRPr lang="en-US" sz="4000" dirty="0"/>
          </a:p>
        </p:txBody>
      </p:sp>
      <p:sp>
        <p:nvSpPr>
          <p:cNvPr id="8" name="txt-436"/>
          <p:cNvSpPr txBox="1"/>
          <p:nvPr/>
        </p:nvSpPr>
        <p:spPr>
          <a:xfrm>
            <a:off x="731520" y="4041648"/>
            <a:ext cx="1645920" cy="320040"/>
          </a:xfrm>
          <a:prstGeom prst="rect">
            <a:avLst/>
          </a:prstGeom>
          <a:noFill/>
          <a:ln/>
        </p:spPr>
        <p:txBody>
          <a:bodyPr wrap="square" lIns="0" tIns="0" rIns="0" bIns="0" rtlCol="0" anchor="ctr"/>
          <a:lstStyle/>
          <a:p>
            <a:pPr marL="0" indent="0">
              <a:buNone/>
            </a:pPr>
            <a:r>
              <a:rPr lang="en-US" sz="1400" dirty="0">
                <a:solidFill>
                  <a:schemeClr val="accent6"/>
                </a:solidFill>
              </a:rPr>
              <a:t>modules</a:t>
            </a:r>
            <a:endParaRPr lang="en-US" sz="1400" dirty="0"/>
          </a:p>
        </p:txBody>
      </p:sp>
      <p:sp>
        <p:nvSpPr>
          <p:cNvPr id="9" name="txt-437"/>
          <p:cNvSpPr txBox="1"/>
          <p:nvPr/>
        </p:nvSpPr>
        <p:spPr>
          <a:xfrm>
            <a:off x="2560320" y="3383280"/>
            <a:ext cx="1645920" cy="685800"/>
          </a:xfrm>
          <a:prstGeom prst="rect">
            <a:avLst/>
          </a:prstGeom>
          <a:noFill/>
          <a:ln/>
        </p:spPr>
        <p:txBody>
          <a:bodyPr wrap="square" lIns="0" tIns="0" rIns="0" bIns="0" rtlCol="0" anchor="ctr"/>
          <a:lstStyle/>
          <a:p>
            <a:pPr marL="0" indent="0">
              <a:buNone/>
            </a:pPr>
            <a:r>
              <a:rPr lang="en-US" sz="4000" b="1" dirty="0">
                <a:solidFill>
                  <a:schemeClr val="accent5"/>
                </a:solidFill>
              </a:rPr>
              <a:t>4</a:t>
            </a:r>
            <a:endParaRPr lang="en-US" sz="4000" dirty="0"/>
          </a:p>
        </p:txBody>
      </p:sp>
      <p:sp>
        <p:nvSpPr>
          <p:cNvPr id="10" name="txt-438"/>
          <p:cNvSpPr txBox="1"/>
          <p:nvPr/>
        </p:nvSpPr>
        <p:spPr>
          <a:xfrm>
            <a:off x="2560320" y="4041648"/>
            <a:ext cx="1645920" cy="320040"/>
          </a:xfrm>
          <a:prstGeom prst="rect">
            <a:avLst/>
          </a:prstGeom>
          <a:noFill/>
          <a:ln/>
        </p:spPr>
        <p:txBody>
          <a:bodyPr wrap="square" lIns="0" tIns="0" rIns="0" bIns="0" rtlCol="0" anchor="ctr"/>
          <a:lstStyle/>
          <a:p>
            <a:pPr marL="0" indent="0">
              <a:buNone/>
            </a:pPr>
            <a:r>
              <a:rPr lang="en-US" sz="1400" dirty="0">
                <a:solidFill>
                  <a:schemeClr val="accent6"/>
                </a:solidFill>
              </a:rPr>
              <a:t>staff roles</a:t>
            </a:r>
            <a:endParaRPr lang="en-US" sz="1400" dirty="0"/>
          </a:p>
        </p:txBody>
      </p:sp>
      <p:sp>
        <p:nvSpPr>
          <p:cNvPr id="11" name="txt-439"/>
          <p:cNvSpPr txBox="1"/>
          <p:nvPr/>
        </p:nvSpPr>
        <p:spPr>
          <a:xfrm>
            <a:off x="4389120" y="3383280"/>
            <a:ext cx="1645920" cy="685800"/>
          </a:xfrm>
          <a:prstGeom prst="rect">
            <a:avLst/>
          </a:prstGeom>
          <a:noFill/>
          <a:ln/>
        </p:spPr>
        <p:txBody>
          <a:bodyPr wrap="square" lIns="0" tIns="0" rIns="0" bIns="0" rtlCol="0" anchor="ctr"/>
          <a:lstStyle/>
          <a:p>
            <a:pPr marL="0" indent="0">
              <a:buNone/>
            </a:pPr>
            <a:r>
              <a:rPr lang="en-US" sz="4000" b="1" dirty="0">
                <a:solidFill>
                  <a:schemeClr val="accent5"/>
                </a:solidFill>
              </a:rPr>
              <a:t>1</a:t>
            </a:r>
            <a:endParaRPr lang="en-US" sz="4000" dirty="0"/>
          </a:p>
        </p:txBody>
      </p:sp>
      <p:sp>
        <p:nvSpPr>
          <p:cNvPr id="12" name="txt-440"/>
          <p:cNvSpPr txBox="1"/>
          <p:nvPr/>
        </p:nvSpPr>
        <p:spPr>
          <a:xfrm>
            <a:off x="4389120" y="4041648"/>
            <a:ext cx="1645920" cy="320040"/>
          </a:xfrm>
          <a:prstGeom prst="rect">
            <a:avLst/>
          </a:prstGeom>
          <a:noFill/>
          <a:ln/>
        </p:spPr>
        <p:txBody>
          <a:bodyPr wrap="square" lIns="0" tIns="0" rIns="0" bIns="0" rtlCol="0" anchor="ctr"/>
          <a:lstStyle/>
          <a:p>
            <a:pPr marL="0" indent="0">
              <a:buNone/>
            </a:pPr>
            <a:r>
              <a:rPr lang="en-US" sz="1400" dirty="0">
                <a:solidFill>
                  <a:schemeClr val="accent6"/>
                </a:solidFill>
              </a:rPr>
              <a:t>connected flow</a:t>
            </a:r>
            <a:endParaRPr lang="en-US" sz="1400" dirty="0"/>
          </a:p>
        </p:txBody>
      </p:sp>
      <p:sp>
        <p:nvSpPr>
          <p:cNvPr id="13" name="card-441"/>
          <p:cNvSpPr/>
          <p:nvPr/>
        </p:nvSpPr>
        <p:spPr>
          <a:xfrm>
            <a:off x="731520" y="4709160"/>
            <a:ext cx="1783080" cy="914400"/>
          </a:xfrm>
          <a:prstGeom prst="roundRect">
            <a:avLst>
              <a:gd name="adj" fmla="val 12000"/>
            </a:avLst>
          </a:prstGeom>
          <a:solidFill>
            <a:schemeClr val="bg1">
              <a:alpha val="10000"/>
            </a:schemeClr>
          </a:solidFill>
          <a:ln/>
        </p:spPr>
      </p:sp>
      <p:sp>
        <p:nvSpPr>
          <p:cNvPr id="14" name="txt-442"/>
          <p:cNvSpPr txBox="1"/>
          <p:nvPr/>
        </p:nvSpPr>
        <p:spPr>
          <a:xfrm>
            <a:off x="868680" y="4773168"/>
            <a:ext cx="1554480" cy="457200"/>
          </a:xfrm>
          <a:prstGeom prst="rect">
            <a:avLst/>
          </a:prstGeom>
          <a:noFill/>
          <a:ln/>
        </p:spPr>
        <p:txBody>
          <a:bodyPr wrap="square" lIns="0" tIns="0" rIns="0" bIns="0" rtlCol="0" anchor="ctr"/>
          <a:lstStyle/>
          <a:p>
            <a:pPr marL="0" indent="0">
              <a:buNone/>
            </a:pPr>
            <a:r>
              <a:rPr lang="en-US" sz="1300" b="1" dirty="0">
                <a:solidFill>
                  <a:schemeClr val="bg1"/>
                </a:solidFill>
              </a:rPr>
              <a:t>Pranathi Kusi</a:t>
            </a:r>
            <a:endParaRPr lang="en-US" sz="1300" dirty="0"/>
          </a:p>
        </p:txBody>
      </p:sp>
      <p:sp>
        <p:nvSpPr>
          <p:cNvPr id="15" name="txt-443"/>
          <p:cNvSpPr txBox="1"/>
          <p:nvPr/>
        </p:nvSpPr>
        <p:spPr>
          <a:xfrm>
            <a:off x="868680" y="5230368"/>
            <a:ext cx="1554480" cy="274320"/>
          </a:xfrm>
          <a:prstGeom prst="rect">
            <a:avLst/>
          </a:prstGeom>
          <a:noFill/>
          <a:ln/>
        </p:spPr>
        <p:txBody>
          <a:bodyPr wrap="square" lIns="0" tIns="0" rIns="0" bIns="0" rtlCol="0" anchor="ctr"/>
          <a:lstStyle/>
          <a:p>
            <a:pPr marL="0" indent="0">
              <a:buNone/>
            </a:pPr>
            <a:r>
              <a:rPr lang="en-US" sz="1200" dirty="0">
                <a:solidFill>
                  <a:schemeClr val="accent5"/>
                </a:solidFill>
              </a:rPr>
              <a:t>2620040061</a:t>
            </a:r>
            <a:endParaRPr lang="en-US" sz="1200" dirty="0"/>
          </a:p>
        </p:txBody>
      </p:sp>
      <p:sp>
        <p:nvSpPr>
          <p:cNvPr id="16" name="card-444"/>
          <p:cNvSpPr/>
          <p:nvPr/>
        </p:nvSpPr>
        <p:spPr>
          <a:xfrm>
            <a:off x="2606040" y="4709160"/>
            <a:ext cx="1783080" cy="914400"/>
          </a:xfrm>
          <a:prstGeom prst="roundRect">
            <a:avLst>
              <a:gd name="adj" fmla="val 12000"/>
            </a:avLst>
          </a:prstGeom>
          <a:solidFill>
            <a:schemeClr val="bg1">
              <a:alpha val="10000"/>
            </a:schemeClr>
          </a:solidFill>
          <a:ln/>
        </p:spPr>
      </p:sp>
      <p:sp>
        <p:nvSpPr>
          <p:cNvPr id="17" name="txt-445"/>
          <p:cNvSpPr txBox="1"/>
          <p:nvPr/>
        </p:nvSpPr>
        <p:spPr>
          <a:xfrm>
            <a:off x="2743200" y="4773168"/>
            <a:ext cx="1554480" cy="457200"/>
          </a:xfrm>
          <a:prstGeom prst="rect">
            <a:avLst/>
          </a:prstGeom>
          <a:noFill/>
          <a:ln/>
        </p:spPr>
        <p:txBody>
          <a:bodyPr wrap="square" lIns="0" tIns="0" rIns="0" bIns="0" rtlCol="0" anchor="ctr"/>
          <a:lstStyle/>
          <a:p>
            <a:pPr marL="0" indent="0">
              <a:buNone/>
            </a:pPr>
            <a:r>
              <a:rPr lang="en-US" sz="1300" b="1" dirty="0">
                <a:solidFill>
                  <a:schemeClr val="bg1"/>
                </a:solidFill>
              </a:rPr>
              <a:t>M. Sri Akhil Chowdary</a:t>
            </a:r>
            <a:endParaRPr lang="en-US" sz="1300" dirty="0"/>
          </a:p>
        </p:txBody>
      </p:sp>
      <p:sp>
        <p:nvSpPr>
          <p:cNvPr id="18" name="txt-446"/>
          <p:cNvSpPr txBox="1"/>
          <p:nvPr/>
        </p:nvSpPr>
        <p:spPr>
          <a:xfrm>
            <a:off x="2743200" y="5230368"/>
            <a:ext cx="1554480" cy="274320"/>
          </a:xfrm>
          <a:prstGeom prst="rect">
            <a:avLst/>
          </a:prstGeom>
          <a:noFill/>
          <a:ln/>
        </p:spPr>
        <p:txBody>
          <a:bodyPr wrap="square" lIns="0" tIns="0" rIns="0" bIns="0" rtlCol="0" anchor="ctr"/>
          <a:lstStyle/>
          <a:p>
            <a:pPr marL="0" indent="0">
              <a:buNone/>
            </a:pPr>
            <a:r>
              <a:rPr lang="en-US" sz="1200" dirty="0">
                <a:solidFill>
                  <a:schemeClr val="accent5"/>
                </a:solidFill>
              </a:rPr>
              <a:t>2620040112</a:t>
            </a:r>
            <a:endParaRPr lang="en-US" sz="1200" dirty="0"/>
          </a:p>
        </p:txBody>
      </p:sp>
      <p:sp>
        <p:nvSpPr>
          <p:cNvPr id="19" name="card-447"/>
          <p:cNvSpPr/>
          <p:nvPr/>
        </p:nvSpPr>
        <p:spPr>
          <a:xfrm>
            <a:off x="4480560" y="4709160"/>
            <a:ext cx="1783080" cy="914400"/>
          </a:xfrm>
          <a:prstGeom prst="roundRect">
            <a:avLst>
              <a:gd name="adj" fmla="val 12000"/>
            </a:avLst>
          </a:prstGeom>
          <a:solidFill>
            <a:schemeClr val="bg1">
              <a:alpha val="10000"/>
            </a:schemeClr>
          </a:solidFill>
          <a:ln/>
        </p:spPr>
      </p:sp>
      <p:sp>
        <p:nvSpPr>
          <p:cNvPr id="20" name="txt-448"/>
          <p:cNvSpPr txBox="1"/>
          <p:nvPr/>
        </p:nvSpPr>
        <p:spPr>
          <a:xfrm>
            <a:off x="4617720" y="4773168"/>
            <a:ext cx="1554480" cy="457200"/>
          </a:xfrm>
          <a:prstGeom prst="rect">
            <a:avLst/>
          </a:prstGeom>
          <a:noFill/>
          <a:ln/>
        </p:spPr>
        <p:txBody>
          <a:bodyPr wrap="square" lIns="0" tIns="0" rIns="0" bIns="0" rtlCol="0" anchor="ctr"/>
          <a:lstStyle/>
          <a:p>
            <a:pPr marL="0" indent="0">
              <a:buNone/>
            </a:pPr>
            <a:r>
              <a:rPr lang="en-US" sz="1300" b="1" dirty="0">
                <a:solidFill>
                  <a:schemeClr val="bg1"/>
                </a:solidFill>
              </a:rPr>
              <a:t>[YOUR NAME]</a:t>
            </a:r>
            <a:endParaRPr lang="en-US" sz="1300" dirty="0"/>
          </a:p>
        </p:txBody>
      </p:sp>
      <p:sp>
        <p:nvSpPr>
          <p:cNvPr id="21" name="txt-449"/>
          <p:cNvSpPr txBox="1"/>
          <p:nvPr/>
        </p:nvSpPr>
        <p:spPr>
          <a:xfrm>
            <a:off x="4617720" y="5230368"/>
            <a:ext cx="1554480" cy="274320"/>
          </a:xfrm>
          <a:prstGeom prst="rect">
            <a:avLst/>
          </a:prstGeom>
          <a:noFill/>
          <a:ln/>
        </p:spPr>
        <p:txBody>
          <a:bodyPr wrap="square" lIns="0" tIns="0" rIns="0" bIns="0" rtlCol="0" anchor="ctr"/>
          <a:lstStyle/>
          <a:p>
            <a:pPr marL="0" indent="0">
              <a:buNone/>
            </a:pPr>
            <a:r>
              <a:rPr lang="en-US" sz="1200" dirty="0">
                <a:solidFill>
                  <a:schemeClr val="accent5"/>
                </a:solidFill>
              </a:rPr>
              <a:t>[ROLL NO]</a:t>
            </a:r>
            <a:endParaRPr lang="en-US" sz="1200" dirty="0"/>
          </a:p>
        </p:txBody>
      </p:sp>
      <p:sp>
        <p:nvSpPr>
          <p:cNvPr id="22" name="txt-450"/>
          <p:cNvSpPr txBox="1"/>
          <p:nvPr/>
        </p:nvSpPr>
        <p:spPr>
          <a:xfrm>
            <a:off x="731520" y="5806440"/>
            <a:ext cx="5486400" cy="320040"/>
          </a:xfrm>
          <a:prstGeom prst="rect">
            <a:avLst/>
          </a:prstGeom>
          <a:noFill/>
          <a:ln/>
        </p:spPr>
        <p:txBody>
          <a:bodyPr wrap="square" lIns="0" tIns="0" rIns="0" bIns="0" rtlCol="0" anchor="ctr"/>
          <a:lstStyle/>
          <a:p>
            <a:pPr marL="0" indent="0">
              <a:buNone/>
            </a:pPr>
            <a:r>
              <a:rPr lang="en-US" sz="1300" dirty="0">
                <a:solidFill>
                  <a:schemeClr val="accent6"/>
                </a:solidFill>
              </a:rPr>
              <a:t>Guide: [GUIDE NAME]</a:t>
            </a:r>
            <a:endParaRPr lang="en-US" sz="1300" dirty="0"/>
          </a:p>
        </p:txBody>
      </p:sp>
      <p:pic>
        <p:nvPicPr>
          <p:cNvPr id="23" name="order-screen" descr="preencoded.png"/>
          <p:cNvPicPr>
            <a:picLocks noChangeAspect="1"/>
          </p:cNvPicPr>
          <p:nvPr/>
        </p:nvPicPr>
        <p:blipFill>
          <a:blip r:embed="rId3"/>
          <a:stretch>
            <a:fillRect/>
          </a:stretch>
        </p:blipFill>
        <p:spPr>
          <a:xfrm>
            <a:off x="6629400" y="1325880"/>
            <a:ext cx="2091690" cy="4206240"/>
          </a:xfrm>
          <a:prstGeom prst="rect">
            <a:avLst/>
          </a:prstGeom>
        </p:spPr>
      </p:pic>
      <p:pic>
        <p:nvPicPr>
          <p:cNvPr id="24" name="token-screen" descr="preencoded.png"/>
          <p:cNvPicPr>
            <a:picLocks noChangeAspect="1"/>
          </p:cNvPicPr>
          <p:nvPr/>
        </p:nvPicPr>
        <p:blipFill>
          <a:blip r:embed="rId4"/>
          <a:stretch>
            <a:fillRect/>
          </a:stretch>
        </p:blipFill>
        <p:spPr>
          <a:xfrm>
            <a:off x="9464040" y="1325880"/>
            <a:ext cx="2091690" cy="4206240"/>
          </a:xfrm>
          <a:prstGeom prst="rect">
            <a:avLst/>
          </a:prstGeom>
        </p:spPr>
      </p:pic>
      <p:pic>
        <p:nvPicPr>
          <p:cNvPr id="25" name="bill-screen" descr="preencoded.png"/>
          <p:cNvPicPr>
            <a:picLocks noChangeAspect="1"/>
          </p:cNvPicPr>
          <p:nvPr/>
        </p:nvPicPr>
        <p:blipFill>
          <a:blip r:embed="rId5"/>
          <a:stretch>
            <a:fillRect/>
          </a:stretch>
        </p:blipFill>
        <p:spPr>
          <a:xfrm>
            <a:off x="7909560" y="960120"/>
            <a:ext cx="2455462" cy="4937760"/>
          </a:xfrm>
          <a:prstGeom prst="rect">
            <a:avLst/>
          </a:prstGeom>
        </p:spPr>
      </p:pic>
    </p:spTree>
  </p:cSld>
  <p:clrMapOvr>
    <a:masterClrMapping/>
  </p:clrMapOvr>
</p:sld>
</file>

<file path=ppt/theme/theme1.xml><?xml version="1.0" encoding="utf-8"?>
<a:theme xmlns:a="http://schemas.openxmlformats.org/drawingml/2006/main" name="DineSync Blue">
  <a:themeElements>
    <a:clrScheme name="DineSync Blue">
      <a:dk1>
        <a:srgbClr val="0B1B3A"/>
      </a:dk1>
      <a:lt1>
        <a:srgbClr val="FFFFFF"/>
      </a:lt1>
      <a:dk2>
        <a:srgbClr val="46597A"/>
      </a:dk2>
      <a:lt2>
        <a:srgbClr val="EEF4FF"/>
      </a:lt2>
      <a:accent1>
        <a:srgbClr val="1D4ED8"/>
      </a:accent1>
      <a:accent2>
        <a:srgbClr val="0891B2"/>
      </a:accent2>
      <a:accent3>
        <a:srgbClr val="4F46E5"/>
      </a:accent3>
      <a:accent4>
        <a:srgbClr val="0369A1"/>
      </a:accent4>
      <a:accent5>
        <a:srgbClr val="22D3EE"/>
      </a:accent5>
      <a:accent6>
        <a:srgbClr val="93C5FD"/>
      </a:accent6>
      <a:hlink>
        <a:srgbClr val="1D4ED8"/>
      </a:hlink>
      <a:folHlink>
        <a:srgbClr val="4F46E5"/>
      </a:folHlink>
    </a:clrScheme>
    <a:fontScheme name="DineSync Blu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TotalTime>
  <Words>3755</Words>
  <Application>Microsoft Office PowerPoint</Application>
  <PresentationFormat>Widescreen</PresentationFormat>
  <Paragraphs>532</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Courier New</vt:lpstr>
      <vt:lpstr>DineSync Blue</vt:lpstr>
      <vt:lpstr>PowerPoint Presentation</vt:lpstr>
      <vt:lpstr>Abstract and project overview</vt:lpstr>
      <vt:lpstr>Problem statement and motivation</vt:lpstr>
      <vt:lpstr>System architecture</vt:lpstr>
      <vt:lpstr>13 modules in 4 clusters</vt:lpstr>
      <vt:lpstr>Login, menu, customers and the 8-bit table register</vt:lpstr>
      <vt:lpstr>Cluster B: ordering and kitchen workflow</vt:lpstr>
      <vt:lpstr>Cluster C: billing, checksum and feedback</vt:lpstr>
      <vt:lpstr>Cluster D: kitchen monitoring and energy</vt:lpstr>
      <vt:lpstr>Java concepts used (with real code locations)</vt:lpstr>
      <vt:lpstr>Staff log in, set the menu and greet the customer</vt:lpstr>
      <vt:lpstr>The right table, a clear queue and a ready token</vt:lpstr>
      <vt:lpstr>Accurate bills, verified IDs and honest ratings</vt:lpstr>
      <vt:lpstr>A safer kitchen and a clear daily picture</vt:lpstr>
      <vt:lpstr>Priya's visit: party of 5, veg only, 14th visit</vt:lpstr>
      <vt:lpstr>Every concept points to real code</vt:lpstr>
      <vt:lpstr>CO1–CO6 mapped to code and tests</vt:lpstr>
      <vt:lpstr>From a Java prototype to an intelligent restaurant ecosystem</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DineSync - Smart Restaurant Management System</dc:title>
  <dc:subject>PptxGenJS Presentation</dc:subject>
  <dc:creator>DineSync Team</dc:creator>
  <cp:lastModifiedBy>Pranathi Kusi</cp:lastModifiedBy>
  <cp:revision>5</cp:revision>
  <dcterms:created xsi:type="dcterms:W3CDTF">2026-10-16T03:22:51Z</dcterms:created>
  <dcterms:modified xsi:type="dcterms:W3CDTF">2026-10-16T04:22:24Z</dcterms:modified>
</cp:coreProperties>
</file>